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2482e0b8f240b8" /><Relationship Type="http://schemas.openxmlformats.org/officeDocument/2006/relationships/extended-properties" Target="/docProps/app.xml" Id="R807feb2bd5e844b9" /><Relationship Type="http://schemas.openxmlformats.org/officeDocument/2006/relationships/officeDocument" Target="/ppt/presentation.xml" Id="Re509411dd0da45aa" /></Relationships>
</file>

<file path=ppt/presentation.xml><?xml version="1.0" encoding="utf-8"?>
<p:presentation xmlns:p="http://schemas.openxmlformats.org/presentationml/2006/main">
  <p:sldMasterIdLst>
    <p:sldMasterId xmlns:r="http://schemas.openxmlformats.org/officeDocument/2006/relationships" id="2147483648" r:id="R77a48ccb27b84d28"/>
  </p:sldMasterIdLst>
  <p:notesMasterIdLst>
    <p:notesMasterId xmlns:r="http://schemas.openxmlformats.org/officeDocument/2006/relationships" r:id="R9acd099e6488475e"/>
  </p:notesMasterIdLst>
  <p:sldIdLst>
    <p:sldId xmlns:r="http://schemas.openxmlformats.org/officeDocument/2006/relationships" id="256" r:id="R6ab76106ef424fd2"/>
    <p:sldId xmlns:r="http://schemas.openxmlformats.org/officeDocument/2006/relationships" id="257" r:id="Re9b79098aa6544a1"/>
    <p:sldId xmlns:r="http://schemas.openxmlformats.org/officeDocument/2006/relationships" id="258" r:id="R76713c2936c04a57"/>
    <p:sldId xmlns:r="http://schemas.openxmlformats.org/officeDocument/2006/relationships" id="259" r:id="R0d36aea02e404aa8"/>
    <p:sldId xmlns:r="http://schemas.openxmlformats.org/officeDocument/2006/relationships" id="260" r:id="R7711d1ba18584af8"/>
    <p:sldId xmlns:r="http://schemas.openxmlformats.org/officeDocument/2006/relationships" id="261" r:id="R485821f1cf6048f4"/>
    <p:sldId xmlns:r="http://schemas.openxmlformats.org/officeDocument/2006/relationships" id="262" r:id="R4377b5472c694e27"/>
    <p:sldId xmlns:r="http://schemas.openxmlformats.org/officeDocument/2006/relationships" id="263" r:id="Radd6d5792fc3438d"/>
    <p:sldId xmlns:r="http://schemas.openxmlformats.org/officeDocument/2006/relationships" id="264" r:id="R2a36cc6900934eeb"/>
    <p:sldId xmlns:r="http://schemas.openxmlformats.org/officeDocument/2006/relationships" id="265" r:id="R765ae55027be4b7a"/>
    <p:sldId xmlns:r="http://schemas.openxmlformats.org/officeDocument/2006/relationships" id="266" r:id="Rfb7c180e28cb4fc6"/>
    <p:sldId xmlns:r="http://schemas.openxmlformats.org/officeDocument/2006/relationships" id="267" r:id="R05c0ca2028414630"/>
    <p:sldId xmlns:r="http://schemas.openxmlformats.org/officeDocument/2006/relationships" id="268" r:id="R77133502fa7b4038"/>
    <p:sldId xmlns:r="http://schemas.openxmlformats.org/officeDocument/2006/relationships" id="269" r:id="Rfc1080838190459a"/>
    <p:sldId xmlns:r="http://schemas.openxmlformats.org/officeDocument/2006/relationships" id="270" r:id="R784bb73ee5044cf5"/>
    <p:sldId xmlns:r="http://schemas.openxmlformats.org/officeDocument/2006/relationships" id="271" r:id="R3c5341d9e1e84954"/>
    <p:sldId xmlns:r="http://schemas.openxmlformats.org/officeDocument/2006/relationships" id="272" r:id="Red0025aea96c44f2"/>
    <p:sldId xmlns:r="http://schemas.openxmlformats.org/officeDocument/2006/relationships" id="273" r:id="Ra532eb3244124623"/>
    <p:sldId xmlns:r="http://schemas.openxmlformats.org/officeDocument/2006/relationships" id="274" r:id="Rf9377caaa3a945af"/>
    <p:sldId xmlns:r="http://schemas.openxmlformats.org/officeDocument/2006/relationships" id="275" r:id="Rfde652fb9b53491f"/>
    <p:sldId xmlns:r="http://schemas.openxmlformats.org/officeDocument/2006/relationships" id="276" r:id="R1e218523e5f54ad2"/>
    <p:sldId xmlns:r="http://schemas.openxmlformats.org/officeDocument/2006/relationships" id="277" r:id="R9b7494708fa94e98"/>
    <p:sldId xmlns:r="http://schemas.openxmlformats.org/officeDocument/2006/relationships" id="278" r:id="Rd22ef60978b343df"/>
    <p:sldId xmlns:r="http://schemas.openxmlformats.org/officeDocument/2006/relationships" id="279" r:id="R3fbc3f99066640f3"/>
    <p:sldId xmlns:r="http://schemas.openxmlformats.org/officeDocument/2006/relationships" id="280" r:id="Rb181c21135644929"/>
    <p:sldId xmlns:r="http://schemas.openxmlformats.org/officeDocument/2006/relationships" id="281" r:id="Rbf6b0df408844d3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8d05ffaa7f7473c" /><Relationship Type="http://schemas.openxmlformats.org/officeDocument/2006/relationships/slideMaster" Target="/ppt/slideMasters/slideMaster1.xml" Id="R77a48ccb27b84d28" /><Relationship Type="http://schemas.openxmlformats.org/officeDocument/2006/relationships/notesMaster" Target="/ppt/notesMasters/notesMaster1.xml" Id="R9acd099e6488475e" /><Relationship Type="http://schemas.openxmlformats.org/officeDocument/2006/relationships/presProps" Target="/ppt/presProps.xml" Id="R167005be9b2f42bb" /><Relationship Type="http://schemas.openxmlformats.org/officeDocument/2006/relationships/tableStyles" Target="/ppt/tableStyles.xml" Id="R5b9bdc055fe6472b" /><Relationship Type="http://schemas.openxmlformats.org/officeDocument/2006/relationships/slide" Target="/ppt/slides/slide1.xml" Id="R6ab76106ef424fd2" /><Relationship Type="http://schemas.openxmlformats.org/officeDocument/2006/relationships/slide" Target="/ppt/slides/slide2.xml" Id="Re9b79098aa6544a1" /><Relationship Type="http://schemas.openxmlformats.org/officeDocument/2006/relationships/slide" Target="/ppt/slides/slide3.xml" Id="R76713c2936c04a57" /><Relationship Type="http://schemas.openxmlformats.org/officeDocument/2006/relationships/slide" Target="/ppt/slides/slide4.xml" Id="R0d36aea02e404aa8" /><Relationship Type="http://schemas.openxmlformats.org/officeDocument/2006/relationships/slide" Target="/ppt/slides/slide5.xml" Id="R7711d1ba18584af8" /><Relationship Type="http://schemas.openxmlformats.org/officeDocument/2006/relationships/slide" Target="/ppt/slides/slide6.xml" Id="R485821f1cf6048f4" /><Relationship Type="http://schemas.openxmlformats.org/officeDocument/2006/relationships/slide" Target="/ppt/slides/slide7.xml" Id="R4377b5472c694e27" /><Relationship Type="http://schemas.openxmlformats.org/officeDocument/2006/relationships/slide" Target="/ppt/slides/slide8.xml" Id="Radd6d5792fc3438d" /><Relationship Type="http://schemas.openxmlformats.org/officeDocument/2006/relationships/slide" Target="/ppt/slides/slide9.xml" Id="R2a36cc6900934eeb" /><Relationship Type="http://schemas.openxmlformats.org/officeDocument/2006/relationships/slide" Target="/ppt/slides/slide10.xml" Id="R765ae55027be4b7a" /><Relationship Type="http://schemas.openxmlformats.org/officeDocument/2006/relationships/slide" Target="/ppt/slides/slide11.xml" Id="Rfb7c180e28cb4fc6" /><Relationship Type="http://schemas.openxmlformats.org/officeDocument/2006/relationships/slide" Target="/ppt/slides/slide12.xml" Id="R05c0ca2028414630" /><Relationship Type="http://schemas.openxmlformats.org/officeDocument/2006/relationships/slide" Target="/ppt/slides/slide13.xml" Id="R77133502fa7b4038" /><Relationship Type="http://schemas.openxmlformats.org/officeDocument/2006/relationships/slide" Target="/ppt/slides/slide14.xml" Id="Rfc1080838190459a" /><Relationship Type="http://schemas.openxmlformats.org/officeDocument/2006/relationships/slide" Target="/ppt/slides/slide15.xml" Id="R784bb73ee5044cf5" /><Relationship Type="http://schemas.openxmlformats.org/officeDocument/2006/relationships/slide" Target="/ppt/slides/slide16.xml" Id="R3c5341d9e1e84954" /><Relationship Type="http://schemas.openxmlformats.org/officeDocument/2006/relationships/slide" Target="/ppt/slides/slide17.xml" Id="Red0025aea96c44f2" /><Relationship Type="http://schemas.openxmlformats.org/officeDocument/2006/relationships/slide" Target="/ppt/slides/slide18.xml" Id="Ra532eb3244124623" /><Relationship Type="http://schemas.openxmlformats.org/officeDocument/2006/relationships/slide" Target="/ppt/slides/slide19.xml" Id="Rf9377caaa3a945af" /><Relationship Type="http://schemas.openxmlformats.org/officeDocument/2006/relationships/slide" Target="/ppt/slides/slide20.xml" Id="Rfde652fb9b53491f" /><Relationship Type="http://schemas.openxmlformats.org/officeDocument/2006/relationships/slide" Target="/ppt/slides/slide21.xml" Id="R1e218523e5f54ad2" /><Relationship Type="http://schemas.openxmlformats.org/officeDocument/2006/relationships/slide" Target="/ppt/slides/slide22.xml" Id="R9b7494708fa94e98" /><Relationship Type="http://schemas.openxmlformats.org/officeDocument/2006/relationships/slide" Target="/ppt/slides/slide23.xml" Id="Rd22ef60978b343df" /><Relationship Type="http://schemas.openxmlformats.org/officeDocument/2006/relationships/slide" Target="/ppt/slides/slide24.xml" Id="R3fbc3f99066640f3" /><Relationship Type="http://schemas.openxmlformats.org/officeDocument/2006/relationships/slide" Target="/ppt/slides/slide25.xml" Id="Rb181c21135644929" /><Relationship Type="http://schemas.openxmlformats.org/officeDocument/2006/relationships/slide" Target="/ppt/slides/slide26.xml" Id="Rbf6b0df408844d3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674d90cd6d4f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aee4da74e44d0e" /><Relationship Type="http://schemas.openxmlformats.org/officeDocument/2006/relationships/notesMaster" Target="/ppt/notesMasters/notesMaster1.xml" Id="Rde0ca3d33f5f40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6200bd25734fc9" /><Relationship Type="http://schemas.openxmlformats.org/officeDocument/2006/relationships/notesMaster" Target="/ppt/notesMasters/notesMaster1.xml" Id="R25f5106f2e0446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575dd66a1c4769" /><Relationship Type="http://schemas.openxmlformats.org/officeDocument/2006/relationships/notesMaster" Target="/ppt/notesMasters/notesMaster1.xml" Id="Ra60c8a073cd94c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50c44c1ca741da" /><Relationship Type="http://schemas.openxmlformats.org/officeDocument/2006/relationships/notesMaster" Target="/ppt/notesMasters/notesMaster1.xml" Id="R10dbc7525448491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e851894bf24277" /><Relationship Type="http://schemas.openxmlformats.org/officeDocument/2006/relationships/notesMaster" Target="/ppt/notesMasters/notesMaster1.xml" Id="R23f8555369e14d7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753f1bc0384ba9" /><Relationship Type="http://schemas.openxmlformats.org/officeDocument/2006/relationships/notesMaster" Target="/ppt/notesMasters/notesMaster1.xml" Id="R55caa0e4394d49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e027efe3b34005" /><Relationship Type="http://schemas.openxmlformats.org/officeDocument/2006/relationships/notesMaster" Target="/ppt/notesMasters/notesMaster1.xml" Id="R891ea51fea40407b"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1328f37aca445d" /><Relationship Type="http://schemas.openxmlformats.org/officeDocument/2006/relationships/notesMaster" Target="/ppt/notesMasters/notesMaster1.xml" Id="R7700801c36944058" /></Relationships>
</file>

<file path=ppt/notesSlides/_rels/notesSlide9.xml.rels>&#65279;<?xml version="1.0" encoding="utf-8"?><Relationships xmlns="http://schemas.openxmlformats.org/package/2006/relationships"><Relationship Type="http://schemas.openxmlformats.org/officeDocument/2006/relationships/slide" Target="/ppt/slides/slide9.xml" Id="R3631ec07e43f492f" /><Relationship Type="http://schemas.openxmlformats.org/officeDocument/2006/relationships/notesMaster" Target="/ppt/notesMasters/notesMaster1.xml" Id="R7ef664f152ec46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e715f904df6441b" /><Relationship Type="http://schemas.openxmlformats.org/officeDocument/2006/relationships/notesMaster" Target="/ppt/notesMasters/notesMaster1.xml" Id="R1e49fe7e42b348e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4ba1d1b533640b1" /><Relationship Type="http://schemas.openxmlformats.org/officeDocument/2006/relationships/notesMaster" Target="/ppt/notesMasters/notesMaster1.xml" Id="Rcd64200a8f214e0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b1e332740394bf6" /><Relationship Type="http://schemas.openxmlformats.org/officeDocument/2006/relationships/notesMaster" Target="/ppt/notesMasters/notesMaster1.xml" Id="R98570ce1cb20486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617b346a6f54d70" /><Relationship Type="http://schemas.openxmlformats.org/officeDocument/2006/relationships/notesMaster" Target="/ppt/notesMasters/notesMaster1.xml" Id="R6bc3b328ae40479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a0a677b11124cee" /><Relationship Type="http://schemas.openxmlformats.org/officeDocument/2006/relationships/notesMaster" Target="/ppt/notesMasters/notesMaster1.xml" Id="Re16980e94bf142b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edd9007bd3e4980" /><Relationship Type="http://schemas.openxmlformats.org/officeDocument/2006/relationships/notesMaster" Target="/ppt/notesMasters/notesMaster1.xml" Id="R1e88055561b0441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32b1d3e2ec04834" /><Relationship Type="http://schemas.openxmlformats.org/officeDocument/2006/relationships/notesMaster" Target="/ppt/notesMasters/notesMaster1.xml" Id="R574fd5afda634e4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e24492fcf0c459c" /><Relationship Type="http://schemas.openxmlformats.org/officeDocument/2006/relationships/notesMaster" Target="/ppt/notesMasters/notesMaster1.xml" Id="R10284755c3d04dc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d43eae5645a4a92" /><Relationship Type="http://schemas.openxmlformats.org/officeDocument/2006/relationships/notesMaster" Target="/ppt/notesMasters/notesMaster1.xml" Id="R057a120ee6ae47d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5797f1982e84482" /><Relationship Type="http://schemas.openxmlformats.org/officeDocument/2006/relationships/notesMaster" Target="/ppt/notesMasters/notesMaster1.xml" Id="R3689eaa182344ea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04ab03fbb3a43e7" /><Relationship Type="http://schemas.openxmlformats.org/officeDocument/2006/relationships/notesMaster" Target="/ppt/notesMasters/notesMaster1.xml" Id="Rd2b575f20ec742e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8641371d1cb493a" /><Relationship Type="http://schemas.openxmlformats.org/officeDocument/2006/relationships/notesMaster" Target="/ppt/notesMasters/notesMaster1.xml" Id="R658c04bf40e9460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c474921bc2746a1" /><Relationship Type="http://schemas.openxmlformats.org/officeDocument/2006/relationships/notesMaster" Target="/ppt/notesMasters/notesMaster1.xml" Id="Re5265c563bd24de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71b989e4a2447ea" /><Relationship Type="http://schemas.openxmlformats.org/officeDocument/2006/relationships/notesMaster" Target="/ppt/notesMasters/notesMaster1.xml" Id="R63489e26ac1f427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e0cb74d27044a22" /><Relationship Type="http://schemas.openxmlformats.org/officeDocument/2006/relationships/notesMaster" Target="/ppt/notesMasters/notesMaster1.xml" Id="R3cb936b14e9f495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dd8bc90336f4628" /><Relationship Type="http://schemas.openxmlformats.org/officeDocument/2006/relationships/notesMaster" Target="/ppt/notesMasters/notesMaster1.xml" Id="R3bde83483fb0406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e785c93268b4f63" /><Relationship Type="http://schemas.openxmlformats.org/officeDocument/2006/relationships/notesMaster" Target="/ppt/notesMasters/notesMaster1.xml" Id="R49738401272746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PRESENTATION ROUTE: slides 1, 2 and 14–20. Total target: 10 minutes including the live demo. Slide 21 is optional evidence. Slides 22–26 are the architect Q&amp;A appendix. DeliveryGuard slides 3–13 are backup.</a:t>
            </a:r>
          </a:p>
          <a:p xmlns:a="http://schemas.openxmlformats.org/drawingml/2006/main">
            <a:r>
              <a:t/>
            </a:r>
          </a:p>
          <a:p xmlns:a="http://schemas.openxmlformats.org/drawingml/2006/main">
            <a:r>
              <a:t>00:00–00:25 | Opening</a:t>
            </a:r>
          </a:p>
          <a:p xmlns:a="http://schemas.openxmlformats.org/drawingml/2006/main">
            <a:r>
              <a:t>We have built a platform for investigating operational problems and controlling recovery through evidence. Fraud Guard applies that foundation to a payment use case. Today I am requesting acceptance of a scoped internal Databricks pilot using synthetic data. Live payment integration requires a separate decision.</a:t>
            </a:r>
          </a:p>
          <a:p xmlns:a="http://schemas.openxmlformats.org/drawingml/2006/main">
            <a:r>
              <a:t>Advance to slide 2.</a:t>
            </a:r>
          </a:p>
          <a:p xmlns:a="http://schemas.openxmlformats.org/drawingml/2006/main">
            <a:r>
              <a:t/>
            </a:r>
          </a:p>
          <a:p xmlns:a="http://schemas.openxmlformats.org/drawingml/2006/main">
            <a:r>
              <a:t>REFERENCE / QUALIFICATION</a:t>
            </a:r>
          </a:p>
          <a:p xmlns:a="http://schemas.openxmlformats.org/drawingml/2006/main">
            <a:r>
              <a:t>Decision requested: approve a scoped internal sandbox evaluation. Evidence snapshot comes from the local implementation validated on 28 October 2026. Current production integrations, authorization, performance and business value require separate validation.</a:t>
            </a:r>
          </a:p>
          <a:p xmlns:a="http://schemas.openxmlformats.org/drawingml/2006/main">
            <a:r>
              <a:t/>
            </a:r>
          </a:p>
          <a:p xmlns:a="http://schemas.openxmlformats.org/drawingml/2006/main">
            <a:r>
              <a:t>Cover artwork: AI-generated conceptual illustration. It is not evidence of deployed payment infrastructure.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00:25–01:00 | Problem and decision</a:t>
            </a:r>
          </a:p>
          <a:p xmlns:a="http://schemas.openxmlformats.org/drawingml/2006/main">
            <a:r>
              <a:t>A suspicious payment involves separate questions: what triggered concern, whether the customer should authenticate, whether an analyst can release it, and what the issuer actually decided. This prototype makes those decisions explicit and traceable.</a:t>
            </a:r>
          </a:p>
          <a:p xmlns:a="http://schemas.openxmlformats.org/drawingml/2006/main">
            <a:r>
              <a:t>We are asking for acceptance of the architecture direction, pilot scope and named owners. We are not asking for permission to process live payments.</a:t>
            </a:r>
          </a:p>
          <a:p xmlns:a="http://schemas.openxmlformats.org/drawingml/2006/main">
            <a:r>
              <a:t>Jump to Fraud Guard architecture, slide 14. DeliveryGuard slides 3–13 are supporting material.</a:t>
            </a:r>
          </a:p>
          <a:p xmlns:a="http://schemas.openxmlformats.org/drawingml/2006/main">
            <a:r>
              <a:t/>
            </a:r>
          </a:p>
          <a:p xmlns:a="http://schemas.openxmlformats.org/drawingml/2006/main">
            <a:r>
              <a:t>REFERENCE / QUALIFICATION</a:t>
            </a:r>
          </a:p>
          <a:p xmlns:a="http://schemas.openxmlformats.org/drawingml/2006/main">
            <a:r>
              <a:t>Open with the decision. Ask the architect to accept the contract and evaluation scope, appoint an owner and sponsor access to an isolated sandbox. Do not imply that this deck or software grants acceptance. The commercial value hypothesis is shorter triage and fewer unnecessary replays. Neither has been measured in production.</a:t>
            </a:r>
          </a:p>
          <a:p xmlns:a="http://schemas.openxmlformats.org/drawingml/2006/main">
            <a:r>
              <a:t/>
            </a:r>
          </a:p>
          <a:p xmlns:a="http://schemas.openxmlformats.org/drawingml/2006/main">
            <a:r>
              <a:t>Source: /Users/hariprasadtammineni/Documents/ChatGPT/databricks-utlity/docs/hackathon/architecture-and-demo.md</a:t>
            </a:r>
          </a:p>
          <a:p xmlns:a="http://schemas.openxmlformats.org/drawingml/2006/main">
            <a:r>
              <a:t>Scope: local implementation and proposed pilot design, reviewed 28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Solid connectors show processing and evidence flow. Dashed connector shows the approved recovery action. The local adapters write persisted Python/SQLite state. The advisor is pure and cannot execute recovery. SQLite atomically saves request state, audit evidence and the Signal projection. The browser is a control surface rather than a source of hard-coded incident outcomes. Production external writes cannot share this SQLite transaction.</a:t>
            </a:r>
          </a:p>
          <a:p xmlns:a="http://schemas.openxmlformats.org/drawingml/2006/main">
            <a:r>
              <a:t/>
            </a:r>
          </a:p>
          <a:p xmlns:a="http://schemas.openxmlformats.org/drawingml/2006/main">
            <a:r>
              <a:t>Source: /Users/hariprasadtammineni/Documents/ChatGPT/databricks-utlity/docs/hackathon/architecture-and-demo.md</a:t>
            </a:r>
          </a:p>
          <a:p xmlns:a="http://schemas.openxmlformats.org/drawingml/2006/main">
            <a:r>
              <a:t>Scope: local implementation and proposed pilot design, reviewed 28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precise: workflow builder uses deterministic templates, with hourly schedule inference. It exports a local-workflow.json graph and separate Databricks Spark sources. Local execution does not establish runtime equivalence with Spark. Existing Jobs/SQL/Unity Catalog connector code is separate and has not been exercised by the delivery simulator. Approval names are illustrative, not enterprise RBAC. No LLM is used.</a:t>
            </a:r>
          </a:p>
          <a:p xmlns:a="http://schemas.openxmlformats.org/drawingml/2006/main">
            <a:r>
              <a:t/>
            </a:r>
          </a:p>
          <a:p xmlns:a="http://schemas.openxmlformats.org/drawingml/2006/main">
            <a:r>
              <a:t>Source: /Users/hariprasadtammineni/Documents/ChatGPT/databricks-utlity/docs/hackathon/architecture-and-demo.md</a:t>
            </a:r>
          </a:p>
          <a:p xmlns:a="http://schemas.openxmlformats.org/drawingml/2006/main">
            <a:r>
              <a:t>Scope: local implementation and proposed pilot design, reviewed 28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 open the local /demo URL and click Start guided demo once. Pause after investigation. Explain why a Kafka replay is unnecessary. Resume through simulated approval and MFTS-only execution. At completion show both current reports and a preserved earlier failure snapshot. Previous step is historical review, not a rollback. The loopback URL works only on the machine running the app. Keep the screenshots in the deck as a fallback.</a:t>
            </a:r>
          </a:p>
          <a:p xmlns:a="http://schemas.openxmlformats.org/drawingml/2006/main">
            <a:r>
              <a:t/>
            </a:r>
          </a:p>
          <a:p xmlns:a="http://schemas.openxmlformats.org/drawingml/2006/main">
            <a:r>
              <a:t>Source: /Users/hariprasadtammineni/Documents/ChatGPT/databricks-utlity/docs/hackathon/workflow-builder.md</a:t>
            </a:r>
          </a:p>
          <a:p xmlns:a="http://schemas.openxmlformats.org/drawingml/2006/main">
            <a:r>
              <a:t>Scope: local implementation and proposed pilot design, reviewed 28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observations from the local golden scenario, not throughput measurements or a production SLA. Treasury consumes three records and Operations two. The advisor moves to ON_TRACK when required delivery is complete, while elapsed deadline evidence remains. Source: evaluation.json and the guided browser run. Recovered status alone never proves external business correctness.</a:t>
            </a:r>
          </a:p>
          <a:p xmlns:a="http://schemas.openxmlformats.org/drawingml/2006/main">
            <a:r>
              <a:t/>
            </a:r>
          </a:p>
          <a:p xmlns:a="http://schemas.openxmlformats.org/drawingml/2006/main">
            <a:r>
              <a:t>Source: /Users/hariprasadtammineni/Documents/ChatGPT/databricks-utlity/docs/hackathon/evaluation.json</a:t>
            </a:r>
          </a:p>
          <a:p xmlns:a="http://schemas.openxmlformats.org/drawingml/2006/main">
            <a:r>
              <a:t>Scope: local implementation and proposed pilot design, reviewed 28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of the implemented local guided demo. UI names simulated actors and local boundaries. Start creates an isolated run. Autoplay uses the same transaction/approval checks as manual operation. Refresh restores the latest saved step in paused mode. Leaving the page stops playback. Open current Delivery Lab and investigation links refer to live current state rather than the historical view shown.</a:t>
            </a:r>
          </a:p>
          <a:p xmlns:a="http://schemas.openxmlformats.org/drawingml/2006/main">
            <a:r>
              <a:t/>
            </a:r>
          </a:p>
          <a:p xmlns:a="http://schemas.openxmlformats.org/drawingml/2006/main">
            <a:r>
              <a:t>Source: /Users/hariprasadtammineni/Documents/ChatGPT/databricks-utlity/docs/hackathon/guided-demo.png</a:t>
            </a:r>
          </a:p>
          <a:p xmlns:a="http://schemas.openxmlformats.org/drawingml/2006/main">
            <a:r>
              <a:t>Scope: local implementation and proposed pilot design, reviewed 28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evidence hash supports reproducibility. It is not a digital signature or tamper-proof ledger. Demo actors do not enforce enterprise separation of duties. Replay suppression applies to successful manifest entries within a run. Separate experiments have isolated broker ledgers. No global deduplication or end-to-end exactly-once guarantee exists. Real Kafka reconciliation requires trustworthy broker or consumer evidence.</a:t>
            </a:r>
          </a:p>
          <a:p xmlns:a="http://schemas.openxmlformats.org/drawingml/2006/main">
            <a:r>
              <a:t/>
            </a:r>
          </a:p>
          <a:p xmlns:a="http://schemas.openxmlformats.org/drawingml/2006/main">
            <a:r>
              <a:t>Source: /Users/hariprasadtammineni/Documents/ChatGPT/databricks-utlity/docs/hackathon/architecture-and-demo.md</a:t>
            </a:r>
          </a:p>
          <a:p xmlns:a="http://schemas.openxmlformats.org/drawingml/2006/main">
            <a:r>
              <a:t>Scope: local implementation and proposed pilot design, reviewed 28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 tests passed in the preceding implementation validation, including two guided-demo tests. JavaScript lineage checks passed separately. Nine scenarios in evaluation.json passed their declared assertions. Scenario report predates guided-demo additions and does not benchmark the cloud. Proposed 50% lower median triage remains a hypothesis. Zero unsafe recommendations in fixtures is not a universal safety guarantee.</a:t>
            </a:r>
          </a:p>
          <a:p xmlns:a="http://schemas.openxmlformats.org/drawingml/2006/main">
            <a:r>
              <a:t/>
            </a:r>
          </a:p>
          <a:p xmlns:a="http://schemas.openxmlformats.org/drawingml/2006/main">
            <a:r>
              <a:t>Source: /Users/hariprasadtammineni/Documents/ChatGPT/databricks-utlity/docs/hackathon/evaluation.json</a:t>
            </a:r>
          </a:p>
          <a:p xmlns:a="http://schemas.openxmlformats.org/drawingml/2006/main">
            <a:r>
              <a:t>Scope: local implementation and proposed pilot design, reviewed 28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design, not deployed state. Unity Catalog governs tables and evidence access. A Databricks App hosts the review surface. Existing Jobs/SQL/lineage collectors require allowlisted assets and tested grants. The delivery execution path still needs implementation for Databricks mode. Choose the operational store after testing concurrency and crash recovery. Ordinary Delta MERGE is not assumed to provide a distributed lock. The write-to-Kafka/write-to-manifest crash window requires explicit reconciliation. Real MFTS must define batch artifacts, receipts and record mapping.</a:t>
            </a:r>
          </a:p>
          <a:p xmlns:a="http://schemas.openxmlformats.org/drawingml/2006/main">
            <a:r>
              <a:t/>
            </a:r>
          </a:p>
          <a:p xmlns:a="http://schemas.openxmlformats.org/drawingml/2006/main">
            <a:r>
              <a:t>Source: /Users/hariprasadtammineni/Documents/ChatGPT/databricks-utlity/docs/hackathon/architecture-and-demo.md</a:t>
            </a:r>
          </a:p>
          <a:p xmlns:a="http://schemas.openxmlformats.org/drawingml/2006/main">
            <a:r>
              <a:t>Scope: local implementation and proposed pilot design, reviewed 28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pass/fail gates. Assign actual people during the review. The current App shares evidence through an app identity and is not per-user authorized. Choose the intended visibility model explicitly. Phase one runs only synthetic data in Databricks. Keep real Kafka/MFTS endpoints excluded until adapter approval. Databricks execution should provide CLI validation output, run IDs and app logs as evidence.</a:t>
            </a:r>
          </a:p>
          <a:p xmlns:a="http://schemas.openxmlformats.org/drawingml/2006/main">
            <a:r>
              <a:t/>
            </a:r>
          </a:p>
          <a:p xmlns:a="http://schemas.openxmlformats.org/drawingml/2006/main">
            <a:r>
              <a:t>Source: /Users/hariprasadtammineni/Documents/ChatGPT/databricks-utlity/docs/hackathon/architecture-and-demo.md</a:t>
            </a:r>
          </a:p>
          <a:p xmlns:a="http://schemas.openxmlformats.org/drawingml/2006/main">
            <a:r>
              <a:t>Scope: local implementation and proposed pilot design, reviewed 28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Criteria are proposed, not achieved cloud results. Start with synthetic adapters on the approved platform. For a later live-adapter gate, test timeout-after-accept, duplicate delivery, broker/manifest crash windows, transfer checksums, file receipts and batch granularity. Define supported failure windows and retry budgets. The proposed triage study compares equivalent labeled incidents with and without the tool and reports sample size plus distributions. No triage target should substitute for the safety gates.</a:t>
            </a:r>
          </a:p>
          <a:p xmlns:a="http://schemas.openxmlformats.org/drawingml/2006/main">
            <a:r>
              <a:t/>
            </a:r>
          </a:p>
          <a:p xmlns:a="http://schemas.openxmlformats.org/drawingml/2006/main">
            <a:r>
              <a:t>Source: /Users/hariprasadtammineni/Documents/ChatGPT/databricks-utlity/docs/hackathon/architecture-and-demo.md</a:t>
            </a:r>
          </a:p>
          <a:p xmlns:a="http://schemas.openxmlformats.org/drawingml/2006/main">
            <a:r>
              <a:t>Scope: local implementation and proposed pilot design, reviewed 28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human decision record: accept with named conditions, request specified changes, or defer with explicit blockers. Do not represent demo completion as management approval. Duration, staffing and budget need agreement before execution, so this deck does not invent calendar commitments. Production rollout and commercialization require separate validation, tenancy, licensing and support decisions.</a:t>
            </a:r>
          </a:p>
          <a:p xmlns:a="http://schemas.openxmlformats.org/drawingml/2006/main">
            <a:r>
              <a:t/>
            </a:r>
          </a:p>
          <a:p xmlns:a="http://schemas.openxmlformats.org/drawingml/2006/main">
            <a:r>
              <a:t>Source: /Users/hariprasadtammineni/Documents/ChatGPT/databricks-utlity/docs/hackathon/architecture-and-demo.md</a:t>
            </a:r>
          </a:p>
          <a:p xmlns:a="http://schemas.openxmlformats.org/drawingml/2006/main">
            <a:r>
              <a:t>Scope: local implementation and proposed pilot design, reviewed 28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01:00–01:45 | Architecture</a:t>
            </a:r>
          </a:p>
          <a:p xmlns:a="http://schemas.openxmlformats.org/drawingml/2006/main">
            <a:r>
              <a:t>Fraud Guard sits on the merchant side before normal authorization. A strict transaction contract feeds feature computation and versioned rules. The service can allow processing, require authentication, require review, block the attempt or hold it because risk evaluation is unavailable. Only eligible requests reach the gateway.</a:t>
            </a:r>
          </a:p>
          <a:p xmlns:a="http://schemas.openxmlformats.org/drawingml/2006/main">
            <a:r>
              <a:t>The local implementation persists transaction state, issuer receipts, audit events and the Signal investigation in SQLite. This proves a coherent local execution path. Distributed failure boundaries still require validation.</a:t>
            </a:r>
          </a:p>
          <a:p xmlns:a="http://schemas.openxmlformats.org/drawingml/2006/main">
            <a:r>
              <a:t>Point to the normal path and the separate review branch.</a:t>
            </a:r>
          </a:p>
          <a:p xmlns:a="http://schemas.openxmlformats.org/drawingml/2006/main">
            <a:r>
              <a:t/>
            </a:r>
          </a:p>
          <a:p xmlns:a="http://schemas.openxmlformats.org/drawingml/2006/main">
            <a:r>
              <a:t>REFERENCE / QUALIFICATION</a:t>
            </a:r>
          </a:p>
          <a:p xmlns:a="http://schemas.openxmlformats.org/drawingml/2006/main">
            <a:r>
              <a:t>The gateway path is conditional: ALLOW can proceed directly. CHALLENGE requires simulated authentication. REVIEW requires evidence-bound release. BLOCK and UNAVAILABLE do not call the issuer. The diagram summarizes the runtime; SQLite atomically owns session state, audit, local issuer receipts and the Signal projection. Dashed line represents approved release. This does not establish atomicity with an external issuer.</a:t>
            </a:r>
          </a:p>
          <a:p xmlns:a="http://schemas.openxmlformats.org/drawingml/2006/main">
            <a:r>
              <a:t/>
            </a:r>
          </a:p>
          <a:p xmlns:a="http://schemas.openxmlformats.org/drawingml/2006/main">
            <a:r>
              <a:t>Source: /Users/hariprasadtammineni/Documents/ChatGPT/databricks-utlity/docs/hackathon/fraud-guard.md</a:t>
            </a:r>
          </a:p>
          <a:p xmlns:a="http://schemas.openxmlformats.org/drawingml/2006/main">
            <a:r>
              <a:t>Evidence scope: local synthetic implementation reviewed 29 October 2026. Proposed cloud gates remain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01:45–02:15 | Decision ownership</a:t>
            </a:r>
          </a:p>
          <a:p xmlns:a="http://schemas.openxmlformats.org/drawingml/2006/main">
            <a:r>
              <a:t>Fraud clearance does not guarantee payment approval. The issuer can decline independently, and an analyst release cannot override that decline. Human review is a separate hold-and-release flow. We would not leave a synchronous gateway request waiting indefinitely for an analyst.</a:t>
            </a:r>
          </a:p>
          <a:p xmlns:a="http://schemas.openxmlformats.org/drawingml/2006/main">
            <a:r>
              <a:t>Advance to real versus synthetic boundaries.</a:t>
            </a:r>
          </a:p>
          <a:p xmlns:a="http://schemas.openxmlformats.org/drawingml/2006/main">
            <a:r>
              <a:t/>
            </a:r>
          </a:p>
          <a:p xmlns:a="http://schemas.openxmlformats.org/drawingml/2006/main">
            <a:r>
              <a:t>REFERENCE / QUALIFICATION</a:t>
            </a:r>
          </a:p>
          <a:p xmlns:a="http://schemas.openxmlformats.org/drawingml/2006/main">
            <a:r>
              <a:t>This is an authorization-only MVP. Capture, refund, reversal, settlement and chargeback semantics are outside scope. Roles are local simulated names, not authenticated enterprise identities. Both challenges and analyst proposals expire after 120 virtual seconds. An executed release must remain current and unexpired when authorization starts. A future approved EMV 3DS integration would replace the challenge simulator.</a:t>
            </a:r>
          </a:p>
          <a:p xmlns:a="http://schemas.openxmlformats.org/drawingml/2006/main">
            <a:r>
              <a:t/>
            </a:r>
          </a:p>
          <a:p xmlns:a="http://schemas.openxmlformats.org/drawingml/2006/main">
            <a:r>
              <a:t>Source: /Users/hariprasadtammineni/Documents/ChatGPT/databricks-utlity/docs/hackathon/fraud-guard.md</a:t>
            </a:r>
          </a:p>
          <a:p xmlns:a="http://schemas.openxmlformats.org/drawingml/2006/main">
            <a:r>
              <a:t>Evidence scope: local synthetic implementation reviewed 29 October 2026. Proposed cloud gates remain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02:15–03:00 | What works today</a:t>
            </a:r>
          </a:p>
          <a:p xmlns:a="http://schemas.openxmlformats.org/drawingml/2006/main">
            <a:r>
              <a:t>The processing is real: Python computes features, evaluates rules, enforces state transitions and checks approval evidence. The transaction histories, gateway responses, issuer behavior and approval identities are synthetic. Authentication is simulated. We have no EMV 3DS integration or trained fraud model. We demonstrate workflow correctness without claiming fraud accuracy or production readiness.</a:t>
            </a:r>
          </a:p>
          <a:p xmlns:a="http://schemas.openxmlformats.org/drawingml/2006/main">
            <a:r>
              <a:t>Next show the guided payment demo.</a:t>
            </a:r>
          </a:p>
          <a:p xmlns:a="http://schemas.openxmlformats.org/drawingml/2006/main">
            <a:r>
              <a:t/>
            </a:r>
          </a:p>
          <a:p xmlns:a="http://schemas.openxmlformats.org/drawingml/2006/main">
            <a:r>
              <a:t>REFERENCE / QUALIFICATION</a:t>
            </a:r>
          </a:p>
          <a:p xmlns:a="http://schemas.openxmlformats.org/drawingml/2006/main">
            <a:r>
              <a:t>All transaction amounts are USD minor units. Unknown fields and non-synthetic token formats fail contract validation. This restriction is not PCI certification or a complete data-loss prevention system. Green means safely handled under demo policy, which can include a block or issuer decline. It does not mean confirmed legitimate. Session-local deduplication does not establish global merchant/tenant idempotency. No fraud accuracy or production safety claim is supported.</a:t>
            </a:r>
          </a:p>
          <a:p xmlns:a="http://schemas.openxmlformats.org/drawingml/2006/main">
            <a:r>
              <a:t/>
            </a:r>
          </a:p>
          <a:p xmlns:a="http://schemas.openxmlformats.org/drawingml/2006/main">
            <a:r>
              <a:t>Source: /Users/hariprasadtammineni/Documents/ChatGPT/databricks-utlity/docs/hackathon/fraud-guard.md</a:t>
            </a:r>
          </a:p>
          <a:p xmlns:a="http://schemas.openxmlformats.org/drawingml/2006/main">
            <a:r>
              <a:t>Evidence scope: local synthetic implementation reviewed 29 October 2026. Proposed cloud gates remain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03:00–05:30 | Live guided demo</a:t>
            </a:r>
          </a:p>
          <a:p xmlns:a="http://schemas.openxmlformats.org/drawingml/2006/main">
            <a:r>
              <a:t>BEFORE THE MEETING: confirm the local app is running, open http://127.0.0.1:8080/fraud, keep the PDF as fallback, and use a fresh guided run. Do not submit real card or personal data.</a:t>
            </a:r>
          </a:p>
          <a:p xmlns:a="http://schemas.openxmlformats.org/drawingml/2006/main">
            <a:r>
              <a:t>ACTION: click Start guided fraud demo.</a:t>
            </a:r>
          </a:p>
          <a:p xmlns:a="http://schemas.openxmlformats.org/drawingml/2006/main">
            <a:r>
              <a:t>SAY: We receive a normal $15 purchase and a $1,500 purchase on a previously seen device. The service computes features. The normal purchase clears the rules and receives issuer authorization. The larger purchase stays held for analyst review.</a:t>
            </a:r>
          </a:p>
          <a:p xmlns:a="http://schemas.openxmlformats.org/drawingml/2006/main">
            <a:r>
              <a:t>ACTION: Pause at Investigate flagged purchase. Scroll to features and payment-flow lineage.</a:t>
            </a:r>
          </a:p>
          <a:p xmlns:a="http://schemas.openxmlformats.org/drawingml/2006/main">
            <a:r>
              <a:t>SAY: Here is the rule version, observed feature values and decision reason. Signal uses evidence from this execution. The diagram is a declared payment-processing path, not Unity Catalog table lineage. We preserve the original finding after completion.</a:t>
            </a:r>
          </a:p>
          <a:p xmlns:a="http://schemas.openxmlformats.org/drawingml/2006/main">
            <a:r>
              <a:t>ACTION: Resume through request, approval and release.</a:t>
            </a:r>
          </a:p>
          <a:p xmlns:a="http://schemas.openxmlformats.org/drawingml/2006/main">
            <a:r>
              <a:t>SAY: analyst-demo requests release against the current evidence fingerprint. supervisor-demo approves. The backend checks the role, evidence and expiry. These names demonstrate the protocol; enterprise identity is a pilot gate.</a:t>
            </a:r>
          </a:p>
          <a:p xmlns:a="http://schemas.openxmlformats.org/drawingml/2006/main">
            <a:r>
              <a:t>AT UNKNOWN: The issuer accepted the request, but the acknowledgment was lost. Blind authorization retry could duplicate the attempt, so we require reconciliation.</a:t>
            </a:r>
          </a:p>
          <a:p xmlns:a="http://schemas.openxmlformats.org/drawingml/2006/main">
            <a:r>
              <a:t>AT COMPLETION: The matching receipt resolves the outcome. Two transactions have two receipts. Review the prior snapshot to show the original held or UNKNOWN state without modifying current state.</a:t>
            </a:r>
          </a:p>
          <a:p xmlns:a="http://schemas.openxmlformats.org/drawingml/2006/main">
            <a:r>
              <a:t>FALLBACK: use the screenshot and explain these observations. Do not imply a live run occurred if the server is unavailable.</a:t>
            </a:r>
          </a:p>
          <a:p xmlns:a="http://schemas.openxmlformats.org/drawingml/2006/main">
            <a:r>
              <a:t>Allow about one minute of autoplay plus time for explanation and the investigation pause. Return to slide 18.</a:t>
            </a:r>
          </a:p>
          <a:p xmlns:a="http://schemas.openxmlformats.org/drawingml/2006/main">
            <a:r>
              <a:t/>
            </a:r>
          </a:p>
          <a:p xmlns:a="http://schemas.openxmlformats.org/drawingml/2006/main">
            <a:r>
              <a:t>REFERENCE / QUALIFICATION</a:t>
            </a:r>
          </a:p>
          <a:p xmlns:a="http://schemas.openxmlformats.org/drawingml/2006/main">
            <a:r>
              <a:t>Live entry: http://127.0.0.1:8080/fraud on the machine running the server. Click Start guided fraud demo. Pause after investigation to show features and lineage. A normal $15 purchase gets ALLOW and issuer approval. A known-device $1,500 purchase gets REVIEW. analyst-demo requests release and supervisor-demo approves. After release, the issuer accepts but the gateway sees UNKNOWN. Reconciliation reads the matching local receipt without a new authorization. Historical steps retain original evidence. The browser walkthrough observed two final approvals and two receipts. A separate scenario demonstrates issuer decline. Screenshot is local product evidence, not a live gateway.</a:t>
            </a:r>
          </a:p>
          <a:p xmlns:a="http://schemas.openxmlformats.org/drawingml/2006/main">
            <a:r>
              <a:t/>
            </a:r>
          </a:p>
          <a:p xmlns:a="http://schemas.openxmlformats.org/drawingml/2006/main">
            <a:r>
              <a:t>Source: /Users/hariprasadtammineni/Documents/ChatGPT/databricks-utlity/docs/hackathon/fraud-guard.md</a:t>
            </a:r>
          </a:p>
          <a:p xmlns:a="http://schemas.openxmlformats.org/drawingml/2006/main">
            <a:r>
              <a:t>Evidence scope: local synthetic implementation reviewed 29 October 2026. Proposed cloud gates remain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05:30–06:30 | Databricks role</a:t>
            </a:r>
          </a:p>
          <a:p xmlns:a="http://schemas.openxmlformats.org/drawingml/2006/main">
            <a:r>
              <a:t>Databricks would support governed event history, feature pipelines, evaluation jobs and investigation evidence. We propose a dedicated online decision service for the synchronous payment path. We need latency and feature freshness tests before choosing its final placement and online store.</a:t>
            </a:r>
          </a:p>
          <a:p xmlns:a="http://schemas.openxmlformats.org/drawingml/2006/main">
            <a:r>
              <a:t>Fraud Guard currently runs locally. Moving operational state, enforcing authenticated access and connecting its jobs to the Workflow Builder remain pilot implementation work.</a:t>
            </a:r>
          </a:p>
          <a:p xmlns:a="http://schemas.openxmlformats.org/drawingml/2006/main">
            <a:r>
              <a:t/>
            </a:r>
          </a:p>
          <a:p xmlns:a="http://schemas.openxmlformats.org/drawingml/2006/main">
            <a:r>
              <a:t>REFERENCE / QUALIFICATION</a:t>
            </a:r>
          </a:p>
          <a:p xmlns:a="http://schemas.openxmlformats.org/drawingml/2006/main">
            <a:r>
              <a:t>Target architecture, not a deployed result. Use Databricks for governed history, feature pipelines, evaluation and evidence. Keep the synchronous decision service separate until serving placement and latency are validated. The current Databricks App mode disables Fraud Guard and does not migrate its SQLite store. Its exported workflow sources do not yet run Fraud Guard. Select the online feature/state store after freshness, tenancy and failure tests. No numerical response SLO is claimed; risk, payments and platform owners must agree it before testing. Real issuer/database writes cannot share the local SQLite transaction.</a:t>
            </a:r>
          </a:p>
          <a:p xmlns:a="http://schemas.openxmlformats.org/drawingml/2006/main">
            <a:r>
              <a:t/>
            </a:r>
          </a:p>
          <a:p xmlns:a="http://schemas.openxmlformats.org/drawingml/2006/main">
            <a:r>
              <a:t>Source: /Users/hariprasadtammineni/Documents/ChatGPT/databricks-utlity/docs/hackathon/fraud-guard.md</a:t>
            </a:r>
          </a:p>
          <a:p xmlns:a="http://schemas.openxmlformats.org/drawingml/2006/main">
            <a:r>
              <a:t>Evidence scope: local synthetic implementation reviewed 29 October 2026. Proposed cloud gates remain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06:30–08:00 | Acceptance criteria</a:t>
            </a:r>
          </a:p>
          <a:p xmlns:a="http://schemas.openxmlformats.org/drawingml/2006/main">
            <a:r>
              <a:t>Acceptance should rest on observable behavior. Blocks, failed authentication and the configured outage hold must prevent issuer calls. Identical requests must reuse results; conflicting payloads must fail; unknown authorization outcomes must reconcile before retry. Missing, wrong-role, stale and expired approvals must fail server-side.</a:t>
            </a:r>
          </a:p>
          <a:p xmlns:a="http://schemas.openxmlformats.org/drawingml/2006/main">
            <a:r>
              <a:t>The Databricks pilot must demonstrate synthetic job execution, feature freshness, restart behavior and access controls. Owners must agree response deadlines, outage behavior, cost limits and accountability before testing. Passing a local demo is a starting point; the pilot must produce its own evidence.</a:t>
            </a:r>
          </a:p>
          <a:p xmlns:a="http://schemas.openxmlformats.org/drawingml/2006/main">
            <a:r>
              <a:t>08:00–09:00 | Evidence and limitations</a:t>
            </a:r>
          </a:p>
          <a:p xmlns:a="http://schemas.openxmlformats.org/drawingml/2006/main">
            <a:r>
              <a:t>We have 59 platform tests, including 15 Fraud Guard tests, plus eight synthetic scenario evaluations. These cover decision separation, authentication gates, velocity blocks, stale approvals, duplicates, competing authorization and rollback. They do not establish production throughput, fraud precision, false-decline rates or compliance. The main open questions are authenticated identity, tenant-scoped idempotency, feature freshness and external crash-window reconciliation.</a:t>
            </a:r>
          </a:p>
          <a:p xmlns:a="http://schemas.openxmlformats.org/drawingml/2006/main">
            <a:r>
              <a:t/>
            </a:r>
          </a:p>
          <a:p xmlns:a="http://schemas.openxmlformats.org/drawingml/2006/main">
            <a:r>
              <a:t>REFERENCE / QUALIFICATION</a:t>
            </a:r>
          </a:p>
          <a:p xmlns:a="http://schemas.openxmlformats.org/drawingml/2006/main">
            <a:r>
              <a:t>All gates are proposed cloud-pilot criteria, not achieved Databricks outcomes. The local implementation passed 59 Python tests, of which 15 cover Fraud Guard, plus lineage and syntax checks. Eight fraud scenario families passed their assertions: review timeout, normal approval, issuer decline, velocity block, authentication pass, authentication fail, risk outage and authorization timeout. Risk outage deliberately remains held and incomplete. Require merchant/tenant-scoped keys, signed identity, authenticated callbacks, retention and policy ownership before endpoint expansion. Quantitative latency and throughput targets require agreement before the pilot, not invention in this presentation. Fraud precision/recall and false-decline costs require representative labeled data.</a:t>
            </a:r>
          </a:p>
          <a:p xmlns:a="http://schemas.openxmlformats.org/drawingml/2006/main">
            <a:r>
              <a:t/>
            </a:r>
          </a:p>
          <a:p xmlns:a="http://schemas.openxmlformats.org/drawingml/2006/main">
            <a:r>
              <a:t>Source: /Users/hariprasadtammineni/Documents/ChatGPT/databricks-utlity/docs/hackathon/fraud-evaluation.json</a:t>
            </a:r>
          </a:p>
          <a:p xmlns:a="http://schemas.openxmlformats.org/drawingml/2006/main">
            <a:r>
              <a:t>Evidence scope: local synthetic implementation reviewed 29 October 2026. Proposed cloud gates remain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09:00–10:00 | Acceptance request</a:t>
            </a:r>
          </a:p>
          <a:p xmlns:a="http://schemas.openxmlformats.org/drawingml/2006/main">
            <a:r>
              <a:t>My request is a synthetic Databricks pilot under named conditions. We need an architecture sponsor, payments and risk owners for policy and fallback behavior, and platform and security owners for deployment, identity and operational state.</a:t>
            </a:r>
          </a:p>
          <a:p xmlns:a="http://schemas.openxmlformats.org/drawingml/2006/main">
            <a:r>
              <a:t>The next review should examine recorded test results against agreed gates before considering live endpoints.</a:t>
            </a:r>
          </a:p>
          <a:p xmlns:a="http://schemas.openxmlformats.org/drawingml/2006/main">
            <a:r>
              <a:t>Would you accept this direction with conditions, or identify architectural changes you want before we proceed?</a:t>
            </a:r>
          </a:p>
          <a:p xmlns:a="http://schemas.openxmlformats.org/drawingml/2006/main">
            <a:r>
              <a:t>STOP and let the manager respond. Appendix slides support questions and are outside the ten-minute core presentation.</a:t>
            </a:r>
          </a:p>
          <a:p xmlns:a="http://schemas.openxmlformats.org/drawingml/2006/main">
            <a:r>
              <a:t>If asked about an unproven property: We have not validated that yet. I would make it an explicit pilot gate and return with measured evidence.</a:t>
            </a:r>
          </a:p>
          <a:p xmlns:a="http://schemas.openxmlformats.org/drawingml/2006/main">
            <a:r>
              <a:t/>
            </a:r>
          </a:p>
          <a:p xmlns:a="http://schemas.openxmlformats.org/drawingml/2006/main">
            <a:r>
              <a:t>REFERENCE / QUALIFICATION</a:t>
            </a:r>
          </a:p>
          <a:p xmlns:a="http://schemas.openxmlformats.org/drawingml/2006/main">
            <a:r>
              <a:t>Ask the manager to record accept with conditions, changes required, or defer with explicit blockers. Name accountable people, data scope, a cost cap and the next evidence review. Existing DeliveryGuard material remains in slides 2–13. Fraud Guard is the second pilot workstream, with independent payment-specific state and guards. Do not interpret demo completion as management approval, regulatory certification, live-payment readiness or permission to handle real cardholder data.</a:t>
            </a:r>
          </a:p>
          <a:p xmlns:a="http://schemas.openxmlformats.org/drawingml/2006/main">
            <a:r>
              <a:t/>
            </a:r>
          </a:p>
          <a:p xmlns:a="http://schemas.openxmlformats.org/drawingml/2006/main">
            <a:r>
              <a:t>Source: /Users/hariprasadtammineni/Documents/ChatGPT/databricks-utlity/docs/hackathon/fraud-guard.md</a:t>
            </a:r>
          </a:p>
          <a:p xmlns:a="http://schemas.openxmlformats.org/drawingml/2006/main">
            <a:r>
              <a:t>Evidence scope: local synthetic implementation reviewed 29 October 2026. Proposed cloud gates remain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evidence infographic outside the ten-minute core. The normal request creates the first local receipt. Authorization of the reviewed request creates the second receipt, while the gateway sees UNKNOWN. Reconciliation resolves its outcome and leaves receipt count unchanged at two. This is local simulator evidence, not a payment-network performance measure. Source: guided browser run and investigator/fraud.py.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HANDLING: These answers describe the implemented synthetic scope and proposed pilot gates. Do not improvise claims of latency, accuracy, certification or live readiness.</a:t>
            </a:r>
          </a:p>
          <a:p xmlns:a="http://schemas.openxmlformats.org/drawingml/2006/main">
            <a:r>
              <a:t/>
            </a:r>
          </a:p>
          <a:p xmlns:a="http://schemas.openxmlformats.org/drawingml/2006/main">
            <a:r>
              <a:t>Why build rather than buy?</a:t>
            </a:r>
          </a:p>
          <a:p xmlns:a="http://schemas.openxmlformats.org/drawingml/2006/main">
            <a:r>
              <a:t>The pilot evaluates investigation and policy controls around existing payment services. A replacement case and buy-versus-build assessment remain open.</a:t>
            </a:r>
          </a:p>
          <a:p xmlns:a="http://schemas.openxmlformats.org/drawingml/2006/main">
            <a:r>
              <a:t/>
            </a:r>
          </a:p>
          <a:p xmlns:a="http://schemas.openxmlformats.org/drawingml/2006/main">
            <a:r>
              <a:t>Where does Databricks enter the critical path?</a:t>
            </a:r>
          </a:p>
          <a:p xmlns:a="http://schemas.openxmlformats.org/drawingml/2006/main">
            <a:r>
              <a:t>Start with governed history, features and evaluation. Validate tail latency and freshness before selecting online serving placement.</a:t>
            </a:r>
          </a:p>
          <a:p xmlns:a="http://schemas.openxmlformats.org/drawingml/2006/main">
            <a:r>
              <a:t/>
            </a:r>
          </a:p>
          <a:p xmlns:a="http://schemas.openxmlformats.org/drawingml/2006/main">
            <a:r>
              <a:t>Why SQLite?</a:t>
            </a:r>
          </a:p>
          <a:p xmlns:a="http://schemas.openxmlformats.org/drawingml/2006/main">
            <a:r>
              <a:t>It makes local state transitions atomic. The pilot must select an operational store for tenancy, concurrency and external side effects.</a:t>
            </a:r>
          </a:p>
          <a:p xmlns:a="http://schemas.openxmlformats.org/drawingml/2006/main">
            <a:r>
              <a:t/>
            </a:r>
          </a:p>
          <a:p xmlns:a="http://schemas.openxmlformats.org/drawingml/2006/main">
            <a:r>
              <a:t>Source: /Users/hariprasadtammineni/Documents/ChatGPT/databricks-utlity/docs/hackathon/fraud-guard.md and the manager presentation script from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HANDLING: These answers describe the implemented synthetic scope and proposed pilot gates. Do not improvise claims of latency, accuracy, certification or live readiness.</a:t>
            </a:r>
          </a:p>
          <a:p xmlns:a="http://schemas.openxmlformats.org/drawingml/2006/main">
            <a:r>
              <a:t/>
            </a:r>
          </a:p>
          <a:p xmlns:a="http://schemas.openxmlformats.org/drawingml/2006/main">
            <a:r>
              <a:t>Do we guarantee exactly-once authorization?</a:t>
            </a:r>
          </a:p>
          <a:p xmlns:a="http://schemas.openxmlformats.org/drawingml/2006/main">
            <a:r>
              <a:t>No. We demonstrate session-local idempotency. Production needs merchant-scoped keys and explicit acceptance-versus-persistence crash tests.</a:t>
            </a:r>
          </a:p>
          <a:p xmlns:a="http://schemas.openxmlformats.org/drawingml/2006/main">
            <a:r>
              <a:t/>
            </a:r>
          </a:p>
          <a:p xmlns:a="http://schemas.openxmlformats.org/drawingml/2006/main">
            <a:r>
              <a:t>How do we resolve a timed-out issuer request?</a:t>
            </a:r>
          </a:p>
          <a:p xmlns:a="http://schemas.openxmlformats.org/drawingml/2006/main">
            <a:r>
              <a:t>Use an authoritative provider lookup or reconciliation receipt. Without trustworthy evidence, preserve UNKNOWN and prevent blind retry.</a:t>
            </a:r>
          </a:p>
          <a:p xmlns:a="http://schemas.openxmlformats.org/drawingml/2006/main">
            <a:r>
              <a:t/>
            </a:r>
          </a:p>
          <a:p xmlns:a="http://schemas.openxmlformats.org/drawingml/2006/main">
            <a:r>
              <a:t>Can an analyst override a decline?</a:t>
            </a:r>
          </a:p>
          <a:p xmlns:a="http://schemas.openxmlformats.org/drawingml/2006/main">
            <a:r>
              <a:t>No. Release applies only to REVIEW before authorization. Blocks, failed authentication and issuer declines remain protected.</a:t>
            </a:r>
          </a:p>
          <a:p xmlns:a="http://schemas.openxmlformats.org/drawingml/2006/main">
            <a:r>
              <a:t/>
            </a:r>
          </a:p>
          <a:p xmlns:a="http://schemas.openxmlformats.org/drawingml/2006/main">
            <a:r>
              <a:t>Source: /Users/hariprasadtammineni/Documents/ChatGPT/databricks-utlity/docs/hackathon/fraud-guard.md and the manager presentation script from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HANDLING: These answers describe the implemented synthetic scope and proposed pilot gates. Do not improvise claims of latency, accuracy, certification or live readiness.</a:t>
            </a:r>
          </a:p>
          <a:p xmlns:a="http://schemas.openxmlformats.org/drawingml/2006/main">
            <a:r>
              <a:t/>
            </a:r>
          </a:p>
          <a:p xmlns:a="http://schemas.openxmlformats.org/drawingml/2006/main">
            <a:r>
              <a:t>Is maker/checker enforcement complete?</a:t>
            </a:r>
          </a:p>
          <a:p xmlns:a="http://schemas.openxmlformats.org/drawingml/2006/main">
            <a:r>
              <a:t>The demo enforces distinct simulated roles. Production needs authenticated identity, trusted role assignment and server-side authorization.</a:t>
            </a:r>
          </a:p>
          <a:p xmlns:a="http://schemas.openxmlformats.org/drawingml/2006/main">
            <a:r>
              <a:t/>
            </a:r>
          </a:p>
          <a:p xmlns:a="http://schemas.openxmlformats.org/drawingml/2006/main">
            <a:r>
              <a:t>Does the evidence hash prevent tampering?</a:t>
            </a:r>
          </a:p>
          <a:p xmlns:a="http://schemas.openxmlformats.org/drawingml/2006/main">
            <a:r>
              <a:t>No. It binds approval to the evidence used. Audit integrity needs protected storage, retention and an agreed integrity mechanism.</a:t>
            </a:r>
          </a:p>
          <a:p xmlns:a="http://schemas.openxmlformats.org/drawingml/2006/main">
            <a:r>
              <a:t/>
            </a:r>
          </a:p>
          <a:p xmlns:a="http://schemas.openxmlformats.org/drawingml/2006/main">
            <a:r>
              <a:t>Are we PCI compliant?</a:t>
            </a:r>
          </a:p>
          <a:p xmlns:a="http://schemas.openxmlformats.org/drawingml/2006/main">
            <a:r>
              <a:t>We make no certification claim. The demo uses synthetic tokens. Real-card integration needs a separate scope and security assessment.</a:t>
            </a:r>
          </a:p>
          <a:p xmlns:a="http://schemas.openxmlformats.org/drawingml/2006/main">
            <a:r>
              <a:t/>
            </a:r>
          </a:p>
          <a:p xmlns:a="http://schemas.openxmlformats.org/drawingml/2006/main">
            <a:r>
              <a:t>Source: /Users/hariprasadtammineni/Documents/ChatGPT/databricks-utlity/docs/hackathon/fraud-guard.md and the manager presentation script from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HANDLING: These answers describe the implemented synthetic scope and proposed pilot gates. Do not improvise claims of latency, accuracy, certification or live readiness.</a:t>
            </a:r>
          </a:p>
          <a:p xmlns:a="http://schemas.openxmlformats.org/drawingml/2006/main">
            <a:r>
              <a:t/>
            </a:r>
          </a:p>
          <a:p xmlns:a="http://schemas.openxmlformats.org/drawingml/2006/main">
            <a:r>
              <a:t>What is the latency SLA?</a:t>
            </a:r>
          </a:p>
          <a:p xmlns:a="http://schemas.openxmlformats.org/drawingml/2006/main">
            <a:r>
              <a:t>Unestablished. Owners must allocate the response budget, then measure tail latency and timeout behavior under representative load.</a:t>
            </a:r>
          </a:p>
          <a:p xmlns:a="http://schemas.openxmlformats.org/drawingml/2006/main">
            <a:r>
              <a:t/>
            </a:r>
          </a:p>
          <a:p xmlns:a="http://schemas.openxmlformats.org/drawingml/2006/main">
            <a:r>
              <a:t>What happens when risk evaluation is unavailable?</a:t>
            </a:r>
          </a:p>
          <a:p xmlns:a="http://schemas.openxmlformats.org/drawingml/2006/main">
            <a:r>
              <a:t>The demo holds the request. Production fallback must be an approved risk policy with bounded timeouts and observable outcomes.</a:t>
            </a:r>
          </a:p>
          <a:p xmlns:a="http://schemas.openxmlformats.org/drawingml/2006/main">
            <a:r>
              <a:t/>
            </a:r>
          </a:p>
          <a:p xmlns:a="http://schemas.openxmlformats.org/drawingml/2006/main">
            <a:r>
              <a:t>How accurate are the fraud rules?</a:t>
            </a:r>
          </a:p>
          <a:p xmlns:a="http://schemas.openxmlformats.org/drawingml/2006/main">
            <a:r>
              <a:t>Accuracy is unmeasured. Evaluate representative labeled data and the cost of false declines before making detection claims.</a:t>
            </a:r>
          </a:p>
          <a:p xmlns:a="http://schemas.openxmlformats.org/drawingml/2006/main">
            <a:r>
              <a:t/>
            </a:r>
          </a:p>
          <a:p xmlns:a="http://schemas.openxmlformats.org/drawingml/2006/main">
            <a:r>
              <a:t>Source: /Users/hariprasadtammineni/Documents/ChatGPT/databricks-utlity/docs/hackathon/fraud-guard.md and the manager presentation script from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HANDLING: These answers describe the implemented synthetic scope and proposed pilot gates. Do not improvise claims of latency, accuracy, certification or live readiness.</a:t>
            </a:r>
          </a:p>
          <a:p xmlns:a="http://schemas.openxmlformats.org/drawingml/2006/main">
            <a:r>
              <a:t/>
            </a:r>
          </a:p>
          <a:p xmlns:a="http://schemas.openxmlformats.org/drawingml/2006/main">
            <a:r>
              <a:t>What does a green graph mean?</a:t>
            </a:r>
          </a:p>
          <a:p xmlns:a="http://schemas.openxmlformats.org/drawingml/2006/main">
            <a:r>
              <a:t>The workflow reached safely handled demo outcomes, including blocks or declines. Green does not certify a legitimate payment.</a:t>
            </a:r>
          </a:p>
          <a:p xmlns:a="http://schemas.openxmlformats.org/drawingml/2006/main">
            <a:r>
              <a:t/>
            </a:r>
          </a:p>
          <a:p xmlns:a="http://schemas.openxmlformats.org/drawingml/2006/main">
            <a:r>
              <a:t>What should the manager approve today?</a:t>
            </a:r>
          </a:p>
          <a:p xmlns:a="http://schemas.openxmlformats.org/drawingml/2006/main">
            <a:r>
              <a:t>The bounded pilot scope, accountable owners and acceptance conditions. Live endpoints and production rollout need later approval.</a:t>
            </a:r>
          </a:p>
          <a:p xmlns:a="http://schemas.openxmlformats.org/drawingml/2006/main">
            <a:r>
              <a:t/>
            </a:r>
          </a:p>
          <a:p xmlns:a="http://schemas.openxmlformats.org/drawingml/2006/main">
            <a:r>
              <a:t>What if the prototype has not proved a property?</a:t>
            </a:r>
          </a:p>
          <a:p xmlns:a="http://schemas.openxmlformats.org/drawingml/2006/main">
            <a:r>
              <a:t>We have not validated that yet. Make it an explicit pilot gate and return with measured evidence.</a:t>
            </a:r>
          </a:p>
          <a:p xmlns:a="http://schemas.openxmlformats.org/drawingml/2006/main">
            <a:r>
              <a:t/>
            </a:r>
          </a:p>
          <a:p xmlns:a="http://schemas.openxmlformats.org/drawingml/2006/main">
            <a:r>
              <a:t>Source: /Users/hariprasadtammineni/Documents/ChatGPT/databricks-utlity/docs/hackathon/fraud-guard.md and the manager presentation script from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0bd38037604c5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05be30eee664d8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d7890f6f8384fc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d30bab5c3e7463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235df25baed48d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6010c23a40747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C778F1-631B-4F83-B15B-3C0411FC98B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57F32AC-AE1B-43DE-9A76-39314644C27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3EBCB93-AE1C-4B2A-9D63-04C30DD3115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F61B03-0ADC-4108-B26B-963AC27E81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9D75B53-D6FA-4213-8877-9FC1E08BB71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2AB6818-1226-47DC-89A6-123FCF47A9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92203DA-A69E-41EA-B3BD-8588DD50EFA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9BFACBD-3C38-42BD-B010-A492B40EBE7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CAB21E-1DB7-4BA6-8984-C5CFE9B3CB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832A6E6-2D9D-45A5-9E0C-733DFB2793C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39b56c0cf74e8a" /><Relationship Type="http://schemas.openxmlformats.org/officeDocument/2006/relationships/slideLayout" Target="/ppt/slideLayouts/slideLayout1.xml" Id="Rd1ae3a3235804abb" /><Relationship Type="http://schemas.openxmlformats.org/officeDocument/2006/relationships/slideLayout" Target="/ppt/slideLayouts/slideLayout2.xml" Id="R97db11cf04b74e3f" /><Relationship Type="http://schemas.openxmlformats.org/officeDocument/2006/relationships/slideLayout" Target="/ppt/slideLayouts/slideLayout3.xml" Id="Rca39f94226ea48b6" /><Relationship Type="http://schemas.openxmlformats.org/officeDocument/2006/relationships/slideLayout" Target="/ppt/slideLayouts/slideLayout4.xml" Id="R90723c94b5dc4209" /><Relationship Type="http://schemas.openxmlformats.org/officeDocument/2006/relationships/slideLayout" Target="/ppt/slideLayouts/slideLayout5.xml" Id="R96248301258c4e06" /><Relationship Type="http://schemas.openxmlformats.org/officeDocument/2006/relationships/slideLayout" Target="/ppt/slideLayouts/slideLayout6.xml" Id="R8bacb62162bd41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1ae3a3235804abb"/>
    <p:sldLayoutId xmlns:r="http://schemas.openxmlformats.org/officeDocument/2006/relationships" id="2147483650" r:id="R97db11cf04b74e3f"/>
    <p:sldLayoutId xmlns:r="http://schemas.openxmlformats.org/officeDocument/2006/relationships" id="2147483651" r:id="Rca39f94226ea48b6"/>
    <p:sldLayoutId xmlns:r="http://schemas.openxmlformats.org/officeDocument/2006/relationships" id="2147483652" r:id="R90723c94b5dc4209"/>
    <p:sldLayoutId xmlns:r="http://schemas.openxmlformats.org/officeDocument/2006/relationships" id="2147483653" r:id="R96248301258c4e06"/>
    <p:sldLayoutId xmlns:r="http://schemas.openxmlformats.org/officeDocument/2006/relationships" id="2147483654" r:id="R8bacb62162bd41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9fb00fe6a274828" /><Relationship Type="http://schemas.openxmlformats.org/officeDocument/2006/relationships/image" Target="/ppt/media/image.png" Id="R8444d5bd8a774950" /><Relationship Type="http://schemas.openxmlformats.org/officeDocument/2006/relationships/notesSlide" Target="/ppt/notesSlides/notesSlide1.xml" Id="R1e42cf92a7964a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2a6b8b511db47a7" /><Relationship Type="http://schemas.openxmlformats.org/officeDocument/2006/relationships/notesSlide" Target="/ppt/notesSlides/notesSlide2.xml" Id="R148f15afd1c844b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900e9e5c36d4078" /><Relationship Type="http://schemas.openxmlformats.org/officeDocument/2006/relationships/notesSlide" Target="/ppt/notesSlides/notesSlide3.xml" Id="R667edf135b284e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4c7b91ba6e34ca3" /><Relationship Type="http://schemas.openxmlformats.org/officeDocument/2006/relationships/notesSlide" Target="/ppt/notesSlides/notesSlide4.xml" Id="Rba87a03a849146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1db2123bbe04ba8" /><Relationship Type="http://schemas.openxmlformats.org/officeDocument/2006/relationships/notesSlide" Target="/ppt/notesSlides/notesSlide5.xml" Id="Rd2d025d6a014412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36ec62fd36e4647" /><Relationship Type="http://schemas.openxmlformats.org/officeDocument/2006/relationships/notesSlide" Target="/ppt/notesSlides/notesSlide6.xml" Id="Rbdf847d0afdf497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6e4de114ed641d0" /><Relationship Type="http://schemas.openxmlformats.org/officeDocument/2006/relationships/image" Target="/ppt/media/image.jpeg" Id="Rdeaea6018e024a4b" /><Relationship Type="http://schemas.openxmlformats.org/officeDocument/2006/relationships/notesSlide" Target="/ppt/notesSlides/notesSlide7.xml" Id="Rbaad231e69b74e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3edbb443f434998" /><Relationship Type="http://schemas.openxmlformats.org/officeDocument/2006/relationships/notesSlide" Target="/ppt/notesSlides/notesSlide8.xml" Id="R4350863706004e0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eb666c86d6045e4" /><Relationship Type="http://schemas.openxmlformats.org/officeDocument/2006/relationships/notesSlide" Target="/ppt/notesSlides/notesSlide9.xml" Id="R02440c21d4a9425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1f79e5b447f4a21" /><Relationship Type="http://schemas.openxmlformats.org/officeDocument/2006/relationships/notesSlide" Target="/ppt/notesSlides/notesSlide10.xml" Id="Rfd5c7717f2d94b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be1945983b14da1" /><Relationship Type="http://schemas.openxmlformats.org/officeDocument/2006/relationships/notesSlide" Target="/ppt/notesSlides/notesSlide11.xml" Id="R3bc1671eb9d946e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ea9a50ad0154e93" /><Relationship Type="http://schemas.openxmlformats.org/officeDocument/2006/relationships/notesSlide" Target="/ppt/notesSlides/notesSlide12.xml" Id="R1ea6a1950aae42f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8d010a122b54307" /><Relationship Type="http://schemas.openxmlformats.org/officeDocument/2006/relationships/notesSlide" Target="/ppt/notesSlides/notesSlide13.xml" Id="R9ee81f47385c4e7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998234ff9754c5c" /><Relationship Type="http://schemas.openxmlformats.org/officeDocument/2006/relationships/notesSlide" Target="/ppt/notesSlides/notesSlide14.xml" Id="R047304b04823498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06ee690cae04b9c" /><Relationship Type="http://schemas.openxmlformats.org/officeDocument/2006/relationships/notesSlide" Target="/ppt/notesSlides/notesSlide15.xml" Id="Ree927076176442a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d930a842523473e" /><Relationship Type="http://schemas.openxmlformats.org/officeDocument/2006/relationships/notesSlide" Target="/ppt/notesSlides/notesSlide16.xml" Id="Rcc005fbcc2d142a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52ad838a7244f4c" /><Relationship Type="http://schemas.openxmlformats.org/officeDocument/2006/relationships/image" Target="/ppt/media/image2.jpeg" Id="Ra2d8c4be37144583" /><Relationship Type="http://schemas.openxmlformats.org/officeDocument/2006/relationships/notesSlide" Target="/ppt/notesSlides/notesSlide17.xml" Id="R4ed872a76dc84c4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5636273d8b143c5" /><Relationship Type="http://schemas.openxmlformats.org/officeDocument/2006/relationships/notesSlide" Target="/ppt/notesSlides/notesSlide18.xml" Id="R504d5c68ec22424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b46e41c0850472e" /><Relationship Type="http://schemas.openxmlformats.org/officeDocument/2006/relationships/notesSlide" Target="/ppt/notesSlides/notesSlide19.xml" Id="R326b651d0bab457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d5ca640231b433e" /><Relationship Type="http://schemas.openxmlformats.org/officeDocument/2006/relationships/notesSlide" Target="/ppt/notesSlides/notesSlide20.xml" Id="R59dc8ee0a488482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1a25a3d2e234d47" /><Relationship Type="http://schemas.openxmlformats.org/officeDocument/2006/relationships/chart" Target="/ppt/slides/charts/chart1.xml" Id="R602fa0f8e5204e8f" /><Relationship Type="http://schemas.openxmlformats.org/officeDocument/2006/relationships/notesSlide" Target="/ppt/notesSlides/notesSlide21.xml" Id="Rd1fa9b0be600489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b7dd3b8ba264d54" /><Relationship Type="http://schemas.openxmlformats.org/officeDocument/2006/relationships/notesSlide" Target="/ppt/notesSlides/notesSlide22.xml" Id="R0d3845168aca496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518af38701241dc" /><Relationship Type="http://schemas.openxmlformats.org/officeDocument/2006/relationships/notesSlide" Target="/ppt/notesSlides/notesSlide23.xml" Id="R28174a78a2494f9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ff5751cf2f1487f" /><Relationship Type="http://schemas.openxmlformats.org/officeDocument/2006/relationships/notesSlide" Target="/ppt/notesSlides/notesSlide24.xml" Id="R1ec26094d1a74c1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72569e2fed2461f" /><Relationship Type="http://schemas.openxmlformats.org/officeDocument/2006/relationships/notesSlide" Target="/ppt/notesSlides/notesSlide25.xml" Id="Rbc15c008eb3c421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625606e89c5546ea" /><Relationship Type="http://schemas.openxmlformats.org/officeDocument/2006/relationships/notesSlide" Target="/ppt/notesSlides/notesSlide26.xml" Id="R8477cda6e2d243b5" /></Relationships>
</file>

<file path=ppt/slides/charts/chart1.xml><?xml version="1.0" encoding="utf-8"?>
<c:chartSpace xmlns:c="http://schemas.openxmlformats.org/drawingml/2006/chart">
  <c:lang val="en-US"/>
  <c:chart>
    <c:plotArea>
      <c:barChart>
        <c:barDir val="col"/>
        <c:varyColors val="0"/>
        <c:ser>
          <c:idx val="0"/>
          <c:order val="0"/>
          <c:tx>
            <c:v>Cumulative issuer receipts</c:v>
          </c:tx>
          <c:spPr>
            <a:solidFill xmlns:a="http://schemas.openxmlformats.org/drawingml/2006/main">
              <a:srgbClr val="2A6B4D"/>
            </a:solidFill>
          </c:spPr>
          <c:invertIfNegative val="0"/>
          <c:cat>
            <c:strLit>
              <c:ptCount val="3"/>
              <c:pt idx="0">
                <c:v>Normal authorized</c:v>
              </c:pt>
              <c:pt idx="1">
                <c:v>Acknowledgment lost</c:v>
              </c:pt>
              <c:pt idx="2">
                <c:v>Reconciled</c:v>
              </c:pt>
            </c:strLit>
          </c:cat>
          <c:val>
            <c:numLit>
              <c:formatCode>0</c:formatCode>
              <c:ptCount val="3"/>
              <c:pt idx="0">
                <c:v>1</c:v>
              </c:pt>
              <c:pt idx="1">
                <c:v>2</c:v>
              </c:pt>
              <c:pt idx="2">
                <c:v>2</c:v>
              </c:pt>
            </c:numLit>
          </c:val>
        </c:ser>
        <c:dLbls>
          <c:txPr>
            <a:bodyPr xmlns:a="http://schemas.openxmlformats.org/drawingml/2006/main" anchorCtr="1"/>
            <a:lstStyle xmlns:a="http://schemas.openxmlformats.org/drawingml/2006/main"/>
            <a:p xmlns:a="http://schemas.openxmlformats.org/drawingml/2006/main">
              <a:pPr>
                <a:defRPr sz="1650" b="1">
                  <a:solidFill>
                    <a:srgbClr val="183D34"/>
                  </a:solidFil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36A62"/>
                </a:solidFill>
              </a:defRPr>
            </a:pPr>
          </a:p>
        </c:txPr>
        <c:crossAx val="48672768"/>
      </c:catAx>
      <c:valAx>
        <c:axId val="48672768"/>
        <c:scaling>
          <c:orientation val="minMax"/>
          <c:max val="3"/>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A62"/>
                </a:solidFill>
              </a:defRPr>
            </a:pPr>
          </a:p>
        </c:txPr>
        <c:crossAx val="48650112"/>
        <c:crossBetween val="between"/>
        <c:majorUnit val="1"/>
      </c:valAx>
    </c:plotArea>
    <c:plotVisOnly val="1"/>
  </c:chart>
</c:chartSpace>
</file>

<file path=ppt/slides/slide1.xml><?xml version="1.0" encoding="utf-8"?>
<p:sld xmlns:p="http://schemas.openxmlformats.org/presentationml/2006/main">
  <p:cSld>
    <p:bg>
      <p:bgPr>
        <a:solidFill xmlns:a="http://schemas.openxmlformats.org/drawingml/2006/main">
          <a:srgbClr val="102D28"/>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E219F1EE-5A43-43F6-96AC-57168E7B42A2}"/>
              </a:ext>
            </a:extLst>
          </p:cNvPr>
          <p:cNvPicPr>
            <a:picLocks xmlns:a="http://schemas.openxmlformats.org/drawingml/2006/main" noChangeAspect="1"/>
          </p:cNvPicPr>
          <p:nvPr/>
        </p:nvPicPr>
        <p:blipFill>
          <a:blip xmlns:r="http://schemas.openxmlformats.org/officeDocument/2006/relationships" xmlns:a="http://schemas.openxmlformats.org/drawingml/2006/main" r:embed="R8444d5bd8a77495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EF87F51-3AAF-45E7-A80B-F857BFCB4B36}"/>
              </a:ext>
            </a:extLst>
          </p:cNvPr>
          <p:cNvSpPr>
            <a:spLocks xmlns:a="http://schemas.openxmlformats.org/drawingml/2006/main" noGrp="1"/>
          </p:cNvSpPr>
          <p:nvPr/>
        </p:nvSpPr>
        <p:spPr>
          <a:xfrm xmlns:a="http://schemas.openxmlformats.org/drawingml/2006/main">
            <a:off x="609600" y="1238250"/>
            <a:ext cx="619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FFFFFF"/>
                </a:solidFill>
                <a:latin typeface="Arial"/>
                <a:ea typeface="Arial"/>
                <a:cs typeface="Arial"/>
              </a:defRPr>
            </a:defPPr>
            <a:lvl1pPr>
              <a:defRPr sz="4350" b="1">
                <a:solidFill>
                  <a:srgbClr val="FFFFFF"/>
                </a:solidFill>
                <a:latin typeface="Arial"/>
                <a:ea typeface="Arial"/>
                <a:cs typeface="Arial"/>
              </a:defRPr>
            </a:lvl1pPr>
            <a:lvl2pPr>
              <a:defRPr sz="4350" b="1">
                <a:solidFill>
                  <a:srgbClr val="FFFFFF"/>
                </a:solidFill>
                <a:latin typeface="Arial"/>
                <a:ea typeface="Arial"/>
                <a:cs typeface="Arial"/>
              </a:defRPr>
            </a:lvl2pPr>
            <a:lvl3pPr>
              <a:defRPr sz="4350" b="1">
                <a:solidFill>
                  <a:srgbClr val="FFFFFF"/>
                </a:solidFill>
                <a:latin typeface="Arial"/>
                <a:ea typeface="Arial"/>
                <a:cs typeface="Arial"/>
              </a:defRPr>
            </a:lvl3pPr>
            <a:lvl4pPr>
              <a:defRPr sz="4350" b="1">
                <a:solidFill>
                  <a:srgbClr val="FFFFFF"/>
                </a:solidFill>
                <a:latin typeface="Arial"/>
                <a:ea typeface="Arial"/>
                <a:cs typeface="Arial"/>
              </a:defRPr>
            </a:lvl4pPr>
            <a:lvl5pPr>
              <a:defRPr sz="4350" b="1">
                <a:solidFill>
                  <a:srgbClr val="FFFFFF"/>
                </a:solidFill>
                <a:latin typeface="Arial"/>
                <a:ea typeface="Arial"/>
                <a:cs typeface="Arial"/>
              </a:defRPr>
            </a:lvl5pPr>
            <a:lvl6pPr>
              <a:defRPr sz="4350" b="1">
                <a:solidFill>
                  <a:srgbClr val="FFFFFF"/>
                </a:solidFill>
                <a:latin typeface="Arial"/>
                <a:ea typeface="Arial"/>
                <a:cs typeface="Arial"/>
              </a:defRPr>
            </a:lvl6pPr>
            <a:lvl7pPr>
              <a:defRPr sz="4350" b="1">
                <a:solidFill>
                  <a:srgbClr val="FFFFFF"/>
                </a:solidFill>
                <a:latin typeface="Arial"/>
                <a:ea typeface="Arial"/>
                <a:cs typeface="Arial"/>
              </a:defRPr>
            </a:lvl7pPr>
            <a:lvl8pPr>
              <a:defRPr sz="4350" b="1">
                <a:solidFill>
                  <a:srgbClr val="FFFFFF"/>
                </a:solidFill>
                <a:latin typeface="Arial"/>
                <a:ea typeface="Arial"/>
                <a:cs typeface="Arial"/>
              </a:defRPr>
            </a:lvl8pPr>
            <a:lvl9pPr>
              <a:defRPr sz="4350" b="1">
                <a:solidFill>
                  <a:srgbClr val="FFFFFF"/>
                </a:solidFill>
                <a:latin typeface="Arial"/>
                <a:ea typeface="Arial"/>
                <a:cs typeface="Arial"/>
              </a:defRPr>
            </a:lvl9pPr>
          </a:lstStyle>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Signal platform</a:t>
            </a:r>
          </a:p>
        </p:txBody>
      </p:sp>
      <p:sp>
        <p:nvSpPr>
          <p:cNvPr id="4" name="">
            <a:extLst xmlns:a="http://schemas.openxmlformats.org/drawingml/2006/main">
              <a:ext uri="{FF2B5EF4-FFF2-40B4-BE49-F238E27FC236}">
                <a16:creationId xmlns:a16="http://schemas.microsoft.com/office/drawing/2014/main" id="{E572296F-0FA7-4EE0-A78A-9EDF0635ECE5}"/>
              </a:ext>
            </a:extLst>
          </p:cNvPr>
          <p:cNvSpPr>
            <a:spLocks xmlns:a="http://schemas.openxmlformats.org/drawingml/2006/main" noGrp="1"/>
          </p:cNvSpPr>
          <p:nvPr/>
        </p:nvSpPr>
        <p:spPr>
          <a:xfrm xmlns:a="http://schemas.openxmlformats.org/drawingml/2006/main">
            <a:off x="609600" y="2286000"/>
            <a:ext cx="571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D5E9DD"/>
                </a:solidFill>
                <a:latin typeface="Arial"/>
                <a:ea typeface="Arial"/>
                <a:cs typeface="Arial"/>
              </a:defRPr>
            </a:defPPr>
            <a:lvl1pPr>
              <a:defRPr sz="2700" b="0">
                <a:solidFill>
                  <a:srgbClr val="D5E9DD"/>
                </a:solidFill>
                <a:latin typeface="Arial"/>
                <a:ea typeface="Arial"/>
                <a:cs typeface="Arial"/>
              </a:defRPr>
            </a:lvl1pPr>
            <a:lvl2pPr>
              <a:defRPr sz="2700" b="0">
                <a:solidFill>
                  <a:srgbClr val="D5E9DD"/>
                </a:solidFill>
                <a:latin typeface="Arial"/>
                <a:ea typeface="Arial"/>
                <a:cs typeface="Arial"/>
              </a:defRPr>
            </a:lvl2pPr>
            <a:lvl3pPr>
              <a:defRPr sz="2700" b="0">
                <a:solidFill>
                  <a:srgbClr val="D5E9DD"/>
                </a:solidFill>
                <a:latin typeface="Arial"/>
                <a:ea typeface="Arial"/>
                <a:cs typeface="Arial"/>
              </a:defRPr>
            </a:lvl3pPr>
            <a:lvl4pPr>
              <a:defRPr sz="2700" b="0">
                <a:solidFill>
                  <a:srgbClr val="D5E9DD"/>
                </a:solidFill>
                <a:latin typeface="Arial"/>
                <a:ea typeface="Arial"/>
                <a:cs typeface="Arial"/>
              </a:defRPr>
            </a:lvl4pPr>
            <a:lvl5pPr>
              <a:defRPr sz="2700" b="0">
                <a:solidFill>
                  <a:srgbClr val="D5E9DD"/>
                </a:solidFill>
                <a:latin typeface="Arial"/>
                <a:ea typeface="Arial"/>
                <a:cs typeface="Arial"/>
              </a:defRPr>
            </a:lvl5pPr>
            <a:lvl6pPr>
              <a:defRPr sz="2700" b="0">
                <a:solidFill>
                  <a:srgbClr val="D5E9DD"/>
                </a:solidFill>
                <a:latin typeface="Arial"/>
                <a:ea typeface="Arial"/>
                <a:cs typeface="Arial"/>
              </a:defRPr>
            </a:lvl6pPr>
            <a:lvl7pPr>
              <a:defRPr sz="2700" b="0">
                <a:solidFill>
                  <a:srgbClr val="D5E9DD"/>
                </a:solidFill>
                <a:latin typeface="Arial"/>
                <a:ea typeface="Arial"/>
                <a:cs typeface="Arial"/>
              </a:defRPr>
            </a:lvl7pPr>
            <a:lvl8pPr>
              <a:defRPr sz="2700" b="0">
                <a:solidFill>
                  <a:srgbClr val="D5E9DD"/>
                </a:solidFill>
                <a:latin typeface="Arial"/>
                <a:ea typeface="Arial"/>
                <a:cs typeface="Arial"/>
              </a:defRPr>
            </a:lvl8pPr>
            <a:lvl9pPr>
              <a:defRPr sz="2700" b="0">
                <a:solidFill>
                  <a:srgbClr val="D5E9DD"/>
                </a:solidFill>
                <a:latin typeface="Arial"/>
                <a:ea typeface="Arial"/>
                <a:cs typeface="Arial"/>
              </a:defRPr>
            </a:lvl9pPr>
          </a:lstStyle>
          <a:p xmlns:a="http://schemas.openxmlformats.org/drawingml/2006/main">
            <a:pPr>
              <a:defRPr sz="2700" b="0">
                <a:solidFill>
                  <a:srgbClr val="D5E9DD"/>
                </a:solidFill>
                <a:latin typeface="Arial"/>
                <a:ea typeface="Arial"/>
                <a:cs typeface="Arial"/>
              </a:defRPr>
            </a:pPr>
            <a:r>
              <a:rPr sz="2700" b="0">
                <a:solidFill>
                  <a:srgbClr val="D5E9DD"/>
                </a:solidFill>
                <a:latin typeface="Arial"/>
                <a:ea typeface="Arial"/>
                <a:cs typeface="Arial"/>
              </a:rPr>
              <a:t>DeliveryGuard and</a:t>
            </a:r>
          </a:p>
          <a:p xmlns:a="http://schemas.openxmlformats.org/drawingml/2006/main">
            <a:pPr>
              <a:defRPr sz="2700" b="0">
                <a:solidFill>
                  <a:srgbClr val="D5E9DD"/>
                </a:solidFill>
                <a:latin typeface="Arial"/>
                <a:ea typeface="Arial"/>
                <a:cs typeface="Arial"/>
              </a:defRPr>
            </a:pPr>
            <a:r>
              <a:rPr sz="2700" b="0">
                <a:solidFill>
                  <a:srgbClr val="D5E9DD"/>
                </a:solidFill>
                <a:latin typeface="Arial"/>
                <a:ea typeface="Arial"/>
                <a:cs typeface="Arial"/>
              </a:rPr>
              <a:t>Fraud Guard pilot review</a:t>
            </a:r>
          </a:p>
        </p:txBody>
      </p:sp>
      <p:sp>
        <p:nvSpPr>
          <p:cNvPr id="5" name="">
            <a:extLst xmlns:a="http://schemas.openxmlformats.org/drawingml/2006/main">
              <a:ext uri="{FF2B5EF4-FFF2-40B4-BE49-F238E27FC236}">
                <a16:creationId xmlns:a16="http://schemas.microsoft.com/office/drawing/2014/main" id="{80963730-E302-4B16-9128-66D850CD1564}"/>
              </a:ext>
            </a:extLst>
          </p:cNvPr>
          <p:cNvSpPr>
            <a:spLocks xmlns:a="http://schemas.openxmlformats.org/drawingml/2006/main" noGrp="1"/>
          </p:cNvSpPr>
          <p:nvPr/>
        </p:nvSpPr>
        <p:spPr>
          <a:xfrm xmlns:a="http://schemas.openxmlformats.org/drawingml/2006/main">
            <a:off x="609600" y="3714750"/>
            <a:ext cx="571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vl1pPr>
              <a:defRPr sz="2025" b="0">
                <a:solidFill>
                  <a:srgbClr val="FFFFFF"/>
                </a:solidFill>
                <a:latin typeface="Arial"/>
                <a:ea typeface="Arial"/>
                <a:cs typeface="Arial"/>
              </a:defRPr>
            </a:lvl1pPr>
            <a:lvl2pPr>
              <a:defRPr sz="2025" b="0">
                <a:solidFill>
                  <a:srgbClr val="FFFFFF"/>
                </a:solidFill>
                <a:latin typeface="Arial"/>
                <a:ea typeface="Arial"/>
                <a:cs typeface="Arial"/>
              </a:defRPr>
            </a:lvl2pPr>
            <a:lvl3pPr>
              <a:defRPr sz="2025" b="0">
                <a:solidFill>
                  <a:srgbClr val="FFFFFF"/>
                </a:solidFill>
                <a:latin typeface="Arial"/>
                <a:ea typeface="Arial"/>
                <a:cs typeface="Arial"/>
              </a:defRPr>
            </a:lvl3pPr>
            <a:lvl4pPr>
              <a:defRPr sz="2025" b="0">
                <a:solidFill>
                  <a:srgbClr val="FFFFFF"/>
                </a:solidFill>
                <a:latin typeface="Arial"/>
                <a:ea typeface="Arial"/>
                <a:cs typeface="Arial"/>
              </a:defRPr>
            </a:lvl4pPr>
            <a:lvl5pPr>
              <a:defRPr sz="2025" b="0">
                <a:solidFill>
                  <a:srgbClr val="FFFFFF"/>
                </a:solidFill>
                <a:latin typeface="Arial"/>
                <a:ea typeface="Arial"/>
                <a:cs typeface="Arial"/>
              </a:defRPr>
            </a:lvl5pPr>
            <a:lvl6pPr>
              <a:defRPr sz="2025" b="0">
                <a:solidFill>
                  <a:srgbClr val="FFFFFF"/>
                </a:solidFill>
                <a:latin typeface="Arial"/>
                <a:ea typeface="Arial"/>
                <a:cs typeface="Arial"/>
              </a:defRPr>
            </a:lvl6pPr>
            <a:lvl7pPr>
              <a:defRPr sz="2025" b="0">
                <a:solidFill>
                  <a:srgbClr val="FFFFFF"/>
                </a:solidFill>
                <a:latin typeface="Arial"/>
                <a:ea typeface="Arial"/>
                <a:cs typeface="Arial"/>
              </a:defRPr>
            </a:lvl7pPr>
            <a:lvl8pPr>
              <a:defRPr sz="2025" b="0">
                <a:solidFill>
                  <a:srgbClr val="FFFFFF"/>
                </a:solidFill>
                <a:latin typeface="Arial"/>
                <a:ea typeface="Arial"/>
                <a:cs typeface="Arial"/>
              </a:defRPr>
            </a:lvl8pPr>
            <a:lvl9pPr>
              <a:defRPr sz="2025" b="0">
                <a:solidFill>
                  <a:srgbClr val="FFFFFF"/>
                </a:solidFill>
                <a:latin typeface="Arial"/>
                <a:ea typeface="Arial"/>
                <a:cs typeface="Arial"/>
              </a:defRPr>
            </a:lvl9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Architecture, synthetic demonstrations</a:t>
            </a:r>
          </a:p>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and acceptance gates</a:t>
            </a:r>
          </a:p>
        </p:txBody>
      </p:sp>
      <p:sp>
        <p:nvSpPr>
          <p:cNvPr id="6" name="">
            <a:extLst xmlns:a="http://schemas.openxmlformats.org/drawingml/2006/main">
              <a:ext uri="{FF2B5EF4-FFF2-40B4-BE49-F238E27FC236}">
                <a16:creationId xmlns:a16="http://schemas.microsoft.com/office/drawing/2014/main" id="{D3B10936-43D6-4C4A-8782-8B26EAB68C61}"/>
              </a:ext>
            </a:extLst>
          </p:cNvPr>
          <p:cNvSpPr>
            <a:spLocks xmlns:a="http://schemas.openxmlformats.org/drawingml/2006/main" noGrp="1"/>
          </p:cNvSpPr>
          <p:nvPr/>
        </p:nvSpPr>
        <p:spPr>
          <a:xfrm xmlns:a="http://schemas.openxmlformats.org/drawingml/2006/main">
            <a:off x="609600" y="5334000"/>
            <a:ext cx="619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D5E9DD"/>
                </a:solidFill>
                <a:latin typeface="Arial"/>
                <a:ea typeface="Arial"/>
                <a:cs typeface="Arial"/>
              </a:defRPr>
            </a:defPPr>
            <a:lvl1pPr>
              <a:defRPr sz="1875" b="0">
                <a:solidFill>
                  <a:srgbClr val="D5E9DD"/>
                </a:solidFill>
                <a:latin typeface="Arial"/>
                <a:ea typeface="Arial"/>
                <a:cs typeface="Arial"/>
              </a:defRPr>
            </a:lvl1pPr>
            <a:lvl2pPr>
              <a:defRPr sz="1875" b="0">
                <a:solidFill>
                  <a:srgbClr val="D5E9DD"/>
                </a:solidFill>
                <a:latin typeface="Arial"/>
                <a:ea typeface="Arial"/>
                <a:cs typeface="Arial"/>
              </a:defRPr>
            </a:lvl2pPr>
            <a:lvl3pPr>
              <a:defRPr sz="1875" b="0">
                <a:solidFill>
                  <a:srgbClr val="D5E9DD"/>
                </a:solidFill>
                <a:latin typeface="Arial"/>
                <a:ea typeface="Arial"/>
                <a:cs typeface="Arial"/>
              </a:defRPr>
            </a:lvl3pPr>
            <a:lvl4pPr>
              <a:defRPr sz="1875" b="0">
                <a:solidFill>
                  <a:srgbClr val="D5E9DD"/>
                </a:solidFill>
                <a:latin typeface="Arial"/>
                <a:ea typeface="Arial"/>
                <a:cs typeface="Arial"/>
              </a:defRPr>
            </a:lvl4pPr>
            <a:lvl5pPr>
              <a:defRPr sz="1875" b="0">
                <a:solidFill>
                  <a:srgbClr val="D5E9DD"/>
                </a:solidFill>
                <a:latin typeface="Arial"/>
                <a:ea typeface="Arial"/>
                <a:cs typeface="Arial"/>
              </a:defRPr>
            </a:lvl5pPr>
            <a:lvl6pPr>
              <a:defRPr sz="1875" b="0">
                <a:solidFill>
                  <a:srgbClr val="D5E9DD"/>
                </a:solidFill>
                <a:latin typeface="Arial"/>
                <a:ea typeface="Arial"/>
                <a:cs typeface="Arial"/>
              </a:defRPr>
            </a:lvl6pPr>
            <a:lvl7pPr>
              <a:defRPr sz="1875" b="0">
                <a:solidFill>
                  <a:srgbClr val="D5E9DD"/>
                </a:solidFill>
                <a:latin typeface="Arial"/>
                <a:ea typeface="Arial"/>
                <a:cs typeface="Arial"/>
              </a:defRPr>
            </a:lvl7pPr>
            <a:lvl8pPr>
              <a:defRPr sz="1875" b="0">
                <a:solidFill>
                  <a:srgbClr val="D5E9DD"/>
                </a:solidFill>
                <a:latin typeface="Arial"/>
                <a:ea typeface="Arial"/>
                <a:cs typeface="Arial"/>
              </a:defRPr>
            </a:lvl8pPr>
            <a:lvl9pPr>
              <a:defRPr sz="1875" b="0">
                <a:solidFill>
                  <a:srgbClr val="D5E9DD"/>
                </a:solidFill>
                <a:latin typeface="Arial"/>
                <a:ea typeface="Arial"/>
                <a:cs typeface="Arial"/>
              </a:defRPr>
            </a:lvl9pPr>
          </a:lstStyle>
          <a:p xmlns:a="http://schemas.openxmlformats.org/drawingml/2006/main">
            <a:pPr>
              <a:defRPr sz="1875" b="0">
                <a:solidFill>
                  <a:srgbClr val="D5E9DD"/>
                </a:solidFill>
                <a:latin typeface="Arial"/>
                <a:ea typeface="Arial"/>
                <a:cs typeface="Arial"/>
              </a:defRPr>
            </a:pPr>
            <a:r>
              <a:rPr sz="1875" b="0">
                <a:solidFill>
                  <a:srgbClr val="D5E9DD"/>
                </a:solidFill>
                <a:latin typeface="Arial"/>
                <a:ea typeface="Arial"/>
                <a:cs typeface="Arial"/>
              </a:rPr>
              <a:t>Decision requested:</a:t>
            </a:r>
          </a:p>
          <a:p xmlns:a="http://schemas.openxmlformats.org/drawingml/2006/main">
            <a:pPr>
              <a:defRPr sz="1875" b="0">
                <a:solidFill>
                  <a:srgbClr val="D5E9DD"/>
                </a:solidFill>
                <a:latin typeface="Arial"/>
                <a:ea typeface="Arial"/>
                <a:cs typeface="Arial"/>
              </a:defRPr>
            </a:pPr>
            <a:r>
              <a:rPr sz="1875" b="0">
                <a:solidFill>
                  <a:srgbClr val="D5E9DD"/>
                </a:solidFill>
                <a:latin typeface="Arial"/>
                <a:ea typeface="Arial"/>
                <a:cs typeface="Arial"/>
              </a:rPr>
              <a:t>approve a scoped sandbox evaluation</a:t>
            </a:r>
          </a:p>
        </p:txBody>
      </p:sp>
      <p:sp>
        <p:nvSpPr>
          <p:cNvPr id="7" name="">
            <a:extLst xmlns:a="http://schemas.openxmlformats.org/drawingml/2006/main">
              <a:ext uri="{FF2B5EF4-FFF2-40B4-BE49-F238E27FC236}">
                <a16:creationId xmlns:a16="http://schemas.microsoft.com/office/drawing/2014/main" id="{8B368DB2-A0A1-43F5-9E14-8121330D1032}"/>
              </a:ext>
            </a:extLst>
          </p:cNvPr>
          <p:cNvSpPr>
            <a:spLocks xmlns:a="http://schemas.openxmlformats.org/drawingml/2006/main" noGrp="1"/>
          </p:cNvSpPr>
          <p:nvPr/>
        </p:nvSpPr>
        <p:spPr>
          <a:xfrm xmlns:a="http://schemas.openxmlformats.org/drawingml/2006/main">
            <a:off x="609600" y="62865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C6DBCD"/>
                </a:solidFill>
                <a:latin typeface="Arial"/>
                <a:ea typeface="Arial"/>
                <a:cs typeface="Arial"/>
              </a:defRPr>
            </a:defPPr>
            <a:lvl1pPr>
              <a:defRPr sz="1350" b="0">
                <a:solidFill>
                  <a:srgbClr val="C6DBCD"/>
                </a:solidFill>
                <a:latin typeface="Arial"/>
                <a:ea typeface="Arial"/>
                <a:cs typeface="Arial"/>
              </a:defRPr>
            </a:lvl1pPr>
            <a:lvl2pPr>
              <a:defRPr sz="1350" b="0">
                <a:solidFill>
                  <a:srgbClr val="C6DBCD"/>
                </a:solidFill>
                <a:latin typeface="Arial"/>
                <a:ea typeface="Arial"/>
                <a:cs typeface="Arial"/>
              </a:defRPr>
            </a:lvl2pPr>
            <a:lvl3pPr>
              <a:defRPr sz="1350" b="0">
                <a:solidFill>
                  <a:srgbClr val="C6DBCD"/>
                </a:solidFill>
                <a:latin typeface="Arial"/>
                <a:ea typeface="Arial"/>
                <a:cs typeface="Arial"/>
              </a:defRPr>
            </a:lvl3pPr>
            <a:lvl4pPr>
              <a:defRPr sz="1350" b="0">
                <a:solidFill>
                  <a:srgbClr val="C6DBCD"/>
                </a:solidFill>
                <a:latin typeface="Arial"/>
                <a:ea typeface="Arial"/>
                <a:cs typeface="Arial"/>
              </a:defRPr>
            </a:lvl4pPr>
            <a:lvl5pPr>
              <a:defRPr sz="1350" b="0">
                <a:solidFill>
                  <a:srgbClr val="C6DBCD"/>
                </a:solidFill>
                <a:latin typeface="Arial"/>
                <a:ea typeface="Arial"/>
                <a:cs typeface="Arial"/>
              </a:defRPr>
            </a:lvl5pPr>
            <a:lvl6pPr>
              <a:defRPr sz="1350" b="0">
                <a:solidFill>
                  <a:srgbClr val="C6DBCD"/>
                </a:solidFill>
                <a:latin typeface="Arial"/>
                <a:ea typeface="Arial"/>
                <a:cs typeface="Arial"/>
              </a:defRPr>
            </a:lvl6pPr>
            <a:lvl7pPr>
              <a:defRPr sz="1350" b="0">
                <a:solidFill>
                  <a:srgbClr val="C6DBCD"/>
                </a:solidFill>
                <a:latin typeface="Arial"/>
                <a:ea typeface="Arial"/>
                <a:cs typeface="Arial"/>
              </a:defRPr>
            </a:lvl7pPr>
            <a:lvl8pPr>
              <a:defRPr sz="1350" b="0">
                <a:solidFill>
                  <a:srgbClr val="C6DBCD"/>
                </a:solidFill>
                <a:latin typeface="Arial"/>
                <a:ea typeface="Arial"/>
                <a:cs typeface="Arial"/>
              </a:defRPr>
            </a:lvl8pPr>
            <a:lvl9pPr>
              <a:defRPr sz="1350" b="0">
                <a:solidFill>
                  <a:srgbClr val="C6DBCD"/>
                </a:solidFill>
                <a:latin typeface="Arial"/>
                <a:ea typeface="Arial"/>
                <a:cs typeface="Arial"/>
              </a:defRPr>
            </a:lvl9pPr>
          </a:lstStyle>
          <a:p xmlns:a="http://schemas.openxmlformats.org/drawingml/2006/main">
            <a:pPr>
              <a:defRPr sz="1350" b="0">
                <a:solidFill>
                  <a:srgbClr val="C6DBCD"/>
                </a:solidFill>
                <a:latin typeface="Arial"/>
                <a:ea typeface="Arial"/>
                <a:cs typeface="Arial"/>
              </a:defRPr>
            </a:pPr>
            <a:r>
              <a:rPr sz="1350" b="0">
                <a:solidFill>
                  <a:srgbClr val="C6DBCD"/>
                </a:solidFill>
                <a:latin typeface="Arial"/>
                <a:ea typeface="Arial"/>
                <a:cs typeface="Arial"/>
              </a:rPr>
              <a:t>29 October 2026</a:t>
            </a:r>
          </a:p>
        </p:txBody>
      </p:sp>
    </p:spTree>
    <p:extLst>
      <p:ext uri="{BB962C8B-B14F-4D97-AF65-F5344CB8AC3E}">
        <p14:creationId xmlns:p14="http://schemas.microsoft.com/office/powerpoint/2010/main" val="985841262"/>
      </p:ext>
    </p:extLst>
  </p:cSld>
</p:sld>
</file>

<file path=ppt/slides/slide2.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29794A6-47F9-400A-981E-94F395D294D0}"/>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D34"/>
                </a:solidFill>
              </a:defRPr>
            </a:defPPr>
            <a:lvl1pPr>
              <a:defRPr sz="3000" b="1">
                <a:solidFill>
                  <a:srgbClr val="183D34"/>
                </a:solidFill>
              </a:defRPr>
            </a:lvl1pPr>
            <a:lvl2pPr>
              <a:defRPr sz="3000" b="1">
                <a:solidFill>
                  <a:srgbClr val="183D34"/>
                </a:solidFill>
              </a:defRPr>
            </a:lvl2pPr>
            <a:lvl3pPr>
              <a:defRPr sz="3000" b="1">
                <a:solidFill>
                  <a:srgbClr val="183D34"/>
                </a:solidFill>
              </a:defRPr>
            </a:lvl3pPr>
            <a:lvl4pPr>
              <a:defRPr sz="3000" b="1">
                <a:solidFill>
                  <a:srgbClr val="183D34"/>
                </a:solidFill>
              </a:defRPr>
            </a:lvl4pPr>
            <a:lvl5pPr>
              <a:defRPr sz="3000" b="1">
                <a:solidFill>
                  <a:srgbClr val="183D34"/>
                </a:solidFill>
              </a:defRPr>
            </a:lvl5pPr>
            <a:lvl6pPr>
              <a:defRPr sz="3000" b="1">
                <a:solidFill>
                  <a:srgbClr val="183D34"/>
                </a:solidFill>
              </a:defRPr>
            </a:lvl6pPr>
            <a:lvl7pPr>
              <a:defRPr sz="3000" b="1">
                <a:solidFill>
                  <a:srgbClr val="183D34"/>
                </a:solidFill>
              </a:defRPr>
            </a:lvl7pPr>
            <a:lvl8pPr>
              <a:defRPr sz="3000" b="1">
                <a:solidFill>
                  <a:srgbClr val="183D34"/>
                </a:solidFill>
              </a:defRPr>
            </a:lvl8pPr>
            <a:lvl9pPr>
              <a:defRPr sz="3000" b="1">
                <a:solidFill>
                  <a:srgbClr val="183D34"/>
                </a:solidFill>
              </a:defRPr>
            </a:lvl9pPr>
          </a:lstStyle>
          <a:p xmlns:a="http://schemas.openxmlformats.org/drawingml/2006/main">
            <a:pPr>
              <a:defRPr sz="3000" b="1">
                <a:solidFill>
                  <a:srgbClr val="183D34"/>
                </a:solidFill>
              </a:defRPr>
            </a:pPr>
            <a:r>
              <a:rPr sz="3000" b="1">
                <a:solidFill>
                  <a:srgbClr val="183D34"/>
                </a:solidFill>
              </a:rPr>
              <a:t>The pilot decision</a:t>
            </a:r>
          </a:p>
        </p:txBody>
      </p:sp>
      <p:sp>
        <p:nvSpPr>
          <p:cNvPr id="3" name="">
            <a:extLst xmlns:a="http://schemas.openxmlformats.org/drawingml/2006/main">
              <a:ext uri="{FF2B5EF4-FFF2-40B4-BE49-F238E27FC236}">
                <a16:creationId xmlns:a16="http://schemas.microsoft.com/office/drawing/2014/main" id="{DBA53960-594C-4112-A03D-6B284A185DAA}"/>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A62"/>
                </a:solidFill>
              </a:defRPr>
            </a:defPPr>
            <a:lvl1pPr>
              <a:defRPr sz="1200" b="0">
                <a:solidFill>
                  <a:srgbClr val="536A62"/>
                </a:solidFill>
              </a:defRPr>
            </a:lvl1pPr>
            <a:lvl2pPr>
              <a:defRPr sz="1200" b="0">
                <a:solidFill>
                  <a:srgbClr val="536A62"/>
                </a:solidFill>
              </a:defRPr>
            </a:lvl2pPr>
            <a:lvl3pPr>
              <a:defRPr sz="1200" b="0">
                <a:solidFill>
                  <a:srgbClr val="536A62"/>
                </a:solidFill>
              </a:defRPr>
            </a:lvl3pPr>
            <a:lvl4pPr>
              <a:defRPr sz="1200" b="0">
                <a:solidFill>
                  <a:srgbClr val="536A62"/>
                </a:solidFill>
              </a:defRPr>
            </a:lvl4pPr>
            <a:lvl5pPr>
              <a:defRPr sz="1200" b="0">
                <a:solidFill>
                  <a:srgbClr val="536A62"/>
                </a:solidFill>
              </a:defRPr>
            </a:lvl5pPr>
            <a:lvl6pPr>
              <a:defRPr sz="1200" b="0">
                <a:solidFill>
                  <a:srgbClr val="536A62"/>
                </a:solidFill>
              </a:defRPr>
            </a:lvl6pPr>
            <a:lvl7pPr>
              <a:defRPr sz="1200" b="0">
                <a:solidFill>
                  <a:srgbClr val="536A62"/>
                </a:solidFill>
              </a:defRPr>
            </a:lvl7pPr>
            <a:lvl8pPr>
              <a:defRPr sz="1200" b="0">
                <a:solidFill>
                  <a:srgbClr val="536A62"/>
                </a:solidFill>
              </a:defRPr>
            </a:lvl8pPr>
            <a:lvl9pPr>
              <a:defRPr sz="1200" b="0">
                <a:solidFill>
                  <a:srgbClr val="536A62"/>
                </a:solidFill>
              </a:defRPr>
            </a:lvl9pPr>
          </a:lstStyle>
          <a:p xmlns:a="http://schemas.openxmlformats.org/drawingml/2006/main">
            <a:pPr>
              <a:defRPr sz="1200" b="0">
                <a:solidFill>
                  <a:srgbClr val="536A62"/>
                </a:solidFill>
              </a:defRPr>
            </a:pPr>
            <a:r>
              <a:rPr sz="1200" b="0">
                <a:solidFill>
                  <a:srgbClr val="536A62"/>
                </a:solidFill>
              </a:rPr>
              <a:t>02</a:t>
            </a:r>
          </a:p>
        </p:txBody>
      </p:sp>
      <p:sp>
        <p:nvSpPr>
          <p:cNvPr id="4" name="">
            <a:extLst xmlns:a="http://schemas.openxmlformats.org/drawingml/2006/main">
              <a:ext uri="{FF2B5EF4-FFF2-40B4-BE49-F238E27FC236}">
                <a16:creationId xmlns:a16="http://schemas.microsoft.com/office/drawing/2014/main" id="{D9AB83A3-8B7D-4478-8FE6-3DA5652F83A3}"/>
              </a:ext>
            </a:extLst>
          </p:cNvPr>
          <p:cNvSpPr>
            <a:spLocks xmlns:a="http://schemas.openxmlformats.org/drawingml/2006/main" noGrp="1"/>
          </p:cNvSpPr>
          <p:nvPr/>
        </p:nvSpPr>
        <p:spPr>
          <a:xfrm xmlns:a="http://schemas.openxmlformats.org/drawingml/2006/main">
            <a:off x="609600" y="14763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2A6B4D"/>
                </a:solidFill>
              </a:defRPr>
            </a:defPPr>
            <a:lvl1pPr>
              <a:defRPr sz="2700" b="1">
                <a:solidFill>
                  <a:srgbClr val="2A6B4D"/>
                </a:solidFill>
              </a:defRPr>
            </a:lvl1pPr>
            <a:lvl2pPr>
              <a:defRPr sz="2700" b="1">
                <a:solidFill>
                  <a:srgbClr val="2A6B4D"/>
                </a:solidFill>
              </a:defRPr>
            </a:lvl2pPr>
            <a:lvl3pPr>
              <a:defRPr sz="2700" b="1">
                <a:solidFill>
                  <a:srgbClr val="2A6B4D"/>
                </a:solidFill>
              </a:defRPr>
            </a:lvl3pPr>
            <a:lvl4pPr>
              <a:defRPr sz="2700" b="1">
                <a:solidFill>
                  <a:srgbClr val="2A6B4D"/>
                </a:solidFill>
              </a:defRPr>
            </a:lvl4pPr>
            <a:lvl5pPr>
              <a:defRPr sz="2700" b="1">
                <a:solidFill>
                  <a:srgbClr val="2A6B4D"/>
                </a:solidFill>
              </a:defRPr>
            </a:lvl5pPr>
            <a:lvl6pPr>
              <a:defRPr sz="2700" b="1">
                <a:solidFill>
                  <a:srgbClr val="2A6B4D"/>
                </a:solidFill>
              </a:defRPr>
            </a:lvl6pPr>
            <a:lvl7pPr>
              <a:defRPr sz="2700" b="1">
                <a:solidFill>
                  <a:srgbClr val="2A6B4D"/>
                </a:solidFill>
              </a:defRPr>
            </a:lvl7pPr>
            <a:lvl8pPr>
              <a:defRPr sz="2700" b="1">
                <a:solidFill>
                  <a:srgbClr val="2A6B4D"/>
                </a:solidFill>
              </a:defRPr>
            </a:lvl8pPr>
            <a:lvl9pPr>
              <a:defRPr sz="2700" b="1">
                <a:solidFill>
                  <a:srgbClr val="2A6B4D"/>
                </a:solidFill>
              </a:defRPr>
            </a:lvl9pPr>
          </a:lstStyle>
          <a:p xmlns:a="http://schemas.openxmlformats.org/drawingml/2006/main">
            <a:pPr>
              <a:defRPr sz="2700" b="1">
                <a:solidFill>
                  <a:srgbClr val="2A6B4D"/>
                </a:solidFill>
              </a:defRPr>
            </a:pPr>
            <a:r>
              <a:rPr sz="2700" b="1">
                <a:solidFill>
                  <a:srgbClr val="2A6B4D"/>
                </a:solidFill>
              </a:rPr>
              <a:t>Approve a bounded internal evaluation</a:t>
            </a:r>
          </a:p>
        </p:txBody>
      </p:sp>
      <p:sp>
        <p:nvSpPr>
          <p:cNvPr id="5" name="">
            <a:extLst xmlns:a="http://schemas.openxmlformats.org/drawingml/2006/main">
              <a:ext uri="{FF2B5EF4-FFF2-40B4-BE49-F238E27FC236}">
                <a16:creationId xmlns:a16="http://schemas.microsoft.com/office/drawing/2014/main" id="{DA6C7E9E-A18F-4484-B1DA-0BEF6E82C7CE}"/>
              </a:ext>
            </a:extLst>
          </p:cNvPr>
          <p:cNvSpPr>
            <a:spLocks xmlns:a="http://schemas.openxmlformats.org/drawingml/2006/main" noGrp="1"/>
          </p:cNvSpPr>
          <p:nvPr/>
        </p:nvSpPr>
        <p:spPr>
          <a:xfrm xmlns:a="http://schemas.openxmlformats.org/drawingml/2006/main">
            <a:off x="609600" y="2400300"/>
            <a:ext cx="1028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D34"/>
                </a:solidFill>
              </a:defRPr>
            </a:defPPr>
            <a:lvl1pPr>
              <a:defRPr sz="2250" b="0">
                <a:solidFill>
                  <a:srgbClr val="183D34"/>
                </a:solidFill>
              </a:defRPr>
            </a:lvl1pPr>
            <a:lvl2pPr>
              <a:defRPr sz="2250" b="0">
                <a:solidFill>
                  <a:srgbClr val="183D34"/>
                </a:solidFill>
              </a:defRPr>
            </a:lvl2pPr>
            <a:lvl3pPr>
              <a:defRPr sz="2250" b="0">
                <a:solidFill>
                  <a:srgbClr val="183D34"/>
                </a:solidFill>
              </a:defRPr>
            </a:lvl3pPr>
            <a:lvl4pPr>
              <a:defRPr sz="2250" b="0">
                <a:solidFill>
                  <a:srgbClr val="183D34"/>
                </a:solidFill>
              </a:defRPr>
            </a:lvl4pPr>
            <a:lvl5pPr>
              <a:defRPr sz="2250" b="0">
                <a:solidFill>
                  <a:srgbClr val="183D34"/>
                </a:solidFill>
              </a:defRPr>
            </a:lvl5pPr>
            <a:lvl6pPr>
              <a:defRPr sz="2250" b="0">
                <a:solidFill>
                  <a:srgbClr val="183D34"/>
                </a:solidFill>
              </a:defRPr>
            </a:lvl6pPr>
            <a:lvl7pPr>
              <a:defRPr sz="2250" b="0">
                <a:solidFill>
                  <a:srgbClr val="183D34"/>
                </a:solidFill>
              </a:defRPr>
            </a:lvl7pPr>
            <a:lvl8pPr>
              <a:defRPr sz="2250" b="0">
                <a:solidFill>
                  <a:srgbClr val="183D34"/>
                </a:solidFill>
              </a:defRPr>
            </a:lvl8pPr>
            <a:lvl9pPr>
              <a:defRPr sz="2250" b="0">
                <a:solidFill>
                  <a:srgbClr val="183D34"/>
                </a:solidFill>
              </a:defRPr>
            </a:lvl9pPr>
          </a:lstStyle>
          <a:p xmlns:a="http://schemas.openxmlformats.org/drawingml/2006/main">
            <a:pPr>
              <a:defRPr sz="2250" b="0">
                <a:solidFill>
                  <a:srgbClr val="183D34"/>
                </a:solidFill>
              </a:defRPr>
            </a:pPr>
            <a:r>
              <a:rPr sz="2250" b="0">
                <a:solidFill>
                  <a:srgbClr val="183D34"/>
                </a:solidFill>
              </a:rPr>
              <a:t>One sandbox workspace. A synthetic dataset per pilot workstream. Named engineering and operations owners.</a:t>
            </a:r>
          </a:p>
        </p:txBody>
      </p:sp>
      <p:sp>
        <p:nvSpPr>
          <p:cNvPr id="6" name="">
            <a:extLst xmlns:a="http://schemas.openxmlformats.org/drawingml/2006/main">
              <a:ext uri="{FF2B5EF4-FFF2-40B4-BE49-F238E27FC236}">
                <a16:creationId xmlns:a16="http://schemas.microsoft.com/office/drawing/2014/main" id="{EE4075E6-4DA9-4E49-B608-E5AEC20BEF59}"/>
              </a:ext>
            </a:extLst>
          </p:cNvPr>
          <p:cNvSpPr>
            <a:spLocks xmlns:a="http://schemas.openxmlformats.org/drawingml/2006/main" noGrp="1"/>
          </p:cNvSpPr>
          <p:nvPr/>
        </p:nvSpPr>
        <p:spPr>
          <a:xfrm xmlns:a="http://schemas.openxmlformats.org/drawingml/2006/main">
            <a:off x="609600" y="390525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83D34"/>
                </a:solidFill>
              </a:defRPr>
            </a:defPPr>
            <a:lvl1pPr>
              <a:defRPr sz="1950" b="1">
                <a:solidFill>
                  <a:srgbClr val="183D34"/>
                </a:solidFill>
              </a:defRPr>
            </a:lvl1pPr>
            <a:lvl2pPr>
              <a:defRPr sz="1950" b="1">
                <a:solidFill>
                  <a:srgbClr val="183D34"/>
                </a:solidFill>
              </a:defRPr>
            </a:lvl2pPr>
            <a:lvl3pPr>
              <a:defRPr sz="1950" b="1">
                <a:solidFill>
                  <a:srgbClr val="183D34"/>
                </a:solidFill>
              </a:defRPr>
            </a:lvl3pPr>
            <a:lvl4pPr>
              <a:defRPr sz="1950" b="1">
                <a:solidFill>
                  <a:srgbClr val="183D34"/>
                </a:solidFill>
              </a:defRPr>
            </a:lvl4pPr>
            <a:lvl5pPr>
              <a:defRPr sz="1950" b="1">
                <a:solidFill>
                  <a:srgbClr val="183D34"/>
                </a:solidFill>
              </a:defRPr>
            </a:lvl5pPr>
            <a:lvl6pPr>
              <a:defRPr sz="1950" b="1">
                <a:solidFill>
                  <a:srgbClr val="183D34"/>
                </a:solidFill>
              </a:defRPr>
            </a:lvl6pPr>
            <a:lvl7pPr>
              <a:defRPr sz="1950" b="1">
                <a:solidFill>
                  <a:srgbClr val="183D34"/>
                </a:solidFill>
              </a:defRPr>
            </a:lvl7pPr>
            <a:lvl8pPr>
              <a:defRPr sz="1950" b="1">
                <a:solidFill>
                  <a:srgbClr val="183D34"/>
                </a:solidFill>
              </a:defRPr>
            </a:lvl8pPr>
            <a:lvl9pPr>
              <a:defRPr sz="1950" b="1">
                <a:solidFill>
                  <a:srgbClr val="183D34"/>
                </a:solidFill>
              </a:defRPr>
            </a:lvl9pPr>
          </a:lstStyle>
          <a:p xmlns:a="http://schemas.openxmlformats.org/drawingml/2006/main">
            <a:pPr>
              <a:defRPr sz="1950" b="1">
                <a:solidFill>
                  <a:srgbClr val="183D34"/>
                </a:solidFill>
              </a:defRPr>
            </a:pPr>
            <a:r>
              <a:rPr sz="1950" b="1">
                <a:solidFill>
                  <a:srgbClr val="183D34"/>
                </a:solidFill>
              </a:rPr>
              <a:t>Business question</a:t>
            </a:r>
          </a:p>
        </p:txBody>
      </p:sp>
      <p:sp>
        <p:nvSpPr>
          <p:cNvPr id="7" name="">
            <a:extLst xmlns:a="http://schemas.openxmlformats.org/drawingml/2006/main">
              <a:ext uri="{FF2B5EF4-FFF2-40B4-BE49-F238E27FC236}">
                <a16:creationId xmlns:a16="http://schemas.microsoft.com/office/drawing/2014/main" id="{E39F6A8F-E1F0-4908-A902-32C83B99F574}"/>
              </a:ext>
            </a:extLst>
          </p:cNvPr>
          <p:cNvSpPr>
            <a:spLocks xmlns:a="http://schemas.openxmlformats.org/drawingml/2006/main" noGrp="1"/>
          </p:cNvSpPr>
          <p:nvPr/>
        </p:nvSpPr>
        <p:spPr>
          <a:xfrm xmlns:a="http://schemas.openxmlformats.org/drawingml/2006/main">
            <a:off x="609600" y="4429125"/>
            <a:ext cx="4762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D34"/>
                </a:solidFill>
              </a:defRPr>
            </a:defPPr>
            <a:lvl1pPr>
              <a:defRPr sz="2100" b="0">
                <a:solidFill>
                  <a:srgbClr val="183D34"/>
                </a:solidFill>
              </a:defRPr>
            </a:lvl1pPr>
            <a:lvl2pPr>
              <a:defRPr sz="2100" b="0">
                <a:solidFill>
                  <a:srgbClr val="183D34"/>
                </a:solidFill>
              </a:defRPr>
            </a:lvl2pPr>
            <a:lvl3pPr>
              <a:defRPr sz="2100" b="0">
                <a:solidFill>
                  <a:srgbClr val="183D34"/>
                </a:solidFill>
              </a:defRPr>
            </a:lvl3pPr>
            <a:lvl4pPr>
              <a:defRPr sz="2100" b="0">
                <a:solidFill>
                  <a:srgbClr val="183D34"/>
                </a:solidFill>
              </a:defRPr>
            </a:lvl4pPr>
            <a:lvl5pPr>
              <a:defRPr sz="2100" b="0">
                <a:solidFill>
                  <a:srgbClr val="183D34"/>
                </a:solidFill>
              </a:defRPr>
            </a:lvl5pPr>
            <a:lvl6pPr>
              <a:defRPr sz="2100" b="0">
                <a:solidFill>
                  <a:srgbClr val="183D34"/>
                </a:solidFill>
              </a:defRPr>
            </a:lvl6pPr>
            <a:lvl7pPr>
              <a:defRPr sz="2100" b="0">
                <a:solidFill>
                  <a:srgbClr val="183D34"/>
                </a:solidFill>
              </a:defRPr>
            </a:lvl7pPr>
            <a:lvl8pPr>
              <a:defRPr sz="2100" b="0">
                <a:solidFill>
                  <a:srgbClr val="183D34"/>
                </a:solidFill>
              </a:defRPr>
            </a:lvl8pPr>
            <a:lvl9pPr>
              <a:defRPr sz="2100" b="0">
                <a:solidFill>
                  <a:srgbClr val="183D34"/>
                </a:solidFill>
              </a:defRPr>
            </a:lvl9pPr>
          </a:lstStyle>
          <a:p xmlns:a="http://schemas.openxmlformats.org/drawingml/2006/main">
            <a:pPr>
              <a:defRPr sz="2100" b="0">
                <a:solidFill>
                  <a:srgbClr val="183D34"/>
                </a:solidFill>
              </a:defRPr>
            </a:pPr>
            <a:r>
              <a:rPr sz="2100" b="0">
                <a:solidFill>
                  <a:srgbClr val="183D34"/>
                </a:solidFill>
              </a:rPr>
              <a:t>Can operators recover the failed delivery channel while preserving successful delivery evidence?</a:t>
            </a:r>
          </a:p>
        </p:txBody>
      </p:sp>
      <p:sp>
        <p:nvSpPr>
          <p:cNvPr id="8" name="">
            <a:extLst xmlns:a="http://schemas.openxmlformats.org/drawingml/2006/main">
              <a:ext uri="{FF2B5EF4-FFF2-40B4-BE49-F238E27FC236}">
                <a16:creationId xmlns:a16="http://schemas.microsoft.com/office/drawing/2014/main" id="{CF0A79BF-1C4E-4D87-AB87-CC800ADEE945}"/>
              </a:ext>
            </a:extLst>
          </p:cNvPr>
          <p:cNvSpPr>
            <a:spLocks xmlns:a="http://schemas.openxmlformats.org/drawingml/2006/main" noGrp="1"/>
          </p:cNvSpPr>
          <p:nvPr/>
        </p:nvSpPr>
        <p:spPr>
          <a:xfrm xmlns:a="http://schemas.openxmlformats.org/drawingml/2006/main">
            <a:off x="6477000" y="39052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83D34"/>
                </a:solidFill>
              </a:defRPr>
            </a:defPPr>
            <a:lvl1pPr>
              <a:defRPr sz="1950" b="1">
                <a:solidFill>
                  <a:srgbClr val="183D34"/>
                </a:solidFill>
              </a:defRPr>
            </a:lvl1pPr>
            <a:lvl2pPr>
              <a:defRPr sz="1950" b="1">
                <a:solidFill>
                  <a:srgbClr val="183D34"/>
                </a:solidFill>
              </a:defRPr>
            </a:lvl2pPr>
            <a:lvl3pPr>
              <a:defRPr sz="1950" b="1">
                <a:solidFill>
                  <a:srgbClr val="183D34"/>
                </a:solidFill>
              </a:defRPr>
            </a:lvl3pPr>
            <a:lvl4pPr>
              <a:defRPr sz="1950" b="1">
                <a:solidFill>
                  <a:srgbClr val="183D34"/>
                </a:solidFill>
              </a:defRPr>
            </a:lvl4pPr>
            <a:lvl5pPr>
              <a:defRPr sz="1950" b="1">
                <a:solidFill>
                  <a:srgbClr val="183D34"/>
                </a:solidFill>
              </a:defRPr>
            </a:lvl5pPr>
            <a:lvl6pPr>
              <a:defRPr sz="1950" b="1">
                <a:solidFill>
                  <a:srgbClr val="183D34"/>
                </a:solidFill>
              </a:defRPr>
            </a:lvl6pPr>
            <a:lvl7pPr>
              <a:defRPr sz="1950" b="1">
                <a:solidFill>
                  <a:srgbClr val="183D34"/>
                </a:solidFill>
              </a:defRPr>
            </a:lvl7pPr>
            <a:lvl8pPr>
              <a:defRPr sz="1950" b="1">
                <a:solidFill>
                  <a:srgbClr val="183D34"/>
                </a:solidFill>
              </a:defRPr>
            </a:lvl8pPr>
            <a:lvl9pPr>
              <a:defRPr sz="1950" b="1">
                <a:solidFill>
                  <a:srgbClr val="183D34"/>
                </a:solidFill>
              </a:defRPr>
            </a:lvl9pPr>
          </a:lstStyle>
          <a:p xmlns:a="http://schemas.openxmlformats.org/drawingml/2006/main">
            <a:pPr>
              <a:defRPr sz="1950" b="1">
                <a:solidFill>
                  <a:srgbClr val="183D34"/>
                </a:solidFill>
              </a:defRPr>
            </a:pPr>
            <a:r>
              <a:rPr sz="1950" b="1">
                <a:solidFill>
                  <a:srgbClr val="183D34"/>
                </a:solidFill>
              </a:rPr>
              <a:t>Boundary of acceptance</a:t>
            </a:r>
          </a:p>
        </p:txBody>
      </p:sp>
      <p:sp>
        <p:nvSpPr>
          <p:cNvPr id="9" name="">
            <a:extLst xmlns:a="http://schemas.openxmlformats.org/drawingml/2006/main">
              <a:ext uri="{FF2B5EF4-FFF2-40B4-BE49-F238E27FC236}">
                <a16:creationId xmlns:a16="http://schemas.microsoft.com/office/drawing/2014/main" id="{9764BA27-02A5-40AC-9DCB-5C586F080FAF}"/>
              </a:ext>
            </a:extLst>
          </p:cNvPr>
          <p:cNvSpPr>
            <a:spLocks xmlns:a="http://schemas.openxmlformats.org/drawingml/2006/main" noGrp="1"/>
          </p:cNvSpPr>
          <p:nvPr/>
        </p:nvSpPr>
        <p:spPr>
          <a:xfrm xmlns:a="http://schemas.openxmlformats.org/drawingml/2006/main">
            <a:off x="6477000" y="4429125"/>
            <a:ext cx="4762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D34"/>
                </a:solidFill>
              </a:defRPr>
            </a:defPPr>
            <a:lvl1pPr>
              <a:defRPr sz="2100" b="0">
                <a:solidFill>
                  <a:srgbClr val="183D34"/>
                </a:solidFill>
              </a:defRPr>
            </a:lvl1pPr>
            <a:lvl2pPr>
              <a:defRPr sz="2100" b="0">
                <a:solidFill>
                  <a:srgbClr val="183D34"/>
                </a:solidFill>
              </a:defRPr>
            </a:lvl2pPr>
            <a:lvl3pPr>
              <a:defRPr sz="2100" b="0">
                <a:solidFill>
                  <a:srgbClr val="183D34"/>
                </a:solidFill>
              </a:defRPr>
            </a:lvl3pPr>
            <a:lvl4pPr>
              <a:defRPr sz="2100" b="0">
                <a:solidFill>
                  <a:srgbClr val="183D34"/>
                </a:solidFill>
              </a:defRPr>
            </a:lvl4pPr>
            <a:lvl5pPr>
              <a:defRPr sz="2100" b="0">
                <a:solidFill>
                  <a:srgbClr val="183D34"/>
                </a:solidFill>
              </a:defRPr>
            </a:lvl5pPr>
            <a:lvl6pPr>
              <a:defRPr sz="2100" b="0">
                <a:solidFill>
                  <a:srgbClr val="183D34"/>
                </a:solidFill>
              </a:defRPr>
            </a:lvl6pPr>
            <a:lvl7pPr>
              <a:defRPr sz="2100" b="0">
                <a:solidFill>
                  <a:srgbClr val="183D34"/>
                </a:solidFill>
              </a:defRPr>
            </a:lvl7pPr>
            <a:lvl8pPr>
              <a:defRPr sz="2100" b="0">
                <a:solidFill>
                  <a:srgbClr val="183D34"/>
                </a:solidFill>
              </a:defRPr>
            </a:lvl8pPr>
            <a:lvl9pPr>
              <a:defRPr sz="2100" b="0">
                <a:solidFill>
                  <a:srgbClr val="183D34"/>
                </a:solidFill>
              </a:defRPr>
            </a:lvl9pPr>
          </a:lstStyle>
          <a:p xmlns:a="http://schemas.openxmlformats.org/drawingml/2006/main">
            <a:pPr>
              <a:defRPr sz="2100" b="0">
                <a:solidFill>
                  <a:srgbClr val="183D34"/>
                </a:solidFill>
              </a:defRPr>
            </a:pPr>
            <a:r>
              <a:rPr sz="2100" b="0">
                <a:solidFill>
                  <a:srgbClr val="183D34"/>
                </a:solidFill>
              </a:rPr>
              <a:t>Architecture direction and pilot scope. Production approval follows separate security and reliability gates.</a:t>
            </a:r>
          </a:p>
        </p:txBody>
      </p:sp>
    </p:spTree>
    <p:extLst>
      <p:ext uri="{BB962C8B-B14F-4D97-AF65-F5344CB8AC3E}">
        <p14:creationId xmlns:p14="http://schemas.microsoft.com/office/powerpoint/2010/main" val="1293719645"/>
      </p:ext>
    </p:extLst>
  </p:cSld>
</p:sld>
</file>

<file path=ppt/slides/slide3.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A0152DE3-2BE4-4159-A7FF-C200945DB392}"/>
              </a:ext>
            </a:extLst>
          </p:cNvPr>
          <p:cNvCxnSpPr>
            <a:stCxn xmlns:a="http://schemas.openxmlformats.org/drawingml/2006/main" id="20" idx="0"/>
            <a:endCxn xmlns:a="http://schemas.openxmlformats.org/drawingml/2006/main" id="16" idx="2"/>
          </p:cNvCxnSpPr>
          <p:nvPr/>
        </p:nvCxnSpPr>
        <p:spPr>
          <a:xfrm xmlns:a="http://schemas.openxmlformats.org/drawingml/2006/main" flipH="1" flipV="1">
            <a:off x="7620000" y="3524250"/>
            <a:ext cx="2881313" cy="762000"/>
          </a:xfrm>
          <a:prstGeom xmlns:a="http://schemas.openxmlformats.org/drawingml/2006/main" prst="bentConnector4">
            <a:avLst>
              <a:gd name="adj1" fmla="val 0"/>
              <a:gd name="adj2" fmla="val 50000"/>
            </a:avLst>
          </a:prstGeom>
          <a:ln xmlns:a="http://schemas.openxmlformats.org/drawingml/2006/main" w="19050">
            <a:solidFill>
              <a:srgbClr val="2A6B4D"/>
            </a:solidFill>
            <a:prstDash val="dash"/>
            <a:tailEnd type="arrow" w="med" len="med"/>
          </a:ln>
        </p:spPr>
      </p:cxnSp>
      <p:cxnSp>
        <p:nvCxnSpPr>
          <p:cNvPr id="3" name="">
            <a:extLst xmlns:a="http://schemas.openxmlformats.org/drawingml/2006/main">
              <a:ext uri="{FF2B5EF4-FFF2-40B4-BE49-F238E27FC236}">
                <a16:creationId xmlns:a16="http://schemas.microsoft.com/office/drawing/2014/main" id="{6699A73A-25AC-41DD-A912-CF33E19F51E3}"/>
              </a:ext>
            </a:extLst>
          </p:cNvPr>
          <p:cNvCxnSpPr>
            <a:stCxn xmlns:a="http://schemas.openxmlformats.org/drawingml/2006/main" id="19" idx="3"/>
            <a:endCxn xmlns:a="http://schemas.openxmlformats.org/drawingml/2006/main" id="20" idx="1"/>
          </p:cNvCxnSpPr>
          <p:nvPr/>
        </p:nvCxnSpPr>
        <p:spPr>
          <a:xfrm xmlns:a="http://schemas.openxmlformats.org/drawingml/2006/main">
            <a:off x="8858250" y="4738688"/>
            <a:ext cx="571500" cy="0"/>
          </a:xfrm>
          <a:prstGeom xmlns:a="http://schemas.openxmlformats.org/drawingml/2006/main" prst="straightConnector1">
            <a:avLst/>
          </a:prstGeom>
          <a:ln xmlns:a="http://schemas.openxmlformats.org/drawingml/2006/main" w="19050">
            <a:solidFill>
              <a:srgbClr val="2A6B4D"/>
            </a:solidFill>
            <a:prstDash val="solid"/>
            <a:tailEnd type="arrow" w="med" len="med"/>
          </a:ln>
        </p:spPr>
      </p:cxnSp>
      <p:cxnSp>
        <p:nvCxnSpPr>
          <p:cNvPr id="4" name="">
            <a:extLst xmlns:a="http://schemas.openxmlformats.org/drawingml/2006/main">
              <a:ext uri="{FF2B5EF4-FFF2-40B4-BE49-F238E27FC236}">
                <a16:creationId xmlns:a16="http://schemas.microsoft.com/office/drawing/2014/main" id="{4203F9C8-51F1-4981-ADF4-207CB1296E32}"/>
              </a:ext>
            </a:extLst>
          </p:cNvPr>
          <p:cNvCxnSpPr>
            <a:stCxn xmlns:a="http://schemas.openxmlformats.org/drawingml/2006/main" id="18" idx="3"/>
            <a:endCxn xmlns:a="http://schemas.openxmlformats.org/drawingml/2006/main" id="19" idx="1"/>
          </p:cNvCxnSpPr>
          <p:nvPr/>
        </p:nvCxnSpPr>
        <p:spPr>
          <a:xfrm xmlns:a="http://schemas.openxmlformats.org/drawingml/2006/main">
            <a:off x="5715000" y="4738688"/>
            <a:ext cx="762000" cy="0"/>
          </a:xfrm>
          <a:prstGeom xmlns:a="http://schemas.openxmlformats.org/drawingml/2006/main" prst="straightConnector1">
            <a:avLst/>
          </a:prstGeom>
          <a:ln xmlns:a="http://schemas.openxmlformats.org/drawingml/2006/main" w="19050">
            <a:solidFill>
              <a:srgbClr val="2A6B4D"/>
            </a:solidFill>
            <a:prstDash val="solid"/>
            <a:tailEnd type="arrow" w="med" len="med"/>
          </a:ln>
        </p:spPr>
      </p:cxnSp>
      <p:cxnSp>
        <p:nvCxnSpPr>
          <p:cNvPr id="5" name="">
            <a:extLst xmlns:a="http://schemas.openxmlformats.org/drawingml/2006/main">
              <a:ext uri="{FF2B5EF4-FFF2-40B4-BE49-F238E27FC236}">
                <a16:creationId xmlns:a16="http://schemas.microsoft.com/office/drawing/2014/main" id="{76F6AADE-989B-46B2-9205-487726E4ACCC}"/>
              </a:ext>
            </a:extLst>
          </p:cNvPr>
          <p:cNvCxnSpPr>
            <a:stCxn xmlns:a="http://schemas.openxmlformats.org/drawingml/2006/main" id="14" idx="2"/>
            <a:endCxn xmlns:a="http://schemas.openxmlformats.org/drawingml/2006/main" id="18" idx="0"/>
          </p:cNvCxnSpPr>
          <p:nvPr/>
        </p:nvCxnSpPr>
        <p:spPr>
          <a:xfrm xmlns:a="http://schemas.openxmlformats.org/drawingml/2006/main" flipH="1">
            <a:off x="4286250" y="2286000"/>
            <a:ext cx="142875" cy="2000250"/>
          </a:xfrm>
          <a:prstGeom xmlns:a="http://schemas.openxmlformats.org/drawingml/2006/main" prst="bentConnector4">
            <a:avLst>
              <a:gd name="adj1" fmla="val 0"/>
              <a:gd name="adj2" fmla="val 50000"/>
            </a:avLst>
          </a:prstGeom>
          <a:ln xmlns:a="http://schemas.openxmlformats.org/drawingml/2006/main" w="19050">
            <a:solidFill>
              <a:srgbClr val="2A6B4D"/>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CDD406D7-75D7-4873-BE49-CDB5E55EFF6A}"/>
              </a:ext>
            </a:extLst>
          </p:cNvPr>
          <p:cNvCxnSpPr>
            <a:stCxn xmlns:a="http://schemas.openxmlformats.org/drawingml/2006/main" id="16" idx="3"/>
            <a:endCxn xmlns:a="http://schemas.openxmlformats.org/drawingml/2006/main" id="17" idx="1"/>
          </p:cNvCxnSpPr>
          <p:nvPr/>
        </p:nvCxnSpPr>
        <p:spPr>
          <a:xfrm xmlns:a="http://schemas.openxmlformats.org/drawingml/2006/main" flipV="1">
            <a:off x="8763000" y="2619375"/>
            <a:ext cx="666750" cy="523875"/>
          </a:xfrm>
          <a:prstGeom xmlns:a="http://schemas.openxmlformats.org/drawingml/2006/main" prst="bentConnector3">
            <a:avLst>
              <a:gd name="adj1" fmla="val 50000"/>
            </a:avLst>
          </a:prstGeom>
          <a:ln xmlns:a="http://schemas.openxmlformats.org/drawingml/2006/main" w="19050">
            <a:solidFill>
              <a:srgbClr val="2A6B4D"/>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28C76A4D-EB4B-481D-95EC-18B65E32D659}"/>
              </a:ext>
            </a:extLst>
          </p:cNvPr>
          <p:cNvCxnSpPr>
            <a:stCxn xmlns:a="http://schemas.openxmlformats.org/drawingml/2006/main" id="15" idx="3"/>
            <a:endCxn xmlns:a="http://schemas.openxmlformats.org/drawingml/2006/main" id="17" idx="1"/>
          </p:cNvCxnSpPr>
          <p:nvPr/>
        </p:nvCxnSpPr>
        <p:spPr>
          <a:xfrm xmlns:a="http://schemas.openxmlformats.org/drawingml/2006/main">
            <a:off x="8763000" y="1905000"/>
            <a:ext cx="666750" cy="714375"/>
          </a:xfrm>
          <a:prstGeom xmlns:a="http://schemas.openxmlformats.org/drawingml/2006/main" prst="bentConnector3">
            <a:avLst>
              <a:gd name="adj1" fmla="val 50000"/>
            </a:avLst>
          </a:prstGeom>
          <a:ln xmlns:a="http://schemas.openxmlformats.org/drawingml/2006/main" w="19050">
            <a:solidFill>
              <a:srgbClr val="2A6B4D"/>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8268400E-2BDE-4368-A5D6-F88B386F373D}"/>
              </a:ext>
            </a:extLst>
          </p:cNvPr>
          <p:cNvCxnSpPr>
            <a:stCxn xmlns:a="http://schemas.openxmlformats.org/drawingml/2006/main" id="14" idx="3"/>
            <a:endCxn xmlns:a="http://schemas.openxmlformats.org/drawingml/2006/main" id="16" idx="1"/>
          </p:cNvCxnSpPr>
          <p:nvPr/>
        </p:nvCxnSpPr>
        <p:spPr>
          <a:xfrm xmlns:a="http://schemas.openxmlformats.org/drawingml/2006/main">
            <a:off x="5619750" y="1905000"/>
            <a:ext cx="857250" cy="1238250"/>
          </a:xfrm>
          <a:prstGeom xmlns:a="http://schemas.openxmlformats.org/drawingml/2006/main" prst="bentConnector3">
            <a:avLst>
              <a:gd name="adj1" fmla="val 50000"/>
            </a:avLst>
          </a:prstGeom>
          <a:ln xmlns:a="http://schemas.openxmlformats.org/drawingml/2006/main" w="19050">
            <a:solidFill>
              <a:srgbClr val="2A6B4D"/>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B41809BD-32B7-4A7E-ADA1-FB766C85F663}"/>
              </a:ext>
            </a:extLst>
          </p:cNvPr>
          <p:cNvCxnSpPr>
            <a:stCxn xmlns:a="http://schemas.openxmlformats.org/drawingml/2006/main" id="14" idx="3"/>
            <a:endCxn xmlns:a="http://schemas.openxmlformats.org/drawingml/2006/main" id="15" idx="1"/>
          </p:cNvCxnSpPr>
          <p:nvPr/>
        </p:nvCxnSpPr>
        <p:spPr>
          <a:xfrm xmlns:a="http://schemas.openxmlformats.org/drawingml/2006/main">
            <a:off x="5619750" y="1905000"/>
            <a:ext cx="857250" cy="0"/>
          </a:xfrm>
          <a:prstGeom xmlns:a="http://schemas.openxmlformats.org/drawingml/2006/main" prst="straightConnector1">
            <a:avLst/>
          </a:prstGeom>
          <a:ln xmlns:a="http://schemas.openxmlformats.org/drawingml/2006/main" w="19050">
            <a:solidFill>
              <a:srgbClr val="2A6B4D"/>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DF308848-6222-4426-AF5A-2885CC55FDF1}"/>
              </a:ext>
            </a:extLst>
          </p:cNvPr>
          <p:cNvCxnSpPr>
            <a:stCxn xmlns:a="http://schemas.openxmlformats.org/drawingml/2006/main" id="13" idx="3"/>
            <a:endCxn xmlns:a="http://schemas.openxmlformats.org/drawingml/2006/main" id="14" idx="1"/>
          </p:cNvCxnSpPr>
          <p:nvPr/>
        </p:nvCxnSpPr>
        <p:spPr>
          <a:xfrm xmlns:a="http://schemas.openxmlformats.org/drawingml/2006/main">
            <a:off x="2705100" y="1905000"/>
            <a:ext cx="533400" cy="0"/>
          </a:xfrm>
          <a:prstGeom xmlns:a="http://schemas.openxmlformats.org/drawingml/2006/main" prst="straightConnector1">
            <a:avLst/>
          </a:prstGeom>
          <a:ln xmlns:a="http://schemas.openxmlformats.org/drawingml/2006/main" w="19050">
            <a:solidFill>
              <a:srgbClr val="2A6B4D"/>
            </a:solidFill>
            <a:prstDash val="solid"/>
            <a:tailEnd type="arrow" w="med" len="med"/>
          </a:ln>
        </p:spPr>
      </p:cxnSp>
      <p:sp>
        <p:nvSpPr>
          <p:cNvPr id="11" name="">
            <a:extLst xmlns:a="http://schemas.openxmlformats.org/drawingml/2006/main">
              <a:ext uri="{FF2B5EF4-FFF2-40B4-BE49-F238E27FC236}">
                <a16:creationId xmlns:a16="http://schemas.microsoft.com/office/drawing/2014/main" id="{E22FD7B1-12FB-403A-8C18-525F2444D62A}"/>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D34"/>
                </a:solidFill>
                <a:latin typeface="Arial"/>
                <a:ea typeface="Arial"/>
                <a:cs typeface="Arial"/>
              </a:defRPr>
            </a:defPPr>
            <a:lvl1pPr>
              <a:defRPr sz="3000" b="1">
                <a:solidFill>
                  <a:srgbClr val="183D34"/>
                </a:solidFill>
                <a:latin typeface="Arial"/>
                <a:ea typeface="Arial"/>
                <a:cs typeface="Arial"/>
              </a:defRPr>
            </a:lvl1pPr>
            <a:lvl2pPr>
              <a:defRPr sz="3000" b="1">
                <a:solidFill>
                  <a:srgbClr val="183D34"/>
                </a:solidFill>
                <a:latin typeface="Arial"/>
                <a:ea typeface="Arial"/>
                <a:cs typeface="Arial"/>
              </a:defRPr>
            </a:lvl2pPr>
            <a:lvl3pPr>
              <a:defRPr sz="3000" b="1">
                <a:solidFill>
                  <a:srgbClr val="183D34"/>
                </a:solidFill>
                <a:latin typeface="Arial"/>
                <a:ea typeface="Arial"/>
                <a:cs typeface="Arial"/>
              </a:defRPr>
            </a:lvl3pPr>
            <a:lvl4pPr>
              <a:defRPr sz="3000" b="1">
                <a:solidFill>
                  <a:srgbClr val="183D34"/>
                </a:solidFill>
                <a:latin typeface="Arial"/>
                <a:ea typeface="Arial"/>
                <a:cs typeface="Arial"/>
              </a:defRPr>
            </a:lvl4pPr>
            <a:lvl5pPr>
              <a:defRPr sz="3000" b="1">
                <a:solidFill>
                  <a:srgbClr val="183D34"/>
                </a:solidFill>
                <a:latin typeface="Arial"/>
                <a:ea typeface="Arial"/>
                <a:cs typeface="Arial"/>
              </a:defRPr>
            </a:lvl5pPr>
            <a:lvl6pPr>
              <a:defRPr sz="3000" b="1">
                <a:solidFill>
                  <a:srgbClr val="183D34"/>
                </a:solidFill>
                <a:latin typeface="Arial"/>
                <a:ea typeface="Arial"/>
                <a:cs typeface="Arial"/>
              </a:defRPr>
            </a:lvl6pPr>
            <a:lvl7pPr>
              <a:defRPr sz="3000" b="1">
                <a:solidFill>
                  <a:srgbClr val="183D34"/>
                </a:solidFill>
                <a:latin typeface="Arial"/>
                <a:ea typeface="Arial"/>
                <a:cs typeface="Arial"/>
              </a:defRPr>
            </a:lvl7pPr>
            <a:lvl8pPr>
              <a:defRPr sz="3000" b="1">
                <a:solidFill>
                  <a:srgbClr val="183D34"/>
                </a:solidFill>
                <a:latin typeface="Arial"/>
                <a:ea typeface="Arial"/>
                <a:cs typeface="Arial"/>
              </a:defRPr>
            </a:lvl8pPr>
            <a:lvl9pPr>
              <a:defRPr sz="3000" b="1">
                <a:solidFill>
                  <a:srgbClr val="183D34"/>
                </a:solidFill>
                <a:latin typeface="Arial"/>
                <a:ea typeface="Arial"/>
                <a:cs typeface="Arial"/>
              </a:defRPr>
            </a:lvl9pPr>
          </a:lstStyle>
          <a:p xmlns:a="http://schemas.openxmlformats.org/drawingml/2006/main">
            <a:pPr>
              <a:defRPr sz="3000" b="1">
                <a:solidFill>
                  <a:srgbClr val="183D34"/>
                </a:solidFill>
                <a:latin typeface="Arial"/>
                <a:ea typeface="Arial"/>
                <a:cs typeface="Arial"/>
              </a:defRPr>
            </a:pPr>
            <a:r>
              <a:rPr sz="3000" b="1">
                <a:solidFill>
                  <a:srgbClr val="183D34"/>
                </a:solidFill>
                <a:latin typeface="Arial"/>
                <a:ea typeface="Arial"/>
                <a:cs typeface="Arial"/>
              </a:rPr>
              <a:t>Current executable architecture</a:t>
            </a:r>
          </a:p>
        </p:txBody>
      </p:sp>
      <p:sp>
        <p:nvSpPr>
          <p:cNvPr id="12" name="">
            <a:extLst xmlns:a="http://schemas.openxmlformats.org/drawingml/2006/main">
              <a:ext uri="{FF2B5EF4-FFF2-40B4-BE49-F238E27FC236}">
                <a16:creationId xmlns:a16="http://schemas.microsoft.com/office/drawing/2014/main" id="{8FAA8C9B-9F61-49BB-9926-344273F9D4F0}"/>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83D34"/>
                </a:solidFill>
                <a:latin typeface="Arial"/>
                <a:ea typeface="Arial"/>
                <a:cs typeface="Arial"/>
              </a:defRPr>
            </a:defPPr>
            <a:lvl1pPr>
              <a:defRPr sz="1200" b="0">
                <a:solidFill>
                  <a:srgbClr val="183D34"/>
                </a:solidFill>
                <a:latin typeface="Arial"/>
                <a:ea typeface="Arial"/>
                <a:cs typeface="Arial"/>
              </a:defRPr>
            </a:lvl1pPr>
            <a:lvl2pPr>
              <a:defRPr sz="1200" b="0">
                <a:solidFill>
                  <a:srgbClr val="183D34"/>
                </a:solidFill>
                <a:latin typeface="Arial"/>
                <a:ea typeface="Arial"/>
                <a:cs typeface="Arial"/>
              </a:defRPr>
            </a:lvl2pPr>
            <a:lvl3pPr>
              <a:defRPr sz="1200" b="0">
                <a:solidFill>
                  <a:srgbClr val="183D34"/>
                </a:solidFill>
                <a:latin typeface="Arial"/>
                <a:ea typeface="Arial"/>
                <a:cs typeface="Arial"/>
              </a:defRPr>
            </a:lvl3pPr>
            <a:lvl4pPr>
              <a:defRPr sz="1200" b="0">
                <a:solidFill>
                  <a:srgbClr val="183D34"/>
                </a:solidFill>
                <a:latin typeface="Arial"/>
                <a:ea typeface="Arial"/>
                <a:cs typeface="Arial"/>
              </a:defRPr>
            </a:lvl4pPr>
            <a:lvl5pPr>
              <a:defRPr sz="1200" b="0">
                <a:solidFill>
                  <a:srgbClr val="183D34"/>
                </a:solidFill>
                <a:latin typeface="Arial"/>
                <a:ea typeface="Arial"/>
                <a:cs typeface="Arial"/>
              </a:defRPr>
            </a:lvl5pPr>
            <a:lvl6pPr>
              <a:defRPr sz="1200" b="0">
                <a:solidFill>
                  <a:srgbClr val="183D34"/>
                </a:solidFill>
                <a:latin typeface="Arial"/>
                <a:ea typeface="Arial"/>
                <a:cs typeface="Arial"/>
              </a:defRPr>
            </a:lvl6pPr>
            <a:lvl7pPr>
              <a:defRPr sz="1200" b="0">
                <a:solidFill>
                  <a:srgbClr val="183D34"/>
                </a:solidFill>
                <a:latin typeface="Arial"/>
                <a:ea typeface="Arial"/>
                <a:cs typeface="Arial"/>
              </a:defRPr>
            </a:lvl7pPr>
            <a:lvl8pPr>
              <a:defRPr sz="1200" b="0">
                <a:solidFill>
                  <a:srgbClr val="183D34"/>
                </a:solidFill>
                <a:latin typeface="Arial"/>
                <a:ea typeface="Arial"/>
                <a:cs typeface="Arial"/>
              </a:defRPr>
            </a:lvl8pPr>
            <a:lvl9pPr>
              <a:defRPr sz="1200" b="0">
                <a:solidFill>
                  <a:srgbClr val="183D34"/>
                </a:solidFill>
                <a:latin typeface="Arial"/>
                <a:ea typeface="Arial"/>
                <a:cs typeface="Arial"/>
              </a:defRPr>
            </a:lvl9pPr>
          </a:lstStyle>
          <a:p xmlns:a="http://schemas.openxmlformats.org/drawingml/2006/main">
            <a:pPr>
              <a:defRPr sz="1200" b="0">
                <a:solidFill>
                  <a:srgbClr val="183D34"/>
                </a:solidFill>
                <a:latin typeface="Arial"/>
                <a:ea typeface="Arial"/>
                <a:cs typeface="Arial"/>
              </a:defRPr>
            </a:pPr>
            <a:r>
              <a:rPr sz="1200" b="0">
                <a:solidFill>
                  <a:srgbClr val="183D34"/>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B5930D58-BC8F-4A72-8FF9-E4B80AAC0036}"/>
              </a:ext>
            </a:extLst>
          </p:cNvPr>
          <p:cNvSpPr>
            <a:spLocks xmlns:a="http://schemas.openxmlformats.org/drawingml/2006/main" noGrp="1"/>
          </p:cNvSpPr>
          <p:nvPr/>
        </p:nvSpPr>
        <p:spPr>
          <a:xfrm xmlns:a="http://schemas.openxmlformats.org/drawingml/2006/main">
            <a:off x="609600" y="1524000"/>
            <a:ext cx="2095500" cy="762000"/>
          </a:xfrm>
          <a:prstGeom xmlns:a="http://schemas.openxmlformats.org/drawingml/2006/main" prst="roundRect">
            <a:avLst>
              <a:gd name="adj" fmla="val 17500"/>
            </a:avLst>
          </a:prstGeom>
          <a:solidFill xmlns:a="http://schemas.openxmlformats.org/drawingml/2006/main">
            <a:srgbClr val="E4EEE6"/>
          </a:solidFill>
          <a:ln xmlns:a="http://schemas.openxmlformats.org/drawingml/2006/main" w="13335">
            <a:solidFill>
              <a:srgbClr val="6D9A83"/>
            </a:solidFill>
          </a:ln>
        </p:spPr>
        <p:txBody>
          <a:bodyPr xmlns:a="http://schemas.openxmlformats.org/drawingml/2006/main"/>
          <a:lstStyle xmlns:a="http://schemas.openxmlformats.org/drawingml/2006/main">
            <a:defPPr>
              <a:defRPr sz="1650">
                <a:solidFill>
                  <a:srgbClr val="173C32"/>
                </a:solidFill>
                <a:latin typeface="Arial"/>
                <a:ea typeface="Arial"/>
                <a:cs typeface="Arial"/>
              </a:defRPr>
            </a:defPPr>
            <a:lvl1pPr>
              <a:defRPr sz="1650">
                <a:solidFill>
                  <a:srgbClr val="173C32"/>
                </a:solidFill>
                <a:latin typeface="Arial"/>
                <a:ea typeface="Arial"/>
                <a:cs typeface="Arial"/>
              </a:defRPr>
            </a:lvl1pPr>
            <a:lvl2pPr>
              <a:defRPr sz="1650">
                <a:solidFill>
                  <a:srgbClr val="173C32"/>
                </a:solidFill>
                <a:latin typeface="Arial"/>
                <a:ea typeface="Arial"/>
                <a:cs typeface="Arial"/>
              </a:defRPr>
            </a:lvl2pPr>
            <a:lvl3pPr>
              <a:defRPr sz="1650">
                <a:solidFill>
                  <a:srgbClr val="173C32"/>
                </a:solidFill>
                <a:latin typeface="Arial"/>
                <a:ea typeface="Arial"/>
                <a:cs typeface="Arial"/>
              </a:defRPr>
            </a:lvl3pPr>
            <a:lvl4pPr>
              <a:defRPr sz="1650">
                <a:solidFill>
                  <a:srgbClr val="173C32"/>
                </a:solidFill>
                <a:latin typeface="Arial"/>
                <a:ea typeface="Arial"/>
                <a:cs typeface="Arial"/>
              </a:defRPr>
            </a:lvl4pPr>
            <a:lvl5pPr>
              <a:defRPr sz="1650">
                <a:solidFill>
                  <a:srgbClr val="173C32"/>
                </a:solidFill>
                <a:latin typeface="Arial"/>
                <a:ea typeface="Arial"/>
                <a:cs typeface="Arial"/>
              </a:defRPr>
            </a:lvl5pPr>
            <a:lvl6pPr>
              <a:defRPr sz="1650">
                <a:solidFill>
                  <a:srgbClr val="173C32"/>
                </a:solidFill>
                <a:latin typeface="Arial"/>
                <a:ea typeface="Arial"/>
                <a:cs typeface="Arial"/>
              </a:defRPr>
            </a:lvl6pPr>
            <a:lvl7pPr>
              <a:defRPr sz="1650">
                <a:solidFill>
                  <a:srgbClr val="173C32"/>
                </a:solidFill>
                <a:latin typeface="Arial"/>
                <a:ea typeface="Arial"/>
                <a:cs typeface="Arial"/>
              </a:defRPr>
            </a:lvl7pPr>
            <a:lvl8pPr>
              <a:defRPr sz="1650">
                <a:solidFill>
                  <a:srgbClr val="173C32"/>
                </a:solidFill>
                <a:latin typeface="Arial"/>
                <a:ea typeface="Arial"/>
                <a:cs typeface="Arial"/>
              </a:defRPr>
            </a:lvl8pPr>
            <a:lvl9pPr>
              <a:defRPr sz="1650">
                <a:solidFill>
                  <a:srgbClr val="173C32"/>
                </a:solidFill>
                <a:latin typeface="Arial"/>
                <a:ea typeface="Arial"/>
                <a:cs typeface="Arial"/>
              </a:defRPr>
            </a:lvl9pPr>
          </a:lstStyle>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Synthetic JSON file</a:t>
            </a:r>
          </a:p>
        </p:txBody>
      </p:sp>
      <p:sp>
        <p:nvSpPr>
          <p:cNvPr id="14" name="">
            <a:extLst xmlns:a="http://schemas.openxmlformats.org/drawingml/2006/main">
              <a:ext uri="{FF2B5EF4-FFF2-40B4-BE49-F238E27FC236}">
                <a16:creationId xmlns:a16="http://schemas.microsoft.com/office/drawing/2014/main" id="{3F8E309C-2086-47CB-836E-724385EF5C55}"/>
              </a:ext>
            </a:extLst>
          </p:cNvPr>
          <p:cNvSpPr>
            <a:spLocks xmlns:a="http://schemas.openxmlformats.org/drawingml/2006/main" noGrp="1"/>
          </p:cNvSpPr>
          <p:nvPr/>
        </p:nvSpPr>
        <p:spPr>
          <a:xfrm xmlns:a="http://schemas.openxmlformats.org/drawingml/2006/main">
            <a:off x="3238500" y="1524000"/>
            <a:ext cx="2381250" cy="762000"/>
          </a:xfrm>
          <a:prstGeom xmlns:a="http://schemas.openxmlformats.org/drawingml/2006/main" prst="roundRect">
            <a:avLst>
              <a:gd name="adj" fmla="val 17500"/>
            </a:avLst>
          </a:prstGeom>
          <a:solidFill xmlns:a="http://schemas.openxmlformats.org/drawingml/2006/main">
            <a:srgbClr val="E4EEE6"/>
          </a:solidFill>
          <a:ln xmlns:a="http://schemas.openxmlformats.org/drawingml/2006/main" w="13335">
            <a:solidFill>
              <a:srgbClr val="6D9A83"/>
            </a:solidFill>
          </a:ln>
        </p:spPr>
        <p:txBody>
          <a:bodyPr xmlns:a="http://schemas.openxmlformats.org/drawingml/2006/main"/>
          <a:lstStyle xmlns:a="http://schemas.openxmlformats.org/drawingml/2006/main">
            <a:defPPr>
              <a:defRPr sz="1650">
                <a:solidFill>
                  <a:srgbClr val="173C32"/>
                </a:solidFill>
                <a:latin typeface="Arial"/>
                <a:ea typeface="Arial"/>
                <a:cs typeface="Arial"/>
              </a:defRPr>
            </a:defPPr>
            <a:lvl1pPr>
              <a:defRPr sz="1650">
                <a:solidFill>
                  <a:srgbClr val="173C32"/>
                </a:solidFill>
                <a:latin typeface="Arial"/>
                <a:ea typeface="Arial"/>
                <a:cs typeface="Arial"/>
              </a:defRPr>
            </a:lvl1pPr>
            <a:lvl2pPr>
              <a:defRPr sz="1650">
                <a:solidFill>
                  <a:srgbClr val="173C32"/>
                </a:solidFill>
                <a:latin typeface="Arial"/>
                <a:ea typeface="Arial"/>
                <a:cs typeface="Arial"/>
              </a:defRPr>
            </a:lvl2pPr>
            <a:lvl3pPr>
              <a:defRPr sz="1650">
                <a:solidFill>
                  <a:srgbClr val="173C32"/>
                </a:solidFill>
                <a:latin typeface="Arial"/>
                <a:ea typeface="Arial"/>
                <a:cs typeface="Arial"/>
              </a:defRPr>
            </a:lvl3pPr>
            <a:lvl4pPr>
              <a:defRPr sz="1650">
                <a:solidFill>
                  <a:srgbClr val="173C32"/>
                </a:solidFill>
                <a:latin typeface="Arial"/>
                <a:ea typeface="Arial"/>
                <a:cs typeface="Arial"/>
              </a:defRPr>
            </a:lvl4pPr>
            <a:lvl5pPr>
              <a:defRPr sz="1650">
                <a:solidFill>
                  <a:srgbClr val="173C32"/>
                </a:solidFill>
                <a:latin typeface="Arial"/>
                <a:ea typeface="Arial"/>
                <a:cs typeface="Arial"/>
              </a:defRPr>
            </a:lvl5pPr>
            <a:lvl6pPr>
              <a:defRPr sz="1650">
                <a:solidFill>
                  <a:srgbClr val="173C32"/>
                </a:solidFill>
                <a:latin typeface="Arial"/>
                <a:ea typeface="Arial"/>
                <a:cs typeface="Arial"/>
              </a:defRPr>
            </a:lvl6pPr>
            <a:lvl7pPr>
              <a:defRPr sz="1650">
                <a:solidFill>
                  <a:srgbClr val="173C32"/>
                </a:solidFill>
                <a:latin typeface="Arial"/>
                <a:ea typeface="Arial"/>
                <a:cs typeface="Arial"/>
              </a:defRPr>
            </a:lvl7pPr>
            <a:lvl8pPr>
              <a:defRPr sz="1650">
                <a:solidFill>
                  <a:srgbClr val="173C32"/>
                </a:solidFill>
                <a:latin typeface="Arial"/>
                <a:ea typeface="Arial"/>
                <a:cs typeface="Arial"/>
              </a:defRPr>
            </a:lvl8pPr>
            <a:lvl9pPr>
              <a:defRPr sz="1650">
                <a:solidFill>
                  <a:srgbClr val="173C32"/>
                </a:solidFill>
                <a:latin typeface="Arial"/>
                <a:ea typeface="Arial"/>
                <a:cs typeface="Arial"/>
              </a:defRPr>
            </a:lvl9pPr>
          </a:lstStyle>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Python validation</a:t>
            </a:r>
          </a:p>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and worker</a:t>
            </a:r>
          </a:p>
        </p:txBody>
      </p:sp>
      <p:sp>
        <p:nvSpPr>
          <p:cNvPr id="15" name="">
            <a:extLst xmlns:a="http://schemas.openxmlformats.org/drawingml/2006/main">
              <a:ext uri="{FF2B5EF4-FFF2-40B4-BE49-F238E27FC236}">
                <a16:creationId xmlns:a16="http://schemas.microsoft.com/office/drawing/2014/main" id="{340E9BD4-3E3F-40D7-B3F7-C5F5BCECF20F}"/>
              </a:ext>
            </a:extLst>
          </p:cNvPr>
          <p:cNvSpPr>
            <a:spLocks xmlns:a="http://schemas.openxmlformats.org/drawingml/2006/main" noGrp="1"/>
          </p:cNvSpPr>
          <p:nvPr/>
        </p:nvSpPr>
        <p:spPr>
          <a:xfrm xmlns:a="http://schemas.openxmlformats.org/drawingml/2006/main">
            <a:off x="6477000" y="1524000"/>
            <a:ext cx="2286000" cy="762000"/>
          </a:xfrm>
          <a:prstGeom xmlns:a="http://schemas.openxmlformats.org/drawingml/2006/main" prst="roundRect">
            <a:avLst>
              <a:gd name="adj" fmla="val 17500"/>
            </a:avLst>
          </a:prstGeom>
          <a:solidFill xmlns:a="http://schemas.openxmlformats.org/drawingml/2006/main">
            <a:srgbClr val="E4EEE6"/>
          </a:solidFill>
          <a:ln xmlns:a="http://schemas.openxmlformats.org/drawingml/2006/main" w="13335">
            <a:solidFill>
              <a:srgbClr val="6D9A83"/>
            </a:solidFill>
          </a:ln>
        </p:spPr>
        <p:txBody>
          <a:bodyPr xmlns:a="http://schemas.openxmlformats.org/drawingml/2006/main"/>
          <a:lstStyle xmlns:a="http://schemas.openxmlformats.org/drawingml/2006/main">
            <a:defPPr>
              <a:defRPr sz="1650">
                <a:solidFill>
                  <a:srgbClr val="173C32"/>
                </a:solidFill>
                <a:latin typeface="Arial"/>
                <a:ea typeface="Arial"/>
                <a:cs typeface="Arial"/>
              </a:defRPr>
            </a:defPPr>
            <a:lvl1pPr>
              <a:defRPr sz="1650">
                <a:solidFill>
                  <a:srgbClr val="173C32"/>
                </a:solidFill>
                <a:latin typeface="Arial"/>
                <a:ea typeface="Arial"/>
                <a:cs typeface="Arial"/>
              </a:defRPr>
            </a:lvl1pPr>
            <a:lvl2pPr>
              <a:defRPr sz="1650">
                <a:solidFill>
                  <a:srgbClr val="173C32"/>
                </a:solidFill>
                <a:latin typeface="Arial"/>
                <a:ea typeface="Arial"/>
                <a:cs typeface="Arial"/>
              </a:defRPr>
            </a:lvl2pPr>
            <a:lvl3pPr>
              <a:defRPr sz="1650">
                <a:solidFill>
                  <a:srgbClr val="173C32"/>
                </a:solidFill>
                <a:latin typeface="Arial"/>
                <a:ea typeface="Arial"/>
                <a:cs typeface="Arial"/>
              </a:defRPr>
            </a:lvl3pPr>
            <a:lvl4pPr>
              <a:defRPr sz="1650">
                <a:solidFill>
                  <a:srgbClr val="173C32"/>
                </a:solidFill>
                <a:latin typeface="Arial"/>
                <a:ea typeface="Arial"/>
                <a:cs typeface="Arial"/>
              </a:defRPr>
            </a:lvl4pPr>
            <a:lvl5pPr>
              <a:defRPr sz="1650">
                <a:solidFill>
                  <a:srgbClr val="173C32"/>
                </a:solidFill>
                <a:latin typeface="Arial"/>
                <a:ea typeface="Arial"/>
                <a:cs typeface="Arial"/>
              </a:defRPr>
            </a:lvl5pPr>
            <a:lvl6pPr>
              <a:defRPr sz="1650">
                <a:solidFill>
                  <a:srgbClr val="173C32"/>
                </a:solidFill>
                <a:latin typeface="Arial"/>
                <a:ea typeface="Arial"/>
                <a:cs typeface="Arial"/>
              </a:defRPr>
            </a:lvl6pPr>
            <a:lvl7pPr>
              <a:defRPr sz="1650">
                <a:solidFill>
                  <a:srgbClr val="173C32"/>
                </a:solidFill>
                <a:latin typeface="Arial"/>
                <a:ea typeface="Arial"/>
                <a:cs typeface="Arial"/>
              </a:defRPr>
            </a:lvl7pPr>
            <a:lvl8pPr>
              <a:defRPr sz="1650">
                <a:solidFill>
                  <a:srgbClr val="173C32"/>
                </a:solidFill>
                <a:latin typeface="Arial"/>
                <a:ea typeface="Arial"/>
                <a:cs typeface="Arial"/>
              </a:defRPr>
            </a:lvl8pPr>
            <a:lvl9pPr>
              <a:defRPr sz="1650">
                <a:solidFill>
                  <a:srgbClr val="173C32"/>
                </a:solidFill>
                <a:latin typeface="Arial"/>
                <a:ea typeface="Arial"/>
                <a:cs typeface="Arial"/>
              </a:defRPr>
            </a:lvl9pPr>
          </a:lstStyle>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Local broker ledger</a:t>
            </a:r>
          </a:p>
        </p:txBody>
      </p:sp>
      <p:sp>
        <p:nvSpPr>
          <p:cNvPr id="16" name="">
            <a:extLst xmlns:a="http://schemas.openxmlformats.org/drawingml/2006/main">
              <a:ext uri="{FF2B5EF4-FFF2-40B4-BE49-F238E27FC236}">
                <a16:creationId xmlns:a16="http://schemas.microsoft.com/office/drawing/2014/main" id="{E816FD49-D0F1-4799-B9F0-6E57762F1836}"/>
              </a:ext>
            </a:extLst>
          </p:cNvPr>
          <p:cNvSpPr>
            <a:spLocks xmlns:a="http://schemas.openxmlformats.org/drawingml/2006/main" noGrp="1"/>
          </p:cNvSpPr>
          <p:nvPr/>
        </p:nvSpPr>
        <p:spPr>
          <a:xfrm xmlns:a="http://schemas.openxmlformats.org/drawingml/2006/main">
            <a:off x="6477000" y="2762250"/>
            <a:ext cx="2286000" cy="762000"/>
          </a:xfrm>
          <a:prstGeom xmlns:a="http://schemas.openxmlformats.org/drawingml/2006/main" prst="roundRect">
            <a:avLst>
              <a:gd name="adj" fmla="val 17500"/>
            </a:avLst>
          </a:prstGeom>
          <a:solidFill xmlns:a="http://schemas.openxmlformats.org/drawingml/2006/main">
            <a:srgbClr val="E4EEE6"/>
          </a:solidFill>
          <a:ln xmlns:a="http://schemas.openxmlformats.org/drawingml/2006/main" w="13335">
            <a:solidFill>
              <a:srgbClr val="6D9A83"/>
            </a:solidFill>
          </a:ln>
        </p:spPr>
        <p:txBody>
          <a:bodyPr xmlns:a="http://schemas.openxmlformats.org/drawingml/2006/main"/>
          <a:lstStyle xmlns:a="http://schemas.openxmlformats.org/drawingml/2006/main">
            <a:defPPr>
              <a:defRPr sz="1650">
                <a:solidFill>
                  <a:srgbClr val="173C32"/>
                </a:solidFill>
                <a:latin typeface="Arial"/>
                <a:ea typeface="Arial"/>
                <a:cs typeface="Arial"/>
              </a:defRPr>
            </a:defPPr>
            <a:lvl1pPr>
              <a:defRPr sz="1650">
                <a:solidFill>
                  <a:srgbClr val="173C32"/>
                </a:solidFill>
                <a:latin typeface="Arial"/>
                <a:ea typeface="Arial"/>
                <a:cs typeface="Arial"/>
              </a:defRPr>
            </a:lvl1pPr>
            <a:lvl2pPr>
              <a:defRPr sz="1650">
                <a:solidFill>
                  <a:srgbClr val="173C32"/>
                </a:solidFill>
                <a:latin typeface="Arial"/>
                <a:ea typeface="Arial"/>
                <a:cs typeface="Arial"/>
              </a:defRPr>
            </a:lvl2pPr>
            <a:lvl3pPr>
              <a:defRPr sz="1650">
                <a:solidFill>
                  <a:srgbClr val="173C32"/>
                </a:solidFill>
                <a:latin typeface="Arial"/>
                <a:ea typeface="Arial"/>
                <a:cs typeface="Arial"/>
              </a:defRPr>
            </a:lvl3pPr>
            <a:lvl4pPr>
              <a:defRPr sz="1650">
                <a:solidFill>
                  <a:srgbClr val="173C32"/>
                </a:solidFill>
                <a:latin typeface="Arial"/>
                <a:ea typeface="Arial"/>
                <a:cs typeface="Arial"/>
              </a:defRPr>
            </a:lvl4pPr>
            <a:lvl5pPr>
              <a:defRPr sz="1650">
                <a:solidFill>
                  <a:srgbClr val="173C32"/>
                </a:solidFill>
                <a:latin typeface="Arial"/>
                <a:ea typeface="Arial"/>
                <a:cs typeface="Arial"/>
              </a:defRPr>
            </a:lvl5pPr>
            <a:lvl6pPr>
              <a:defRPr sz="1650">
                <a:solidFill>
                  <a:srgbClr val="173C32"/>
                </a:solidFill>
                <a:latin typeface="Arial"/>
                <a:ea typeface="Arial"/>
                <a:cs typeface="Arial"/>
              </a:defRPr>
            </a:lvl6pPr>
            <a:lvl7pPr>
              <a:defRPr sz="1650">
                <a:solidFill>
                  <a:srgbClr val="173C32"/>
                </a:solidFill>
                <a:latin typeface="Arial"/>
                <a:ea typeface="Arial"/>
                <a:cs typeface="Arial"/>
              </a:defRPr>
            </a:lvl7pPr>
            <a:lvl8pPr>
              <a:defRPr sz="1650">
                <a:solidFill>
                  <a:srgbClr val="173C32"/>
                </a:solidFill>
                <a:latin typeface="Arial"/>
                <a:ea typeface="Arial"/>
                <a:cs typeface="Arial"/>
              </a:defRPr>
            </a:lvl8pPr>
            <a:lvl9pPr>
              <a:defRPr sz="1650">
                <a:solidFill>
                  <a:srgbClr val="173C32"/>
                </a:solidFill>
                <a:latin typeface="Arial"/>
                <a:ea typeface="Arial"/>
                <a:cs typeface="Arial"/>
              </a:defRPr>
            </a:lvl9pPr>
          </a:lstStyle>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Local MFTS receiver</a:t>
            </a:r>
          </a:p>
        </p:txBody>
      </p:sp>
      <p:sp>
        <p:nvSpPr>
          <p:cNvPr id="17" name="">
            <a:extLst xmlns:a="http://schemas.openxmlformats.org/drawingml/2006/main">
              <a:ext uri="{FF2B5EF4-FFF2-40B4-BE49-F238E27FC236}">
                <a16:creationId xmlns:a16="http://schemas.microsoft.com/office/drawing/2014/main" id="{F962239C-A315-4C5C-BAD0-3114BB0417B7}"/>
              </a:ext>
            </a:extLst>
          </p:cNvPr>
          <p:cNvSpPr>
            <a:spLocks xmlns:a="http://schemas.openxmlformats.org/drawingml/2006/main" noGrp="1"/>
          </p:cNvSpPr>
          <p:nvPr/>
        </p:nvSpPr>
        <p:spPr>
          <a:xfrm xmlns:a="http://schemas.openxmlformats.org/drawingml/2006/main">
            <a:off x="9429750" y="2143125"/>
            <a:ext cx="2143125" cy="952500"/>
          </a:xfrm>
          <a:prstGeom xmlns:a="http://schemas.openxmlformats.org/drawingml/2006/main" prst="roundRect">
            <a:avLst>
              <a:gd name="adj" fmla="val 14000"/>
            </a:avLst>
          </a:prstGeom>
          <a:solidFill xmlns:a="http://schemas.openxmlformats.org/drawingml/2006/main">
            <a:srgbClr val="E4EEE6"/>
          </a:solidFill>
          <a:ln xmlns:a="http://schemas.openxmlformats.org/drawingml/2006/main" w="13335">
            <a:solidFill>
              <a:srgbClr val="6D9A83"/>
            </a:solidFill>
          </a:ln>
        </p:spPr>
        <p:txBody>
          <a:bodyPr xmlns:a="http://schemas.openxmlformats.org/drawingml/2006/main"/>
          <a:lstStyle xmlns:a="http://schemas.openxmlformats.org/drawingml/2006/main">
            <a:defPPr>
              <a:defRPr sz="1650">
                <a:solidFill>
                  <a:srgbClr val="173C32"/>
                </a:solidFill>
                <a:latin typeface="Arial"/>
                <a:ea typeface="Arial"/>
                <a:cs typeface="Arial"/>
              </a:defRPr>
            </a:defPPr>
            <a:lvl1pPr>
              <a:defRPr sz="1650">
                <a:solidFill>
                  <a:srgbClr val="173C32"/>
                </a:solidFill>
                <a:latin typeface="Arial"/>
                <a:ea typeface="Arial"/>
                <a:cs typeface="Arial"/>
              </a:defRPr>
            </a:lvl1pPr>
            <a:lvl2pPr>
              <a:defRPr sz="1650">
                <a:solidFill>
                  <a:srgbClr val="173C32"/>
                </a:solidFill>
                <a:latin typeface="Arial"/>
                <a:ea typeface="Arial"/>
                <a:cs typeface="Arial"/>
              </a:defRPr>
            </a:lvl2pPr>
            <a:lvl3pPr>
              <a:defRPr sz="1650">
                <a:solidFill>
                  <a:srgbClr val="173C32"/>
                </a:solidFill>
                <a:latin typeface="Arial"/>
                <a:ea typeface="Arial"/>
                <a:cs typeface="Arial"/>
              </a:defRPr>
            </a:lvl3pPr>
            <a:lvl4pPr>
              <a:defRPr sz="1650">
                <a:solidFill>
                  <a:srgbClr val="173C32"/>
                </a:solidFill>
                <a:latin typeface="Arial"/>
                <a:ea typeface="Arial"/>
                <a:cs typeface="Arial"/>
              </a:defRPr>
            </a:lvl4pPr>
            <a:lvl5pPr>
              <a:defRPr sz="1650">
                <a:solidFill>
                  <a:srgbClr val="173C32"/>
                </a:solidFill>
                <a:latin typeface="Arial"/>
                <a:ea typeface="Arial"/>
                <a:cs typeface="Arial"/>
              </a:defRPr>
            </a:lvl5pPr>
            <a:lvl6pPr>
              <a:defRPr sz="1650">
                <a:solidFill>
                  <a:srgbClr val="173C32"/>
                </a:solidFill>
                <a:latin typeface="Arial"/>
                <a:ea typeface="Arial"/>
                <a:cs typeface="Arial"/>
              </a:defRPr>
            </a:lvl6pPr>
            <a:lvl7pPr>
              <a:defRPr sz="1650">
                <a:solidFill>
                  <a:srgbClr val="173C32"/>
                </a:solidFill>
                <a:latin typeface="Arial"/>
                <a:ea typeface="Arial"/>
                <a:cs typeface="Arial"/>
              </a:defRPr>
            </a:lvl7pPr>
            <a:lvl8pPr>
              <a:defRPr sz="1650">
                <a:solidFill>
                  <a:srgbClr val="173C32"/>
                </a:solidFill>
                <a:latin typeface="Arial"/>
                <a:ea typeface="Arial"/>
                <a:cs typeface="Arial"/>
              </a:defRPr>
            </a:lvl8pPr>
            <a:lvl9pPr>
              <a:defRPr sz="1650">
                <a:solidFill>
                  <a:srgbClr val="173C32"/>
                </a:solidFill>
                <a:latin typeface="Arial"/>
                <a:ea typeface="Arial"/>
                <a:cs typeface="Arial"/>
              </a:defRPr>
            </a:lvl9pPr>
          </a:lstStyle>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Consumer payload</a:t>
            </a:r>
          </a:p>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verification</a:t>
            </a:r>
          </a:p>
        </p:txBody>
      </p:sp>
      <p:sp>
        <p:nvSpPr>
          <p:cNvPr id="18" name="">
            <a:extLst xmlns:a="http://schemas.openxmlformats.org/drawingml/2006/main">
              <a:ext uri="{FF2B5EF4-FFF2-40B4-BE49-F238E27FC236}">
                <a16:creationId xmlns:a16="http://schemas.microsoft.com/office/drawing/2014/main" id="{82F7B982-D6DD-4B77-8868-BEF94F4E722A}"/>
              </a:ext>
            </a:extLst>
          </p:cNvPr>
          <p:cNvSpPr>
            <a:spLocks xmlns:a="http://schemas.openxmlformats.org/drawingml/2006/main" noGrp="1"/>
          </p:cNvSpPr>
          <p:nvPr/>
        </p:nvSpPr>
        <p:spPr>
          <a:xfrm xmlns:a="http://schemas.openxmlformats.org/drawingml/2006/main">
            <a:off x="2857500" y="4286250"/>
            <a:ext cx="2857500" cy="904875"/>
          </a:xfrm>
          <a:prstGeom xmlns:a="http://schemas.openxmlformats.org/drawingml/2006/main" prst="roundRect">
            <a:avLst>
              <a:gd name="adj" fmla="val 14737"/>
            </a:avLst>
          </a:prstGeom>
          <a:solidFill xmlns:a="http://schemas.openxmlformats.org/drawingml/2006/main">
            <a:srgbClr val="E4EEE6"/>
          </a:solidFill>
          <a:ln xmlns:a="http://schemas.openxmlformats.org/drawingml/2006/main" w="13335">
            <a:solidFill>
              <a:srgbClr val="6D9A83"/>
            </a:solidFill>
          </a:ln>
        </p:spPr>
        <p:txBody>
          <a:bodyPr xmlns:a="http://schemas.openxmlformats.org/drawingml/2006/main"/>
          <a:lstStyle xmlns:a="http://schemas.openxmlformats.org/drawingml/2006/main">
            <a:defPPr>
              <a:defRPr sz="1650">
                <a:solidFill>
                  <a:srgbClr val="173C32"/>
                </a:solidFill>
                <a:latin typeface="Arial"/>
                <a:ea typeface="Arial"/>
                <a:cs typeface="Arial"/>
              </a:defRPr>
            </a:defPPr>
            <a:lvl1pPr>
              <a:defRPr sz="1650">
                <a:solidFill>
                  <a:srgbClr val="173C32"/>
                </a:solidFill>
                <a:latin typeface="Arial"/>
                <a:ea typeface="Arial"/>
                <a:cs typeface="Arial"/>
              </a:defRPr>
            </a:lvl1pPr>
            <a:lvl2pPr>
              <a:defRPr sz="1650">
                <a:solidFill>
                  <a:srgbClr val="173C32"/>
                </a:solidFill>
                <a:latin typeface="Arial"/>
                <a:ea typeface="Arial"/>
                <a:cs typeface="Arial"/>
              </a:defRPr>
            </a:lvl2pPr>
            <a:lvl3pPr>
              <a:defRPr sz="1650">
                <a:solidFill>
                  <a:srgbClr val="173C32"/>
                </a:solidFill>
                <a:latin typeface="Arial"/>
                <a:ea typeface="Arial"/>
                <a:cs typeface="Arial"/>
              </a:defRPr>
            </a:lvl3pPr>
            <a:lvl4pPr>
              <a:defRPr sz="1650">
                <a:solidFill>
                  <a:srgbClr val="173C32"/>
                </a:solidFill>
                <a:latin typeface="Arial"/>
                <a:ea typeface="Arial"/>
                <a:cs typeface="Arial"/>
              </a:defRPr>
            </a:lvl4pPr>
            <a:lvl5pPr>
              <a:defRPr sz="1650">
                <a:solidFill>
                  <a:srgbClr val="173C32"/>
                </a:solidFill>
                <a:latin typeface="Arial"/>
                <a:ea typeface="Arial"/>
                <a:cs typeface="Arial"/>
              </a:defRPr>
            </a:lvl5pPr>
            <a:lvl6pPr>
              <a:defRPr sz="1650">
                <a:solidFill>
                  <a:srgbClr val="173C32"/>
                </a:solidFill>
                <a:latin typeface="Arial"/>
                <a:ea typeface="Arial"/>
                <a:cs typeface="Arial"/>
              </a:defRPr>
            </a:lvl6pPr>
            <a:lvl7pPr>
              <a:defRPr sz="1650">
                <a:solidFill>
                  <a:srgbClr val="173C32"/>
                </a:solidFill>
                <a:latin typeface="Arial"/>
                <a:ea typeface="Arial"/>
                <a:cs typeface="Arial"/>
              </a:defRPr>
            </a:lvl7pPr>
            <a:lvl8pPr>
              <a:defRPr sz="1650">
                <a:solidFill>
                  <a:srgbClr val="173C32"/>
                </a:solidFill>
                <a:latin typeface="Arial"/>
                <a:ea typeface="Arial"/>
                <a:cs typeface="Arial"/>
              </a:defRPr>
            </a:lvl8pPr>
            <a:lvl9pPr>
              <a:defRPr sz="1650">
                <a:solidFill>
                  <a:srgbClr val="173C32"/>
                </a:solidFill>
                <a:latin typeface="Arial"/>
                <a:ea typeface="Arial"/>
                <a:cs typeface="Arial"/>
              </a:defRPr>
            </a:lvl9pPr>
          </a:lstStyle>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SQLite transaction</a:t>
            </a:r>
          </a:p>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Manifest + audit + incident</a:t>
            </a:r>
          </a:p>
        </p:txBody>
      </p:sp>
      <p:sp>
        <p:nvSpPr>
          <p:cNvPr id="19" name="">
            <a:extLst xmlns:a="http://schemas.openxmlformats.org/drawingml/2006/main">
              <a:ext uri="{FF2B5EF4-FFF2-40B4-BE49-F238E27FC236}">
                <a16:creationId xmlns:a16="http://schemas.microsoft.com/office/drawing/2014/main" id="{659AA876-0252-4297-AEF5-519E31A5D5F6}"/>
              </a:ext>
            </a:extLst>
          </p:cNvPr>
          <p:cNvSpPr>
            <a:spLocks xmlns:a="http://schemas.openxmlformats.org/drawingml/2006/main" noGrp="1"/>
          </p:cNvSpPr>
          <p:nvPr/>
        </p:nvSpPr>
        <p:spPr>
          <a:xfrm xmlns:a="http://schemas.openxmlformats.org/drawingml/2006/main">
            <a:off x="6477000" y="4286250"/>
            <a:ext cx="2381250" cy="904875"/>
          </a:xfrm>
          <a:prstGeom xmlns:a="http://schemas.openxmlformats.org/drawingml/2006/main" prst="roundRect">
            <a:avLst>
              <a:gd name="adj" fmla="val 14737"/>
            </a:avLst>
          </a:prstGeom>
          <a:solidFill xmlns:a="http://schemas.openxmlformats.org/drawingml/2006/main">
            <a:srgbClr val="183D34"/>
          </a:solidFill>
          <a:ln xmlns:a="http://schemas.openxmlformats.org/drawingml/2006/main" w="13335">
            <a:solidFill>
              <a:srgbClr val="6D9A83"/>
            </a:solidFill>
          </a:ln>
        </p:spPr>
        <p:txBody>
          <a:bodyPr xmlns:a="http://schemas.openxmlformats.org/drawingml/2006/main"/>
          <a:lstStyle xmlns:a="http://schemas.openxmlformats.org/drawingml/2006/main">
            <a:defPPr>
              <a:defRPr sz="1650" b="1">
                <a:solidFill>
                  <a:srgbClr val="FFFFFF"/>
                </a:solidFill>
                <a:latin typeface="Arial"/>
                <a:ea typeface="Arial"/>
                <a:cs typeface="Arial"/>
              </a:defRPr>
            </a:defPPr>
            <a:lvl1pPr>
              <a:defRPr sz="1650" b="1">
                <a:solidFill>
                  <a:srgbClr val="FFFFFF"/>
                </a:solidFill>
                <a:latin typeface="Arial"/>
                <a:ea typeface="Arial"/>
                <a:cs typeface="Arial"/>
              </a:defRPr>
            </a:lvl1pPr>
            <a:lvl2pPr>
              <a:defRPr sz="1650" b="1">
                <a:solidFill>
                  <a:srgbClr val="FFFFFF"/>
                </a:solidFill>
                <a:latin typeface="Arial"/>
                <a:ea typeface="Arial"/>
                <a:cs typeface="Arial"/>
              </a:defRPr>
            </a:lvl2pPr>
            <a:lvl3pPr>
              <a:defRPr sz="1650" b="1">
                <a:solidFill>
                  <a:srgbClr val="FFFFFF"/>
                </a:solidFill>
                <a:latin typeface="Arial"/>
                <a:ea typeface="Arial"/>
                <a:cs typeface="Arial"/>
              </a:defRPr>
            </a:lvl3pPr>
            <a:lvl4pPr>
              <a:defRPr sz="1650" b="1">
                <a:solidFill>
                  <a:srgbClr val="FFFFFF"/>
                </a:solidFill>
                <a:latin typeface="Arial"/>
                <a:ea typeface="Arial"/>
                <a:cs typeface="Arial"/>
              </a:defRPr>
            </a:lvl4pPr>
            <a:lvl5pPr>
              <a:defRPr sz="1650" b="1">
                <a:solidFill>
                  <a:srgbClr val="FFFFFF"/>
                </a:solidFill>
                <a:latin typeface="Arial"/>
                <a:ea typeface="Arial"/>
                <a:cs typeface="Arial"/>
              </a:defRPr>
            </a:lvl5pPr>
            <a:lvl6pPr>
              <a:defRPr sz="1650" b="1">
                <a:solidFill>
                  <a:srgbClr val="FFFFFF"/>
                </a:solidFill>
                <a:latin typeface="Arial"/>
                <a:ea typeface="Arial"/>
                <a:cs typeface="Arial"/>
              </a:defRPr>
            </a:lvl6pPr>
            <a:lvl7pPr>
              <a:defRPr sz="1650" b="1">
                <a:solidFill>
                  <a:srgbClr val="FFFFFF"/>
                </a:solidFill>
                <a:latin typeface="Arial"/>
                <a:ea typeface="Arial"/>
                <a:cs typeface="Arial"/>
              </a:defRPr>
            </a:lvl7pPr>
            <a:lvl8pPr>
              <a:defRPr sz="1650" b="1">
                <a:solidFill>
                  <a:srgbClr val="FFFFFF"/>
                </a:solidFill>
                <a:latin typeface="Arial"/>
                <a:ea typeface="Arial"/>
                <a:cs typeface="Arial"/>
              </a:defRPr>
            </a:lvl8pPr>
            <a:lvl9pPr>
              <a:defRPr sz="1650" b="1">
                <a:solidFill>
                  <a:srgbClr val="FFFFFF"/>
                </a:solidFill>
                <a:latin typeface="Arial"/>
                <a:ea typeface="Arial"/>
                <a:cs typeface="Arial"/>
              </a:defRPr>
            </a:lvl9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Read-only advisor</a:t>
            </a:r>
          </a:p>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Evidence-bound proposal</a:t>
            </a:r>
          </a:p>
        </p:txBody>
      </p:sp>
      <p:sp>
        <p:nvSpPr>
          <p:cNvPr id="20" name="">
            <a:extLst xmlns:a="http://schemas.openxmlformats.org/drawingml/2006/main">
              <a:ext uri="{FF2B5EF4-FFF2-40B4-BE49-F238E27FC236}">
                <a16:creationId xmlns:a16="http://schemas.microsoft.com/office/drawing/2014/main" id="{41AB9A22-6A9C-4EA0-897F-9774592FF7FA}"/>
              </a:ext>
            </a:extLst>
          </p:cNvPr>
          <p:cNvSpPr>
            <a:spLocks xmlns:a="http://schemas.openxmlformats.org/drawingml/2006/main" noGrp="1"/>
          </p:cNvSpPr>
          <p:nvPr/>
        </p:nvSpPr>
        <p:spPr>
          <a:xfrm xmlns:a="http://schemas.openxmlformats.org/drawingml/2006/main">
            <a:off x="9429750" y="4286250"/>
            <a:ext cx="2143125" cy="904875"/>
          </a:xfrm>
          <a:prstGeom xmlns:a="http://schemas.openxmlformats.org/drawingml/2006/main" prst="roundRect">
            <a:avLst>
              <a:gd name="adj" fmla="val 14737"/>
            </a:avLst>
          </a:prstGeom>
          <a:solidFill xmlns:a="http://schemas.openxmlformats.org/drawingml/2006/main">
            <a:srgbClr val="E4EEE6"/>
          </a:solidFill>
          <a:ln xmlns:a="http://schemas.openxmlformats.org/drawingml/2006/main" w="13335">
            <a:solidFill>
              <a:srgbClr val="6D9A83"/>
            </a:solidFill>
          </a:ln>
        </p:spPr>
        <p:txBody>
          <a:bodyPr xmlns:a="http://schemas.openxmlformats.org/drawingml/2006/main"/>
          <a:lstStyle xmlns:a="http://schemas.openxmlformats.org/drawingml/2006/main">
            <a:defPPr>
              <a:defRPr sz="1650">
                <a:solidFill>
                  <a:srgbClr val="173C32"/>
                </a:solidFill>
                <a:latin typeface="Arial"/>
                <a:ea typeface="Arial"/>
                <a:cs typeface="Arial"/>
              </a:defRPr>
            </a:defPPr>
            <a:lvl1pPr>
              <a:defRPr sz="1650">
                <a:solidFill>
                  <a:srgbClr val="173C32"/>
                </a:solidFill>
                <a:latin typeface="Arial"/>
                <a:ea typeface="Arial"/>
                <a:cs typeface="Arial"/>
              </a:defRPr>
            </a:lvl1pPr>
            <a:lvl2pPr>
              <a:defRPr sz="1650">
                <a:solidFill>
                  <a:srgbClr val="173C32"/>
                </a:solidFill>
                <a:latin typeface="Arial"/>
                <a:ea typeface="Arial"/>
                <a:cs typeface="Arial"/>
              </a:defRPr>
            </a:lvl2pPr>
            <a:lvl3pPr>
              <a:defRPr sz="1650">
                <a:solidFill>
                  <a:srgbClr val="173C32"/>
                </a:solidFill>
                <a:latin typeface="Arial"/>
                <a:ea typeface="Arial"/>
                <a:cs typeface="Arial"/>
              </a:defRPr>
            </a:lvl3pPr>
            <a:lvl4pPr>
              <a:defRPr sz="1650">
                <a:solidFill>
                  <a:srgbClr val="173C32"/>
                </a:solidFill>
                <a:latin typeface="Arial"/>
                <a:ea typeface="Arial"/>
                <a:cs typeface="Arial"/>
              </a:defRPr>
            </a:lvl4pPr>
            <a:lvl5pPr>
              <a:defRPr sz="1650">
                <a:solidFill>
                  <a:srgbClr val="173C32"/>
                </a:solidFill>
                <a:latin typeface="Arial"/>
                <a:ea typeface="Arial"/>
                <a:cs typeface="Arial"/>
              </a:defRPr>
            </a:lvl5pPr>
            <a:lvl6pPr>
              <a:defRPr sz="1650">
                <a:solidFill>
                  <a:srgbClr val="173C32"/>
                </a:solidFill>
                <a:latin typeface="Arial"/>
                <a:ea typeface="Arial"/>
                <a:cs typeface="Arial"/>
              </a:defRPr>
            </a:lvl6pPr>
            <a:lvl7pPr>
              <a:defRPr sz="1650">
                <a:solidFill>
                  <a:srgbClr val="173C32"/>
                </a:solidFill>
                <a:latin typeface="Arial"/>
                <a:ea typeface="Arial"/>
                <a:cs typeface="Arial"/>
              </a:defRPr>
            </a:lvl7pPr>
            <a:lvl8pPr>
              <a:defRPr sz="1650">
                <a:solidFill>
                  <a:srgbClr val="173C32"/>
                </a:solidFill>
                <a:latin typeface="Arial"/>
                <a:ea typeface="Arial"/>
                <a:cs typeface="Arial"/>
              </a:defRPr>
            </a:lvl8pPr>
            <a:lvl9pPr>
              <a:defRPr sz="1650">
                <a:solidFill>
                  <a:srgbClr val="173C32"/>
                </a:solidFill>
                <a:latin typeface="Arial"/>
                <a:ea typeface="Arial"/>
                <a:cs typeface="Arial"/>
              </a:defRPr>
            </a:lvl9pPr>
          </a:lstStyle>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Approval gate</a:t>
            </a:r>
          </a:p>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Recovery executor</a:t>
            </a:r>
          </a:p>
        </p:txBody>
      </p:sp>
      <p:sp>
        <p:nvSpPr>
          <p:cNvPr id="21" name="">
            <a:extLst xmlns:a="http://schemas.openxmlformats.org/drawingml/2006/main">
              <a:ext uri="{FF2B5EF4-FFF2-40B4-BE49-F238E27FC236}">
                <a16:creationId xmlns:a16="http://schemas.microsoft.com/office/drawing/2014/main" id="{206F62A5-BAB9-4A05-9A50-30C3F0FDE648}"/>
              </a:ext>
            </a:extLst>
          </p:cNvPr>
          <p:cNvSpPr>
            <a:spLocks xmlns:a="http://schemas.openxmlformats.org/drawingml/2006/main" noGrp="1"/>
          </p:cNvSpPr>
          <p:nvPr/>
        </p:nvSpPr>
        <p:spPr>
          <a:xfrm xmlns:a="http://schemas.openxmlformats.org/drawingml/2006/main">
            <a:off x="609600" y="581025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4"/>
                </a:solidFill>
                <a:latin typeface="Arial"/>
                <a:ea typeface="Arial"/>
                <a:cs typeface="Arial"/>
              </a:defRPr>
            </a:defPPr>
            <a:lvl1pPr>
              <a:defRPr sz="1875" b="0">
                <a:solidFill>
                  <a:srgbClr val="183D34"/>
                </a:solidFill>
                <a:latin typeface="Arial"/>
                <a:ea typeface="Arial"/>
                <a:cs typeface="Arial"/>
              </a:defRPr>
            </a:lvl1pPr>
            <a:lvl2pPr>
              <a:defRPr sz="1875" b="0">
                <a:solidFill>
                  <a:srgbClr val="183D34"/>
                </a:solidFill>
                <a:latin typeface="Arial"/>
                <a:ea typeface="Arial"/>
                <a:cs typeface="Arial"/>
              </a:defRPr>
            </a:lvl2pPr>
            <a:lvl3pPr>
              <a:defRPr sz="1875" b="0">
                <a:solidFill>
                  <a:srgbClr val="183D34"/>
                </a:solidFill>
                <a:latin typeface="Arial"/>
                <a:ea typeface="Arial"/>
                <a:cs typeface="Arial"/>
              </a:defRPr>
            </a:lvl3pPr>
            <a:lvl4pPr>
              <a:defRPr sz="1875" b="0">
                <a:solidFill>
                  <a:srgbClr val="183D34"/>
                </a:solidFill>
                <a:latin typeface="Arial"/>
                <a:ea typeface="Arial"/>
                <a:cs typeface="Arial"/>
              </a:defRPr>
            </a:lvl4pPr>
            <a:lvl5pPr>
              <a:defRPr sz="1875" b="0">
                <a:solidFill>
                  <a:srgbClr val="183D34"/>
                </a:solidFill>
                <a:latin typeface="Arial"/>
                <a:ea typeface="Arial"/>
                <a:cs typeface="Arial"/>
              </a:defRPr>
            </a:lvl5pPr>
            <a:lvl6pPr>
              <a:defRPr sz="1875" b="0">
                <a:solidFill>
                  <a:srgbClr val="183D34"/>
                </a:solidFill>
                <a:latin typeface="Arial"/>
                <a:ea typeface="Arial"/>
                <a:cs typeface="Arial"/>
              </a:defRPr>
            </a:lvl6pPr>
            <a:lvl7pPr>
              <a:defRPr sz="1875" b="0">
                <a:solidFill>
                  <a:srgbClr val="183D34"/>
                </a:solidFill>
                <a:latin typeface="Arial"/>
                <a:ea typeface="Arial"/>
                <a:cs typeface="Arial"/>
              </a:defRPr>
            </a:lvl7pPr>
            <a:lvl8pPr>
              <a:defRPr sz="1875" b="0">
                <a:solidFill>
                  <a:srgbClr val="183D34"/>
                </a:solidFill>
                <a:latin typeface="Arial"/>
                <a:ea typeface="Arial"/>
                <a:cs typeface="Arial"/>
              </a:defRPr>
            </a:lvl8pPr>
            <a:lvl9pPr>
              <a:defRPr sz="1875" b="0">
                <a:solidFill>
                  <a:srgbClr val="183D34"/>
                </a:solidFill>
                <a:latin typeface="Arial"/>
                <a:ea typeface="Arial"/>
                <a:cs typeface="Arial"/>
              </a:defRPr>
            </a:lvl9pPr>
          </a:lstStyle>
          <a:p xmlns:a="http://schemas.openxmlformats.org/drawingml/2006/main">
            <a:pPr>
              <a:defRPr sz="1875" b="0">
                <a:solidFill>
                  <a:srgbClr val="183D34"/>
                </a:solidFill>
                <a:latin typeface="Arial"/>
                <a:ea typeface="Arial"/>
                <a:cs typeface="Arial"/>
              </a:defRPr>
            </a:pPr>
            <a:r>
              <a:rPr sz="1875" b="0">
                <a:solidFill>
                  <a:srgbClr val="183D34"/>
                </a:solidFill>
                <a:latin typeface="Arial"/>
                <a:ea typeface="Arial"/>
                <a:cs typeface="Arial"/>
              </a:rPr>
              <a:t>Flask portal exposes workflow status, Signal investigations and lineage from the same persisted run</a:t>
            </a:r>
          </a:p>
        </p:txBody>
      </p:sp>
    </p:spTree>
    <p:extLst>
      <p:ext uri="{BB962C8B-B14F-4D97-AF65-F5344CB8AC3E}">
        <p14:creationId xmlns:p14="http://schemas.microsoft.com/office/powerpoint/2010/main" val="1891632624"/>
      </p:ext>
    </p:extLst>
  </p:cSld>
</p:sld>
</file>

<file path=ppt/slides/slide4.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DDEC796-9F1B-4082-9539-64ECA63B1669}"/>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D34"/>
                </a:solidFill>
              </a:defRPr>
            </a:defPPr>
            <a:lvl1pPr>
              <a:defRPr sz="3000" b="1">
                <a:solidFill>
                  <a:srgbClr val="183D34"/>
                </a:solidFill>
              </a:defRPr>
            </a:lvl1pPr>
            <a:lvl2pPr>
              <a:defRPr sz="3000" b="1">
                <a:solidFill>
                  <a:srgbClr val="183D34"/>
                </a:solidFill>
              </a:defRPr>
            </a:lvl2pPr>
            <a:lvl3pPr>
              <a:defRPr sz="3000" b="1">
                <a:solidFill>
                  <a:srgbClr val="183D34"/>
                </a:solidFill>
              </a:defRPr>
            </a:lvl3pPr>
            <a:lvl4pPr>
              <a:defRPr sz="3000" b="1">
                <a:solidFill>
                  <a:srgbClr val="183D34"/>
                </a:solidFill>
              </a:defRPr>
            </a:lvl4pPr>
            <a:lvl5pPr>
              <a:defRPr sz="3000" b="1">
                <a:solidFill>
                  <a:srgbClr val="183D34"/>
                </a:solidFill>
              </a:defRPr>
            </a:lvl5pPr>
            <a:lvl6pPr>
              <a:defRPr sz="3000" b="1">
                <a:solidFill>
                  <a:srgbClr val="183D34"/>
                </a:solidFill>
              </a:defRPr>
            </a:lvl6pPr>
            <a:lvl7pPr>
              <a:defRPr sz="3000" b="1">
                <a:solidFill>
                  <a:srgbClr val="183D34"/>
                </a:solidFill>
              </a:defRPr>
            </a:lvl7pPr>
            <a:lvl8pPr>
              <a:defRPr sz="3000" b="1">
                <a:solidFill>
                  <a:srgbClr val="183D34"/>
                </a:solidFill>
              </a:defRPr>
            </a:lvl8pPr>
            <a:lvl9pPr>
              <a:defRPr sz="3000" b="1">
                <a:solidFill>
                  <a:srgbClr val="183D34"/>
                </a:solidFill>
              </a:defRPr>
            </a:lvl9pPr>
          </a:lstStyle>
          <a:p xmlns:a="http://schemas.openxmlformats.org/drawingml/2006/main">
            <a:pPr>
              <a:defRPr sz="3000" b="1">
                <a:solidFill>
                  <a:srgbClr val="183D34"/>
                </a:solidFill>
              </a:defRPr>
            </a:pPr>
            <a:r>
              <a:rPr sz="3000" b="1">
                <a:solidFill>
                  <a:srgbClr val="183D34"/>
                </a:solidFill>
              </a:rPr>
              <a:t>Real implementation and synthetic boundaries</a:t>
            </a:r>
          </a:p>
        </p:txBody>
      </p:sp>
      <p:sp>
        <p:nvSpPr>
          <p:cNvPr id="3" name="">
            <a:extLst xmlns:a="http://schemas.openxmlformats.org/drawingml/2006/main">
              <a:ext uri="{FF2B5EF4-FFF2-40B4-BE49-F238E27FC236}">
                <a16:creationId xmlns:a16="http://schemas.microsoft.com/office/drawing/2014/main" id="{7D57735D-D8F8-4635-A431-69CD7DE58BF4}"/>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A62"/>
                </a:solidFill>
              </a:defRPr>
            </a:defPPr>
            <a:lvl1pPr>
              <a:defRPr sz="1200" b="0">
                <a:solidFill>
                  <a:srgbClr val="536A62"/>
                </a:solidFill>
              </a:defRPr>
            </a:lvl1pPr>
            <a:lvl2pPr>
              <a:defRPr sz="1200" b="0">
                <a:solidFill>
                  <a:srgbClr val="536A62"/>
                </a:solidFill>
              </a:defRPr>
            </a:lvl2pPr>
            <a:lvl3pPr>
              <a:defRPr sz="1200" b="0">
                <a:solidFill>
                  <a:srgbClr val="536A62"/>
                </a:solidFill>
              </a:defRPr>
            </a:lvl3pPr>
            <a:lvl4pPr>
              <a:defRPr sz="1200" b="0">
                <a:solidFill>
                  <a:srgbClr val="536A62"/>
                </a:solidFill>
              </a:defRPr>
            </a:lvl4pPr>
            <a:lvl5pPr>
              <a:defRPr sz="1200" b="0">
                <a:solidFill>
                  <a:srgbClr val="536A62"/>
                </a:solidFill>
              </a:defRPr>
            </a:lvl5pPr>
            <a:lvl6pPr>
              <a:defRPr sz="1200" b="0">
                <a:solidFill>
                  <a:srgbClr val="536A62"/>
                </a:solidFill>
              </a:defRPr>
            </a:lvl6pPr>
            <a:lvl7pPr>
              <a:defRPr sz="1200" b="0">
                <a:solidFill>
                  <a:srgbClr val="536A62"/>
                </a:solidFill>
              </a:defRPr>
            </a:lvl7pPr>
            <a:lvl8pPr>
              <a:defRPr sz="1200" b="0">
                <a:solidFill>
                  <a:srgbClr val="536A62"/>
                </a:solidFill>
              </a:defRPr>
            </a:lvl8pPr>
            <a:lvl9pPr>
              <a:defRPr sz="1200" b="0">
                <a:solidFill>
                  <a:srgbClr val="536A62"/>
                </a:solidFill>
              </a:defRPr>
            </a:lvl9pPr>
          </a:lstStyle>
          <a:p xmlns:a="http://schemas.openxmlformats.org/drawingml/2006/main">
            <a:pPr>
              <a:defRPr sz="1200" b="0">
                <a:solidFill>
                  <a:srgbClr val="536A62"/>
                </a:solidFill>
              </a:defRPr>
            </a:pPr>
            <a:r>
              <a:rPr sz="1200" b="0">
                <a:solidFill>
                  <a:srgbClr val="536A62"/>
                </a:solidFill>
              </a:rPr>
              <a:t>04</a:t>
            </a:r>
          </a:p>
        </p:txBody>
      </p:sp>
      <p:graphicFrame>
        <p:nvGraphicFramePr>
          <p:cNvPr id="4" name="">
            <a:extLst xmlns:a="http://schemas.openxmlformats.org/drawingml/2006/main">
              <a:ext uri="{FF2B5EF4-FFF2-40B4-BE49-F238E27FC236}">
                <a16:creationId xmlns:a16="http://schemas.microsoft.com/office/drawing/2014/main" id="{A05B186A-AFE6-4AE6-969A-D566FC5E95B2}"/>
              </a:ext>
            </a:extLst>
          </p:cNvPr>
          <p:cNvGraphicFramePr/>
          <p:nvPr/>
        </p:nvGraphicFramePr>
        <p:xfrm>
          <a:off xmlns:a="http://schemas.openxmlformats.org/drawingml/2006/main" x="609600" y="1428750"/>
          <a:ext xmlns:a="http://schemas.openxmlformats.org/drawingml/2006/main" cx="10972800" cy="4286250"/>
        </p:xfrm>
        <a:graphic xmlns:a="http://schemas.openxmlformats.org/drawingml/2006/main">
          <a:graphicData uri="http://schemas.openxmlformats.org/drawingml/2006/table">
            <a:tbl>
              <a:tblPr/>
              <a:tblGrid>
                <a:gridCol w="1857375"/>
                <a:gridCol w="4333875"/>
                <a:gridCol w="4781550"/>
              </a:tblGrid>
              <a:tr h="714375">
                <a:tc>
                  <a:txBody>
                    <a:bodyPr/>
                    <a:lstStyle/>
                    <a:p>
                      <a:r>
                        <a:rPr sz="1725" b="1">
                          <a:solidFill>
                            <a:srgbClr val="FFFFFF"/>
                          </a:solidFill>
                        </a:rPr>
                        <a:t>Area</a:t>
                      </a:r>
                    </a:p>
                  </a:txBody>
                  <a:tcPr marL="91440" marR="91440" marT="45720" marB="45720">
                    <a:lnL w="9525">
                      <a:solidFill>
                        <a:srgbClr val="C6D6CB"/>
                      </a:solidFill>
                      <a:prstDash val="solid"/>
                    </a:lnL>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c>
                  <a:txBody>
                    <a:bodyPr/>
                    <a:lstStyle/>
                    <a:p>
                      <a:r>
                        <a:rPr sz="1725" b="1">
                          <a:solidFill>
                            <a:srgbClr val="FFFFFF"/>
                          </a:solidFill>
                        </a:rPr>
                        <a:t>Real in this repository</a:t>
                      </a:r>
                    </a:p>
                  </a:txBody>
                  <a:tcPr marL="91440" marR="91440" marT="45720" marB="45720">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c>
                  <a:txBody>
                    <a:bodyPr/>
                    <a:lstStyle/>
                    <a:p>
                      <a:r>
                        <a:rPr sz="1725" b="1">
                          <a:solidFill>
                            <a:srgbClr val="FFFFFF"/>
                          </a:solidFill>
                        </a:rPr>
                        <a:t>Synthetic or pending</a:t>
                      </a:r>
                    </a:p>
                  </a:txBody>
                  <a:tcPr marL="91440" marR="91440" marT="45720" marB="45720">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r>
              <a:tr h="714375">
                <a:tc>
                  <a:txBody>
                    <a:bodyPr/>
                    <a:lstStyle/>
                    <a:p>
                      <a:r>
                        <a:rPr sz="1725" b="0">
                          <a:solidFill>
                            <a:srgbClr val="183D34"/>
                          </a:solidFill>
                        </a:rPr>
                        <a:t>Processing</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File reads, validation, routing, hashing</a:t>
                      </a:r>
                    </a:p>
                  </a:txBody>
                  <a:tcPr marL="91440" marR="91440" marT="45720" marB="45720">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Synthetic records and virtual clock</a:t>
                      </a:r>
                    </a:p>
                  </a:txBody>
                  <a:tcPr marL="91440" marR="91440" marT="45720" marB="45720">
                    <a:lnR w="9525">
                      <a:solidFill>
                        <a:srgbClr val="C6D6CB"/>
                      </a:solidFill>
                      <a:prstDash val="solid"/>
                    </a:lnR>
                    <a:lnB w="9525">
                      <a:solidFill>
                        <a:srgbClr val="C6D6CB"/>
                      </a:solidFill>
                      <a:prstDash val="solid"/>
                    </a:lnB>
                    <a:solidFill>
                      <a:srgbClr val="FFFFFF"/>
                    </a:solidFill>
                  </a:tcPr>
                </a:tc>
              </a:tr>
              <a:tr h="714375">
                <a:tc>
                  <a:txBody>
                    <a:bodyPr/>
                    <a:lstStyle/>
                    <a:p>
                      <a:r>
                        <a:rPr sz="1725" b="0">
                          <a:solidFill>
                            <a:srgbClr val="183D34"/>
                          </a:solidFill>
                        </a:rPr>
                        <a:t>Delivery</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E2EDE3"/>
                    </a:solidFill>
                  </a:tcPr>
                </a:tc>
                <a:tc>
                  <a:txBody>
                    <a:bodyPr/>
                    <a:lstStyle/>
                    <a:p>
                      <a:r>
                        <a:rPr sz="1725" b="0">
                          <a:solidFill>
                            <a:srgbClr val="183D34"/>
                          </a:solidFill>
                        </a:rPr>
                        <a:t>Adapter calls, manifests and retries</a:t>
                      </a:r>
                    </a:p>
                  </a:txBody>
                  <a:tcPr marL="91440" marR="91440" marT="45720" marB="45720">
                    <a:lnR w="9525">
                      <a:solidFill>
                        <a:srgbClr val="C6D6CB"/>
                      </a:solidFill>
                      <a:prstDash val="solid"/>
                    </a:lnR>
                    <a:lnB w="9525">
                      <a:solidFill>
                        <a:srgbClr val="C6D6CB"/>
                      </a:solidFill>
                      <a:prstDash val="solid"/>
                    </a:lnB>
                    <a:solidFill>
                      <a:srgbClr val="E2EDE3"/>
                    </a:solidFill>
                  </a:tcPr>
                </a:tc>
                <a:tc>
                  <a:txBody>
                    <a:bodyPr/>
                    <a:lstStyle/>
                    <a:p>
                      <a:r>
                        <a:rPr sz="1725" b="0">
                          <a:solidFill>
                            <a:srgbClr val="183D34"/>
                          </a:solidFill>
                        </a:rPr>
                        <a:t>Local broker and receiver, no network</a:t>
                      </a:r>
                    </a:p>
                  </a:txBody>
                  <a:tcPr marL="91440" marR="91440" marT="45720" marB="45720">
                    <a:lnR w="9525">
                      <a:solidFill>
                        <a:srgbClr val="C6D6CB"/>
                      </a:solidFill>
                      <a:prstDash val="solid"/>
                    </a:lnR>
                    <a:lnB w="9525">
                      <a:solidFill>
                        <a:srgbClr val="C6D6CB"/>
                      </a:solidFill>
                      <a:prstDash val="solid"/>
                    </a:lnB>
                    <a:solidFill>
                      <a:srgbClr val="E2EDE3"/>
                    </a:solidFill>
                  </a:tcPr>
                </a:tc>
              </a:tr>
              <a:tr h="714375">
                <a:tc>
                  <a:txBody>
                    <a:bodyPr/>
                    <a:lstStyle/>
                    <a:p>
                      <a:r>
                        <a:rPr sz="1725" b="0">
                          <a:solidFill>
                            <a:srgbClr val="183D34"/>
                          </a:solidFill>
                        </a:rPr>
                        <a:t>Investigation</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Deterministic risk rules and lineage</a:t>
                      </a:r>
                    </a:p>
                  </a:txBody>
                  <a:tcPr marL="91440" marR="91440" marT="45720" marB="45720">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Declared consumer dependencies</a:t>
                      </a:r>
                    </a:p>
                  </a:txBody>
                  <a:tcPr marL="91440" marR="91440" marT="45720" marB="45720">
                    <a:lnR w="9525">
                      <a:solidFill>
                        <a:srgbClr val="C6D6CB"/>
                      </a:solidFill>
                      <a:prstDash val="solid"/>
                    </a:lnR>
                    <a:lnB w="9525">
                      <a:solidFill>
                        <a:srgbClr val="C6D6CB"/>
                      </a:solidFill>
                      <a:prstDash val="solid"/>
                    </a:lnB>
                    <a:solidFill>
                      <a:srgbClr val="FFFFFF"/>
                    </a:solidFill>
                  </a:tcPr>
                </a:tc>
              </a:tr>
              <a:tr h="714375">
                <a:tc>
                  <a:txBody>
                    <a:bodyPr/>
                    <a:lstStyle/>
                    <a:p>
                      <a:r>
                        <a:rPr sz="1725" b="0">
                          <a:solidFill>
                            <a:srgbClr val="183D34"/>
                          </a:solidFill>
                        </a:rPr>
                        <a:t>Recovery</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E2EDE3"/>
                    </a:solidFill>
                  </a:tcPr>
                </a:tc>
                <a:tc>
                  <a:txBody>
                    <a:bodyPr/>
                    <a:lstStyle/>
                    <a:p>
                      <a:r>
                        <a:rPr sz="1725" b="0">
                          <a:solidFill>
                            <a:srgbClr val="183D34"/>
                          </a:solidFill>
                        </a:rPr>
                        <a:t>Evidence checks and selective retry</a:t>
                      </a:r>
                    </a:p>
                  </a:txBody>
                  <a:tcPr marL="91440" marR="91440" marT="45720" marB="45720">
                    <a:lnR w="9525">
                      <a:solidFill>
                        <a:srgbClr val="C6D6CB"/>
                      </a:solidFill>
                      <a:prstDash val="solid"/>
                    </a:lnR>
                    <a:lnB w="9525">
                      <a:solidFill>
                        <a:srgbClr val="C6D6CB"/>
                      </a:solidFill>
                      <a:prstDash val="solid"/>
                    </a:lnB>
                    <a:solidFill>
                      <a:srgbClr val="E2EDE3"/>
                    </a:solidFill>
                  </a:tcPr>
                </a:tc>
                <a:tc>
                  <a:txBody>
                    <a:bodyPr/>
                    <a:lstStyle/>
                    <a:p>
                      <a:r>
                        <a:rPr sz="1725" b="0">
                          <a:solidFill>
                            <a:srgbClr val="183D34"/>
                          </a:solidFill>
                        </a:rPr>
                        <a:t>Simulated requester and approver</a:t>
                      </a:r>
                    </a:p>
                  </a:txBody>
                  <a:tcPr marL="91440" marR="91440" marT="45720" marB="45720">
                    <a:lnR w="9525">
                      <a:solidFill>
                        <a:srgbClr val="C6D6CB"/>
                      </a:solidFill>
                      <a:prstDash val="solid"/>
                    </a:lnR>
                    <a:lnB w="9525">
                      <a:solidFill>
                        <a:srgbClr val="C6D6CB"/>
                      </a:solidFill>
                      <a:prstDash val="solid"/>
                    </a:lnB>
                    <a:solidFill>
                      <a:srgbClr val="E2EDE3"/>
                    </a:solidFill>
                  </a:tcPr>
                </a:tc>
              </a:tr>
              <a:tr h="714375">
                <a:tc>
                  <a:txBody>
                    <a:bodyPr/>
                    <a:lstStyle/>
                    <a:p>
                      <a:r>
                        <a:rPr sz="1725" b="0">
                          <a:solidFill>
                            <a:srgbClr val="183D34"/>
                          </a:solidFill>
                        </a:rPr>
                        <a:t>Platform</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Bundle generation and connector code</a:t>
                      </a:r>
                    </a:p>
                  </a:txBody>
                  <a:tcPr marL="91440" marR="91440" marT="45720" marB="45720">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No Databricks execution verified</a:t>
                      </a:r>
                    </a:p>
                  </a:txBody>
                  <a:tcPr marL="91440" marR="91440" marT="45720" marB="45720">
                    <a:lnR w="9525">
                      <a:solidFill>
                        <a:srgbClr val="C6D6CB"/>
                      </a:solidFill>
                      <a:prstDash val="solid"/>
                    </a:lnR>
                    <a:lnB w="9525">
                      <a:solidFill>
                        <a:srgbClr val="C6D6CB"/>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0866DEA-F61D-4A84-8D3C-719DCD17D808}"/>
              </a:ext>
            </a:extLst>
          </p:cNvPr>
          <p:cNvSpPr>
            <a:spLocks xmlns:a="http://schemas.openxmlformats.org/drawingml/2006/main" noGrp="1"/>
          </p:cNvSpPr>
          <p:nvPr/>
        </p:nvSpPr>
        <p:spPr>
          <a:xfrm xmlns:a="http://schemas.openxmlformats.org/drawingml/2006/main">
            <a:off x="609600" y="59721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8A4D16"/>
                </a:solidFill>
              </a:defRPr>
            </a:defPPr>
            <a:lvl1pPr>
              <a:defRPr sz="1650" b="0">
                <a:solidFill>
                  <a:srgbClr val="8A4D16"/>
                </a:solidFill>
              </a:defRPr>
            </a:lvl1pPr>
            <a:lvl2pPr>
              <a:defRPr sz="1650" b="0">
                <a:solidFill>
                  <a:srgbClr val="8A4D16"/>
                </a:solidFill>
              </a:defRPr>
            </a:lvl2pPr>
            <a:lvl3pPr>
              <a:defRPr sz="1650" b="0">
                <a:solidFill>
                  <a:srgbClr val="8A4D16"/>
                </a:solidFill>
              </a:defRPr>
            </a:lvl3pPr>
            <a:lvl4pPr>
              <a:defRPr sz="1650" b="0">
                <a:solidFill>
                  <a:srgbClr val="8A4D16"/>
                </a:solidFill>
              </a:defRPr>
            </a:lvl4pPr>
            <a:lvl5pPr>
              <a:defRPr sz="1650" b="0">
                <a:solidFill>
                  <a:srgbClr val="8A4D16"/>
                </a:solidFill>
              </a:defRPr>
            </a:lvl5pPr>
            <a:lvl6pPr>
              <a:defRPr sz="1650" b="0">
                <a:solidFill>
                  <a:srgbClr val="8A4D16"/>
                </a:solidFill>
              </a:defRPr>
            </a:lvl6pPr>
            <a:lvl7pPr>
              <a:defRPr sz="1650" b="0">
                <a:solidFill>
                  <a:srgbClr val="8A4D16"/>
                </a:solidFill>
              </a:defRPr>
            </a:lvl7pPr>
            <a:lvl8pPr>
              <a:defRPr sz="1650" b="0">
                <a:solidFill>
                  <a:srgbClr val="8A4D16"/>
                </a:solidFill>
              </a:defRPr>
            </a:lvl8pPr>
            <a:lvl9pPr>
              <a:defRPr sz="1650" b="0">
                <a:solidFill>
                  <a:srgbClr val="8A4D16"/>
                </a:solidFill>
              </a:defRPr>
            </a:lvl9pPr>
          </a:lstStyle>
          <a:p xmlns:a="http://schemas.openxmlformats.org/drawingml/2006/main">
            <a:pPr>
              <a:defRPr sz="1650" b="0">
                <a:solidFill>
                  <a:srgbClr val="8A4D16"/>
                </a:solidFill>
              </a:defRPr>
            </a:pPr>
            <a:r>
              <a:rPr sz="1650" b="0">
                <a:solidFill>
                  <a:srgbClr val="8A4D16"/>
                </a:solidFill>
              </a:rPr>
              <a:t>The local execution profile runs Delivery Lab Python operations. Exported Spark programs require a Databricks runtime.</a:t>
            </a:r>
          </a:p>
        </p:txBody>
      </p:sp>
    </p:spTree>
    <p:extLst>
      <p:ext uri="{BB962C8B-B14F-4D97-AF65-F5344CB8AC3E}">
        <p14:creationId xmlns:p14="http://schemas.microsoft.com/office/powerpoint/2010/main" val="189252717"/>
      </p:ext>
    </p:extLst>
  </p:cSld>
</p:sld>
</file>

<file path=ppt/slides/slide5.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13B80D8-65A5-4E36-B6D5-C6A91BFD0DE5}"/>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D34"/>
                </a:solidFill>
              </a:defRPr>
            </a:defPPr>
            <a:lvl1pPr>
              <a:defRPr sz="3000" b="1">
                <a:solidFill>
                  <a:srgbClr val="183D34"/>
                </a:solidFill>
              </a:defRPr>
            </a:lvl1pPr>
            <a:lvl2pPr>
              <a:defRPr sz="3000" b="1">
                <a:solidFill>
                  <a:srgbClr val="183D34"/>
                </a:solidFill>
              </a:defRPr>
            </a:lvl2pPr>
            <a:lvl3pPr>
              <a:defRPr sz="3000" b="1">
                <a:solidFill>
                  <a:srgbClr val="183D34"/>
                </a:solidFill>
              </a:defRPr>
            </a:lvl3pPr>
            <a:lvl4pPr>
              <a:defRPr sz="3000" b="1">
                <a:solidFill>
                  <a:srgbClr val="183D34"/>
                </a:solidFill>
              </a:defRPr>
            </a:lvl4pPr>
            <a:lvl5pPr>
              <a:defRPr sz="3000" b="1">
                <a:solidFill>
                  <a:srgbClr val="183D34"/>
                </a:solidFill>
              </a:defRPr>
            </a:lvl5pPr>
            <a:lvl6pPr>
              <a:defRPr sz="3000" b="1">
                <a:solidFill>
                  <a:srgbClr val="183D34"/>
                </a:solidFill>
              </a:defRPr>
            </a:lvl6pPr>
            <a:lvl7pPr>
              <a:defRPr sz="3000" b="1">
                <a:solidFill>
                  <a:srgbClr val="183D34"/>
                </a:solidFill>
              </a:defRPr>
            </a:lvl7pPr>
            <a:lvl8pPr>
              <a:defRPr sz="3000" b="1">
                <a:solidFill>
                  <a:srgbClr val="183D34"/>
                </a:solidFill>
              </a:defRPr>
            </a:lvl8pPr>
            <a:lvl9pPr>
              <a:defRPr sz="3000" b="1">
                <a:solidFill>
                  <a:srgbClr val="183D34"/>
                </a:solidFill>
              </a:defRPr>
            </a:lvl9pPr>
          </a:lstStyle>
          <a:p xmlns:a="http://schemas.openxmlformats.org/drawingml/2006/main">
            <a:pPr>
              <a:defRPr sz="3000" b="1">
                <a:solidFill>
                  <a:srgbClr val="183D34"/>
                </a:solidFill>
              </a:defRPr>
            </a:pPr>
            <a:r>
              <a:rPr sz="3000" b="1">
                <a:solidFill>
                  <a:srgbClr val="183D34"/>
                </a:solidFill>
              </a:rPr>
              <a:t>Guided demo walkthrough</a:t>
            </a:r>
          </a:p>
        </p:txBody>
      </p:sp>
      <p:sp>
        <p:nvSpPr>
          <p:cNvPr id="3" name="">
            <a:extLst xmlns:a="http://schemas.openxmlformats.org/drawingml/2006/main">
              <a:ext uri="{FF2B5EF4-FFF2-40B4-BE49-F238E27FC236}">
                <a16:creationId xmlns:a16="http://schemas.microsoft.com/office/drawing/2014/main" id="{6C1CDDE7-CF56-4D72-9FE9-6CF7C5E80CEA}"/>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A62"/>
                </a:solidFill>
              </a:defRPr>
            </a:defPPr>
            <a:lvl1pPr>
              <a:defRPr sz="1200" b="0">
                <a:solidFill>
                  <a:srgbClr val="536A62"/>
                </a:solidFill>
              </a:defRPr>
            </a:lvl1pPr>
            <a:lvl2pPr>
              <a:defRPr sz="1200" b="0">
                <a:solidFill>
                  <a:srgbClr val="536A62"/>
                </a:solidFill>
              </a:defRPr>
            </a:lvl2pPr>
            <a:lvl3pPr>
              <a:defRPr sz="1200" b="0">
                <a:solidFill>
                  <a:srgbClr val="536A62"/>
                </a:solidFill>
              </a:defRPr>
            </a:lvl3pPr>
            <a:lvl4pPr>
              <a:defRPr sz="1200" b="0">
                <a:solidFill>
                  <a:srgbClr val="536A62"/>
                </a:solidFill>
              </a:defRPr>
            </a:lvl4pPr>
            <a:lvl5pPr>
              <a:defRPr sz="1200" b="0">
                <a:solidFill>
                  <a:srgbClr val="536A62"/>
                </a:solidFill>
              </a:defRPr>
            </a:lvl5pPr>
            <a:lvl6pPr>
              <a:defRPr sz="1200" b="0">
                <a:solidFill>
                  <a:srgbClr val="536A62"/>
                </a:solidFill>
              </a:defRPr>
            </a:lvl6pPr>
            <a:lvl7pPr>
              <a:defRPr sz="1200" b="0">
                <a:solidFill>
                  <a:srgbClr val="536A62"/>
                </a:solidFill>
              </a:defRPr>
            </a:lvl7pPr>
            <a:lvl8pPr>
              <a:defRPr sz="1200" b="0">
                <a:solidFill>
                  <a:srgbClr val="536A62"/>
                </a:solidFill>
              </a:defRPr>
            </a:lvl8pPr>
            <a:lvl9pPr>
              <a:defRPr sz="1200" b="0">
                <a:solidFill>
                  <a:srgbClr val="536A62"/>
                </a:solidFill>
              </a:defRPr>
            </a:lvl9pPr>
          </a:lstStyle>
          <a:p xmlns:a="http://schemas.openxmlformats.org/drawingml/2006/main">
            <a:pPr>
              <a:defRPr sz="1200" b="0">
                <a:solidFill>
                  <a:srgbClr val="536A62"/>
                </a:solidFill>
              </a:defRPr>
            </a:pPr>
            <a:r>
              <a:rPr sz="1200" b="0">
                <a:solidFill>
                  <a:srgbClr val="536A62"/>
                </a:solidFill>
              </a:rPr>
              <a:t>05</a:t>
            </a:r>
          </a:p>
        </p:txBody>
      </p:sp>
      <p:graphicFrame>
        <p:nvGraphicFramePr>
          <p:cNvPr id="4" name="">
            <a:extLst xmlns:a="http://schemas.openxmlformats.org/drawingml/2006/main">
              <a:ext uri="{FF2B5EF4-FFF2-40B4-BE49-F238E27FC236}">
                <a16:creationId xmlns:a16="http://schemas.microsoft.com/office/drawing/2014/main" id="{343BD028-DACA-460F-82F6-BBE0DA2FD853}"/>
              </a:ext>
            </a:extLst>
          </p:cNvPr>
          <p:cNvGraphicFramePr/>
          <p:nvPr/>
        </p:nvGraphicFramePr>
        <p:xfrm>
          <a:off xmlns:a="http://schemas.openxmlformats.org/drawingml/2006/main" x="609600" y="1428750"/>
          <a:ext xmlns:a="http://schemas.openxmlformats.org/drawingml/2006/main" cx="10972800" cy="4191000"/>
        </p:xfrm>
        <a:graphic xmlns:a="http://schemas.openxmlformats.org/drawingml/2006/main">
          <a:graphicData uri="http://schemas.openxmlformats.org/drawingml/2006/table">
            <a:tbl>
              <a:tblPr/>
              <a:tblGrid>
                <a:gridCol w="2762250"/>
                <a:gridCol w="3714750"/>
                <a:gridCol w="4495800"/>
              </a:tblGrid>
              <a:tr h="698500">
                <a:tc>
                  <a:txBody>
                    <a:bodyPr/>
                    <a:lstStyle/>
                    <a:p>
                      <a:r>
                        <a:rPr sz="1725" b="1">
                          <a:solidFill>
                            <a:srgbClr val="FFFFFF"/>
                          </a:solidFill>
                        </a:rPr>
                        <a:t>Step</a:t>
                      </a:r>
                    </a:p>
                  </a:txBody>
                  <a:tcPr marL="91440" marR="91440" marT="45720" marB="45720">
                    <a:lnL w="9525">
                      <a:solidFill>
                        <a:srgbClr val="C6D6CB"/>
                      </a:solidFill>
                      <a:prstDash val="solid"/>
                    </a:lnL>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c>
                  <a:txBody>
                    <a:bodyPr/>
                    <a:lstStyle/>
                    <a:p>
                      <a:r>
                        <a:rPr sz="1725" b="1">
                          <a:solidFill>
                            <a:srgbClr val="FFFFFF"/>
                          </a:solidFill>
                        </a:rPr>
                        <a:t>Manager sees</a:t>
                      </a:r>
                    </a:p>
                  </a:txBody>
                  <a:tcPr marL="91440" marR="91440" marT="45720" marB="45720">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c>
                  <a:txBody>
                    <a:bodyPr/>
                    <a:lstStyle/>
                    <a:p>
                      <a:r>
                        <a:rPr sz="1725" b="1">
                          <a:solidFill>
                            <a:srgbClr val="FFFFFF"/>
                          </a:solidFill>
                        </a:rPr>
                        <a:t>Evidence to inspect</a:t>
                      </a:r>
                    </a:p>
                  </a:txBody>
                  <a:tcPr marL="91440" marR="91440" marT="45720" marB="45720">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r>
              <a:tr h="698500">
                <a:tc>
                  <a:txBody>
                    <a:bodyPr/>
                    <a:lstStyle/>
                    <a:p>
                      <a:r>
                        <a:rPr sz="1725" b="0">
                          <a:solidFill>
                            <a:srgbClr val="183D34"/>
                          </a:solidFill>
                        </a:rPr>
                        <a:t>1. Workflow ready</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Generated plan and task graph</a:t>
                      </a:r>
                    </a:p>
                  </a:txBody>
                  <a:tcPr marL="91440" marR="91440" marT="45720" marB="45720">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Plan fingerprint and frozen configuration</a:t>
                      </a:r>
                    </a:p>
                  </a:txBody>
                  <a:tcPr marL="91440" marR="91440" marT="45720" marB="45720">
                    <a:lnR w="9525">
                      <a:solidFill>
                        <a:srgbClr val="C6D6CB"/>
                      </a:solidFill>
                      <a:prstDash val="solid"/>
                    </a:lnR>
                    <a:lnB w="9525">
                      <a:solidFill>
                        <a:srgbClr val="C6D6CB"/>
                      </a:solidFill>
                      <a:prstDash val="solid"/>
                    </a:lnB>
                    <a:solidFill>
                      <a:srgbClr val="FFFFFF"/>
                    </a:solidFill>
                  </a:tcPr>
                </a:tc>
              </a:tr>
              <a:tr h="698500">
                <a:tc>
                  <a:txBody>
                    <a:bodyPr/>
                    <a:lstStyle/>
                    <a:p>
                      <a:r>
                        <a:rPr sz="1725" b="0">
                          <a:solidFill>
                            <a:srgbClr val="183D34"/>
                          </a:solidFill>
                        </a:rPr>
                        <a:t>2. Execute</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E2EDE3"/>
                    </a:solidFill>
                  </a:tcPr>
                </a:tc>
                <a:tc>
                  <a:txBody>
                    <a:bodyPr/>
                    <a:lstStyle/>
                    <a:p>
                      <a:r>
                        <a:rPr sz="1725" b="0">
                          <a:solidFill>
                            <a:srgbClr val="183D34"/>
                          </a:solidFill>
                        </a:rPr>
                        <a:t>Validation passes, MFTS fails</a:t>
                      </a:r>
                    </a:p>
                  </a:txBody>
                  <a:tcPr marL="91440" marR="91440" marT="45720" marB="45720">
                    <a:lnR w="9525">
                      <a:solidFill>
                        <a:srgbClr val="C6D6CB"/>
                      </a:solidFill>
                      <a:prstDash val="solid"/>
                    </a:lnR>
                    <a:lnB w="9525">
                      <a:solidFill>
                        <a:srgbClr val="C6D6CB"/>
                      </a:solidFill>
                      <a:prstDash val="solid"/>
                    </a:lnB>
                    <a:solidFill>
                      <a:srgbClr val="E2EDE3"/>
                    </a:solidFill>
                  </a:tcPr>
                </a:tc>
                <a:tc>
                  <a:txBody>
                    <a:bodyPr/>
                    <a:lstStyle/>
                    <a:p>
                      <a:r>
                        <a:rPr sz="1725" b="0">
                          <a:solidFill>
                            <a:srgbClr val="183D34"/>
                          </a:solidFill>
                        </a:rPr>
                        <a:t>5 broker records, 0 transfer artifacts</a:t>
                      </a:r>
                    </a:p>
                  </a:txBody>
                  <a:tcPr marL="91440" marR="91440" marT="45720" marB="45720">
                    <a:lnR w="9525">
                      <a:solidFill>
                        <a:srgbClr val="C6D6CB"/>
                      </a:solidFill>
                      <a:prstDash val="solid"/>
                    </a:lnR>
                    <a:lnB w="9525">
                      <a:solidFill>
                        <a:srgbClr val="C6D6CB"/>
                      </a:solidFill>
                      <a:prstDash val="solid"/>
                    </a:lnB>
                    <a:solidFill>
                      <a:srgbClr val="E2EDE3"/>
                    </a:solidFill>
                  </a:tcPr>
                </a:tc>
              </a:tr>
              <a:tr h="698500">
                <a:tc>
                  <a:txBody>
                    <a:bodyPr/>
                    <a:lstStyle/>
                    <a:p>
                      <a:r>
                        <a:rPr sz="1725" b="0">
                          <a:solidFill>
                            <a:srgbClr val="183D34"/>
                          </a:solidFill>
                        </a:rPr>
                        <a:t>3–4. Detect and investigate</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BREACHED risk and exposed reports</a:t>
                      </a:r>
                    </a:p>
                  </a:txBody>
                  <a:tcPr marL="91440" marR="91440" marT="45720" marB="45720">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Channel manifest, lineage and reasons</a:t>
                      </a:r>
                    </a:p>
                  </a:txBody>
                  <a:tcPr marL="91440" marR="91440" marT="45720" marB="45720">
                    <a:lnR w="9525">
                      <a:solidFill>
                        <a:srgbClr val="C6D6CB"/>
                      </a:solidFill>
                      <a:prstDash val="solid"/>
                    </a:lnR>
                    <a:lnB w="9525">
                      <a:solidFill>
                        <a:srgbClr val="C6D6CB"/>
                      </a:solidFill>
                      <a:prstDash val="solid"/>
                    </a:lnB>
                    <a:solidFill>
                      <a:srgbClr val="FFFFFF"/>
                    </a:solidFill>
                  </a:tcPr>
                </a:tc>
              </a:tr>
              <a:tr h="698500">
                <a:tc>
                  <a:txBody>
                    <a:bodyPr/>
                    <a:lstStyle/>
                    <a:p>
                      <a:r>
                        <a:rPr sz="1725" b="0">
                          <a:solidFill>
                            <a:srgbClr val="183D34"/>
                          </a:solidFill>
                        </a:rPr>
                        <a:t>5–6. Request and approve</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E2EDE3"/>
                    </a:solidFill>
                  </a:tcPr>
                </a:tc>
                <a:tc>
                  <a:txBody>
                    <a:bodyPr/>
                    <a:lstStyle/>
                    <a:p>
                      <a:r>
                        <a:rPr sz="1725" b="0">
                          <a:solidFill>
                            <a:srgbClr val="183D34"/>
                          </a:solidFill>
                        </a:rPr>
                        <a:t>Request then separate approval</a:t>
                      </a:r>
                    </a:p>
                  </a:txBody>
                  <a:tcPr marL="91440" marR="91440" marT="45720" marB="45720">
                    <a:lnR w="9525">
                      <a:solidFill>
                        <a:srgbClr val="C6D6CB"/>
                      </a:solidFill>
                      <a:prstDash val="solid"/>
                    </a:lnR>
                    <a:lnB w="9525">
                      <a:solidFill>
                        <a:srgbClr val="C6D6CB"/>
                      </a:solidFill>
                      <a:prstDash val="solid"/>
                    </a:lnB>
                    <a:solidFill>
                      <a:srgbClr val="E2EDE3"/>
                    </a:solidFill>
                  </a:tcPr>
                </a:tc>
                <a:tc>
                  <a:txBody>
                    <a:bodyPr/>
                    <a:lstStyle/>
                    <a:p>
                      <a:r>
                        <a:rPr sz="1725" b="0">
                          <a:solidFill>
                            <a:srgbClr val="183D34"/>
                          </a:solidFill>
                        </a:rPr>
                        <a:t>Action bound to current evidence hash</a:t>
                      </a:r>
                    </a:p>
                  </a:txBody>
                  <a:tcPr marL="91440" marR="91440" marT="45720" marB="45720">
                    <a:lnR w="9525">
                      <a:solidFill>
                        <a:srgbClr val="C6D6CB"/>
                      </a:solidFill>
                      <a:prstDash val="solid"/>
                    </a:lnR>
                    <a:lnB w="9525">
                      <a:solidFill>
                        <a:srgbClr val="C6D6CB"/>
                      </a:solidFill>
                      <a:prstDash val="solid"/>
                    </a:lnB>
                    <a:solidFill>
                      <a:srgbClr val="E2EDE3"/>
                    </a:solidFill>
                  </a:tcPr>
                </a:tc>
              </a:tr>
              <a:tr h="698500">
                <a:tc>
                  <a:txBody>
                    <a:bodyPr/>
                    <a:lstStyle/>
                    <a:p>
                      <a:r>
                        <a:rPr sz="1725" b="0">
                          <a:solidFill>
                            <a:srgbClr val="183D34"/>
                          </a:solidFill>
                        </a:rPr>
                        <a:t>7–8. Recover and verify</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MFTS completes, reports turn green</a:t>
                      </a:r>
                    </a:p>
                  </a:txBody>
                  <a:tcPr marL="91440" marR="91440" marT="45720" marB="45720">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Kafka stays at 5, payload checks pass</a:t>
                      </a:r>
                    </a:p>
                  </a:txBody>
                  <a:tcPr marL="91440" marR="91440" marT="45720" marB="45720">
                    <a:lnR w="9525">
                      <a:solidFill>
                        <a:srgbClr val="C6D6CB"/>
                      </a:solidFill>
                      <a:prstDash val="solid"/>
                    </a:lnR>
                    <a:lnB w="9525">
                      <a:solidFill>
                        <a:srgbClr val="C6D6CB"/>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3D41BD5-C635-4F44-96FC-AE882AB72B57}"/>
              </a:ext>
            </a:extLst>
          </p:cNvPr>
          <p:cNvSpPr>
            <a:spLocks xmlns:a="http://schemas.openxmlformats.org/drawingml/2006/main" noGrp="1"/>
          </p:cNvSpPr>
          <p:nvPr/>
        </p:nvSpPr>
        <p:spPr>
          <a:xfrm xmlns:a="http://schemas.openxmlformats.org/drawingml/2006/main">
            <a:off x="609600" y="595312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A6B4D"/>
                </a:solidFill>
              </a:defRPr>
            </a:defPPr>
            <a:lvl1pPr>
              <a:defRPr sz="1725" b="1">
                <a:solidFill>
                  <a:srgbClr val="2A6B4D"/>
                </a:solidFill>
              </a:defRPr>
            </a:lvl1pPr>
            <a:lvl2pPr>
              <a:defRPr sz="1725" b="1">
                <a:solidFill>
                  <a:srgbClr val="2A6B4D"/>
                </a:solidFill>
              </a:defRPr>
            </a:lvl2pPr>
            <a:lvl3pPr>
              <a:defRPr sz="1725" b="1">
                <a:solidFill>
                  <a:srgbClr val="2A6B4D"/>
                </a:solidFill>
              </a:defRPr>
            </a:lvl3pPr>
            <a:lvl4pPr>
              <a:defRPr sz="1725" b="1">
                <a:solidFill>
                  <a:srgbClr val="2A6B4D"/>
                </a:solidFill>
              </a:defRPr>
            </a:lvl4pPr>
            <a:lvl5pPr>
              <a:defRPr sz="1725" b="1">
                <a:solidFill>
                  <a:srgbClr val="2A6B4D"/>
                </a:solidFill>
              </a:defRPr>
            </a:lvl5pPr>
            <a:lvl6pPr>
              <a:defRPr sz="1725" b="1">
                <a:solidFill>
                  <a:srgbClr val="2A6B4D"/>
                </a:solidFill>
              </a:defRPr>
            </a:lvl6pPr>
            <a:lvl7pPr>
              <a:defRPr sz="1725" b="1">
                <a:solidFill>
                  <a:srgbClr val="2A6B4D"/>
                </a:solidFill>
              </a:defRPr>
            </a:lvl7pPr>
            <a:lvl8pPr>
              <a:defRPr sz="1725" b="1">
                <a:solidFill>
                  <a:srgbClr val="2A6B4D"/>
                </a:solidFill>
              </a:defRPr>
            </a:lvl8pPr>
            <a:lvl9pPr>
              <a:defRPr sz="1725" b="1">
                <a:solidFill>
                  <a:srgbClr val="2A6B4D"/>
                </a:solidFill>
              </a:defRPr>
            </a:lvl9pPr>
          </a:lstStyle>
          <a:p xmlns:a="http://schemas.openxmlformats.org/drawingml/2006/main">
            <a:pPr>
              <a:defRPr sz="1725" b="1">
                <a:solidFill>
                  <a:srgbClr val="2A6B4D"/>
                </a:solidFill>
              </a:defRPr>
            </a:pPr>
            <a:r>
              <a:rPr sz="1725" b="1">
                <a:solidFill>
                  <a:srgbClr val="2A6B4D"/>
                </a:solidFill>
              </a:rPr>
              <a:t>Live entry: http://127.0.0.1:8080/demo</a:t>
            </a:r>
          </a:p>
          <a:p xmlns:a="http://schemas.openxmlformats.org/drawingml/2006/main">
            <a:pPr>
              <a:defRPr sz="1725" b="1">
                <a:solidFill>
                  <a:srgbClr val="2A6B4D"/>
                </a:solidFill>
              </a:defRPr>
            </a:pPr>
            <a:r>
              <a:rPr sz="1725" b="1">
                <a:solidFill>
                  <a:srgbClr val="2A6B4D"/>
                </a:solidFill>
              </a:rPr>
              <a:t>Autoplay takes about one minute</a:t>
            </a:r>
          </a:p>
        </p:txBody>
      </p:sp>
    </p:spTree>
    <p:extLst>
      <p:ext uri="{BB962C8B-B14F-4D97-AF65-F5344CB8AC3E}">
        <p14:creationId xmlns:p14="http://schemas.microsoft.com/office/powerpoint/2010/main" val="135272935"/>
      </p:ext>
    </p:extLst>
  </p:cSld>
</p:sld>
</file>

<file path=ppt/slides/slide6.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1939AB6-64AE-405E-8DBB-7D18219305E7}"/>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D34"/>
                </a:solidFill>
              </a:defRPr>
            </a:defPPr>
            <a:lvl1pPr>
              <a:defRPr sz="3000" b="1">
                <a:solidFill>
                  <a:srgbClr val="183D34"/>
                </a:solidFill>
              </a:defRPr>
            </a:lvl1pPr>
            <a:lvl2pPr>
              <a:defRPr sz="3000" b="1">
                <a:solidFill>
                  <a:srgbClr val="183D34"/>
                </a:solidFill>
              </a:defRPr>
            </a:lvl2pPr>
            <a:lvl3pPr>
              <a:defRPr sz="3000" b="1">
                <a:solidFill>
                  <a:srgbClr val="183D34"/>
                </a:solidFill>
              </a:defRPr>
            </a:lvl3pPr>
            <a:lvl4pPr>
              <a:defRPr sz="3000" b="1">
                <a:solidFill>
                  <a:srgbClr val="183D34"/>
                </a:solidFill>
              </a:defRPr>
            </a:lvl4pPr>
            <a:lvl5pPr>
              <a:defRPr sz="3000" b="1">
                <a:solidFill>
                  <a:srgbClr val="183D34"/>
                </a:solidFill>
              </a:defRPr>
            </a:lvl5pPr>
            <a:lvl6pPr>
              <a:defRPr sz="3000" b="1">
                <a:solidFill>
                  <a:srgbClr val="183D34"/>
                </a:solidFill>
              </a:defRPr>
            </a:lvl6pPr>
            <a:lvl7pPr>
              <a:defRPr sz="3000" b="1">
                <a:solidFill>
                  <a:srgbClr val="183D34"/>
                </a:solidFill>
              </a:defRPr>
            </a:lvl7pPr>
            <a:lvl8pPr>
              <a:defRPr sz="3000" b="1">
                <a:solidFill>
                  <a:srgbClr val="183D34"/>
                </a:solidFill>
              </a:defRPr>
            </a:lvl8pPr>
            <a:lvl9pPr>
              <a:defRPr sz="3000" b="1">
                <a:solidFill>
                  <a:srgbClr val="183D34"/>
                </a:solidFill>
              </a:defRPr>
            </a:lvl9pPr>
          </a:lstStyle>
          <a:p xmlns:a="http://schemas.openxmlformats.org/drawingml/2006/main">
            <a:pPr>
              <a:defRPr sz="3000" b="1">
                <a:solidFill>
                  <a:srgbClr val="183D34"/>
                </a:solidFill>
              </a:defRPr>
            </a:pPr>
            <a:r>
              <a:rPr sz="3000" b="1">
                <a:solidFill>
                  <a:srgbClr val="183D34"/>
                </a:solidFill>
              </a:rPr>
              <a:t>Recovery proof in the golden scenario</a:t>
            </a:r>
          </a:p>
        </p:txBody>
      </p:sp>
      <p:sp>
        <p:nvSpPr>
          <p:cNvPr id="3" name="">
            <a:extLst xmlns:a="http://schemas.openxmlformats.org/drawingml/2006/main">
              <a:ext uri="{FF2B5EF4-FFF2-40B4-BE49-F238E27FC236}">
                <a16:creationId xmlns:a16="http://schemas.microsoft.com/office/drawing/2014/main" id="{9E554817-6769-44D7-A5E3-AE01B04427A9}"/>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A62"/>
                </a:solidFill>
              </a:defRPr>
            </a:defPPr>
            <a:lvl1pPr>
              <a:defRPr sz="1200" b="0">
                <a:solidFill>
                  <a:srgbClr val="536A62"/>
                </a:solidFill>
              </a:defRPr>
            </a:lvl1pPr>
            <a:lvl2pPr>
              <a:defRPr sz="1200" b="0">
                <a:solidFill>
                  <a:srgbClr val="536A62"/>
                </a:solidFill>
              </a:defRPr>
            </a:lvl2pPr>
            <a:lvl3pPr>
              <a:defRPr sz="1200" b="0">
                <a:solidFill>
                  <a:srgbClr val="536A62"/>
                </a:solidFill>
              </a:defRPr>
            </a:lvl3pPr>
            <a:lvl4pPr>
              <a:defRPr sz="1200" b="0">
                <a:solidFill>
                  <a:srgbClr val="536A62"/>
                </a:solidFill>
              </a:defRPr>
            </a:lvl4pPr>
            <a:lvl5pPr>
              <a:defRPr sz="1200" b="0">
                <a:solidFill>
                  <a:srgbClr val="536A62"/>
                </a:solidFill>
              </a:defRPr>
            </a:lvl5pPr>
            <a:lvl6pPr>
              <a:defRPr sz="1200" b="0">
                <a:solidFill>
                  <a:srgbClr val="536A62"/>
                </a:solidFill>
              </a:defRPr>
            </a:lvl6pPr>
            <a:lvl7pPr>
              <a:defRPr sz="1200" b="0">
                <a:solidFill>
                  <a:srgbClr val="536A62"/>
                </a:solidFill>
              </a:defRPr>
            </a:lvl7pPr>
            <a:lvl8pPr>
              <a:defRPr sz="1200" b="0">
                <a:solidFill>
                  <a:srgbClr val="536A62"/>
                </a:solidFill>
              </a:defRPr>
            </a:lvl8pPr>
            <a:lvl9pPr>
              <a:defRPr sz="1200" b="0">
                <a:solidFill>
                  <a:srgbClr val="536A62"/>
                </a:solidFill>
              </a:defRPr>
            </a:lvl9pPr>
          </a:lstStyle>
          <a:p xmlns:a="http://schemas.openxmlformats.org/drawingml/2006/main">
            <a:pPr>
              <a:defRPr sz="1200" b="0">
                <a:solidFill>
                  <a:srgbClr val="536A62"/>
                </a:solidFill>
              </a:defRPr>
            </a:pPr>
            <a:r>
              <a:rPr sz="1200" b="0">
                <a:solidFill>
                  <a:srgbClr val="536A62"/>
                </a:solidFill>
              </a:rPr>
              <a:t>06</a:t>
            </a:r>
          </a:p>
        </p:txBody>
      </p:sp>
      <p:graphicFrame>
        <p:nvGraphicFramePr>
          <p:cNvPr id="4" name="">
            <a:extLst xmlns:a="http://schemas.openxmlformats.org/drawingml/2006/main">
              <a:ext uri="{FF2B5EF4-FFF2-40B4-BE49-F238E27FC236}">
                <a16:creationId xmlns:a16="http://schemas.microsoft.com/office/drawing/2014/main" id="{F2D3BAC7-718A-4783-A9E8-5A84F8D28A1C}"/>
              </a:ext>
            </a:extLst>
          </p:cNvPr>
          <p:cNvGraphicFramePr/>
          <p:nvPr/>
        </p:nvGraphicFramePr>
        <p:xfrm>
          <a:off xmlns:a="http://schemas.openxmlformats.org/drawingml/2006/main" x="609600" y="1476375"/>
          <a:ext xmlns:a="http://schemas.openxmlformats.org/drawingml/2006/main" cx="10972800" cy="4048125"/>
        </p:xfrm>
        <a:graphic xmlns:a="http://schemas.openxmlformats.org/drawingml/2006/main">
          <a:graphicData uri="http://schemas.openxmlformats.org/drawingml/2006/table">
            <a:tbl>
              <a:tblPr/>
              <a:tblGrid>
                <a:gridCol w="4000500"/>
                <a:gridCol w="2857500"/>
                <a:gridCol w="4114800"/>
              </a:tblGrid>
              <a:tr h="674688">
                <a:tc>
                  <a:txBody>
                    <a:bodyPr/>
                    <a:lstStyle/>
                    <a:p>
                      <a:r>
                        <a:rPr sz="1875" b="1">
                          <a:solidFill>
                            <a:srgbClr val="FFFFFF"/>
                          </a:solidFill>
                        </a:rPr>
                        <a:t>Observed evidence</a:t>
                      </a:r>
                    </a:p>
                  </a:txBody>
                  <a:tcPr marL="91440" marR="91440" marT="45720" marB="45720">
                    <a:lnL w="9525">
                      <a:solidFill>
                        <a:srgbClr val="C6D6CB"/>
                      </a:solidFill>
                      <a:prstDash val="solid"/>
                    </a:lnL>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c>
                  <a:txBody>
                    <a:bodyPr/>
                    <a:lstStyle/>
                    <a:p>
                      <a:r>
                        <a:rPr sz="1875" b="1">
                          <a:solidFill>
                            <a:srgbClr val="FFFFFF"/>
                          </a:solidFill>
                        </a:rPr>
                        <a:t>After failure</a:t>
                      </a:r>
                    </a:p>
                  </a:txBody>
                  <a:tcPr marL="91440" marR="91440" marT="45720" marB="45720">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c>
                  <a:txBody>
                    <a:bodyPr/>
                    <a:lstStyle/>
                    <a:p>
                      <a:r>
                        <a:rPr sz="1875" b="1">
                          <a:solidFill>
                            <a:srgbClr val="FFFFFF"/>
                          </a:solidFill>
                        </a:rPr>
                        <a:t>After recovery and verification</a:t>
                      </a:r>
                    </a:p>
                  </a:txBody>
                  <a:tcPr marL="91440" marR="91440" marT="45720" marB="45720">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r>
              <a:tr h="674688">
                <a:tc>
                  <a:txBody>
                    <a:bodyPr/>
                    <a:lstStyle/>
                    <a:p>
                      <a:r>
                        <a:rPr sz="1875" b="0">
                          <a:solidFill>
                            <a:srgbClr val="183D34"/>
                          </a:solidFill>
                        </a:rPr>
                        <a:t>Accepted Kafka records</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FFFFFF"/>
                    </a:solidFill>
                  </a:tcPr>
                </a:tc>
                <a:tc>
                  <a:txBody>
                    <a:bodyPr/>
                    <a:lstStyle/>
                    <a:p>
                      <a:r>
                        <a:rPr sz="1875" b="0">
                          <a:solidFill>
                            <a:srgbClr val="183D34"/>
                          </a:solidFill>
                        </a:rPr>
                        <a:t>5</a:t>
                      </a:r>
                    </a:p>
                  </a:txBody>
                  <a:tcPr marL="91440" marR="91440" marT="45720" marB="45720">
                    <a:lnR w="9525">
                      <a:solidFill>
                        <a:srgbClr val="C6D6CB"/>
                      </a:solidFill>
                      <a:prstDash val="solid"/>
                    </a:lnR>
                    <a:lnB w="9525">
                      <a:solidFill>
                        <a:srgbClr val="C6D6CB"/>
                      </a:solidFill>
                      <a:prstDash val="solid"/>
                    </a:lnB>
                    <a:solidFill>
                      <a:srgbClr val="FFFFFF"/>
                    </a:solidFill>
                  </a:tcPr>
                </a:tc>
                <a:tc>
                  <a:txBody>
                    <a:bodyPr/>
                    <a:lstStyle/>
                    <a:p>
                      <a:r>
                        <a:rPr sz="1875" b="0">
                          <a:solidFill>
                            <a:srgbClr val="183D34"/>
                          </a:solidFill>
                        </a:rPr>
                        <a:t>5</a:t>
                      </a:r>
                    </a:p>
                  </a:txBody>
                  <a:tcPr marL="91440" marR="91440" marT="45720" marB="45720">
                    <a:lnR w="9525">
                      <a:solidFill>
                        <a:srgbClr val="C6D6CB"/>
                      </a:solidFill>
                      <a:prstDash val="solid"/>
                    </a:lnR>
                    <a:lnB w="9525">
                      <a:solidFill>
                        <a:srgbClr val="C6D6CB"/>
                      </a:solidFill>
                      <a:prstDash val="solid"/>
                    </a:lnB>
                    <a:solidFill>
                      <a:srgbClr val="FFFFFF"/>
                    </a:solidFill>
                  </a:tcPr>
                </a:tc>
              </a:tr>
              <a:tr h="674688">
                <a:tc>
                  <a:txBody>
                    <a:bodyPr/>
                    <a:lstStyle/>
                    <a:p>
                      <a:r>
                        <a:rPr sz="1875" b="0">
                          <a:solidFill>
                            <a:srgbClr val="183D34"/>
                          </a:solidFill>
                        </a:rPr>
                        <a:t>MFTS artifacts</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E2EDE3"/>
                    </a:solidFill>
                  </a:tcPr>
                </a:tc>
                <a:tc>
                  <a:txBody>
                    <a:bodyPr/>
                    <a:lstStyle/>
                    <a:p>
                      <a:r>
                        <a:rPr sz="1875" b="0">
                          <a:solidFill>
                            <a:srgbClr val="183D34"/>
                          </a:solidFill>
                        </a:rPr>
                        <a:t>0</a:t>
                      </a:r>
                    </a:p>
                  </a:txBody>
                  <a:tcPr marL="91440" marR="91440" marT="45720" marB="45720">
                    <a:lnR w="9525">
                      <a:solidFill>
                        <a:srgbClr val="C6D6CB"/>
                      </a:solidFill>
                      <a:prstDash val="solid"/>
                    </a:lnR>
                    <a:lnB w="9525">
                      <a:solidFill>
                        <a:srgbClr val="C6D6CB"/>
                      </a:solidFill>
                      <a:prstDash val="solid"/>
                    </a:lnB>
                    <a:solidFill>
                      <a:srgbClr val="E2EDE3"/>
                    </a:solidFill>
                  </a:tcPr>
                </a:tc>
                <a:tc>
                  <a:txBody>
                    <a:bodyPr/>
                    <a:lstStyle/>
                    <a:p>
                      <a:r>
                        <a:rPr sz="1875" b="0">
                          <a:solidFill>
                            <a:srgbClr val="183D34"/>
                          </a:solidFill>
                        </a:rPr>
                        <a:t>5</a:t>
                      </a:r>
                    </a:p>
                  </a:txBody>
                  <a:tcPr marL="91440" marR="91440" marT="45720" marB="45720">
                    <a:lnR w="9525">
                      <a:solidFill>
                        <a:srgbClr val="C6D6CB"/>
                      </a:solidFill>
                      <a:prstDash val="solid"/>
                    </a:lnR>
                    <a:lnB w="9525">
                      <a:solidFill>
                        <a:srgbClr val="C6D6CB"/>
                      </a:solidFill>
                      <a:prstDash val="solid"/>
                    </a:lnB>
                    <a:solidFill>
                      <a:srgbClr val="E2EDE3"/>
                    </a:solidFill>
                  </a:tcPr>
                </a:tc>
              </a:tr>
              <a:tr h="674688">
                <a:tc>
                  <a:txBody>
                    <a:bodyPr/>
                    <a:lstStyle/>
                    <a:p>
                      <a:r>
                        <a:rPr sz="1875" b="0">
                          <a:solidFill>
                            <a:srgbClr val="183D34"/>
                          </a:solidFill>
                        </a:rPr>
                        <a:t>Verified consumer reports</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FFFFFF"/>
                    </a:solidFill>
                  </a:tcPr>
                </a:tc>
                <a:tc>
                  <a:txBody>
                    <a:bodyPr/>
                    <a:lstStyle/>
                    <a:p>
                      <a:r>
                        <a:rPr sz="1875" b="0">
                          <a:solidFill>
                            <a:srgbClr val="183D34"/>
                          </a:solidFill>
                        </a:rPr>
                        <a:t>0</a:t>
                      </a:r>
                    </a:p>
                  </a:txBody>
                  <a:tcPr marL="91440" marR="91440" marT="45720" marB="45720">
                    <a:lnR w="9525">
                      <a:solidFill>
                        <a:srgbClr val="C6D6CB"/>
                      </a:solidFill>
                      <a:prstDash val="solid"/>
                    </a:lnR>
                    <a:lnB w="9525">
                      <a:solidFill>
                        <a:srgbClr val="C6D6CB"/>
                      </a:solidFill>
                      <a:prstDash val="solid"/>
                    </a:lnB>
                    <a:solidFill>
                      <a:srgbClr val="FFFFFF"/>
                    </a:solidFill>
                  </a:tcPr>
                </a:tc>
                <a:tc>
                  <a:txBody>
                    <a:bodyPr/>
                    <a:lstStyle/>
                    <a:p>
                      <a:r>
                        <a:rPr sz="1875" b="0">
                          <a:solidFill>
                            <a:srgbClr val="183D34"/>
                          </a:solidFill>
                        </a:rPr>
                        <a:t>2</a:t>
                      </a:r>
                    </a:p>
                  </a:txBody>
                  <a:tcPr marL="91440" marR="91440" marT="45720" marB="45720">
                    <a:lnR w="9525">
                      <a:solidFill>
                        <a:srgbClr val="C6D6CB"/>
                      </a:solidFill>
                      <a:prstDash val="solid"/>
                    </a:lnR>
                    <a:lnB w="9525">
                      <a:solidFill>
                        <a:srgbClr val="C6D6CB"/>
                      </a:solidFill>
                      <a:prstDash val="solid"/>
                    </a:lnB>
                    <a:solidFill>
                      <a:srgbClr val="FFFFFF"/>
                    </a:solidFill>
                  </a:tcPr>
                </a:tc>
              </a:tr>
              <a:tr h="674688">
                <a:tc>
                  <a:txBody>
                    <a:bodyPr/>
                    <a:lstStyle/>
                    <a:p>
                      <a:r>
                        <a:rPr sz="1875" b="0">
                          <a:solidFill>
                            <a:srgbClr val="183D34"/>
                          </a:solidFill>
                        </a:rPr>
                        <a:t>Workflow status</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E2EDE3"/>
                    </a:solidFill>
                  </a:tcPr>
                </a:tc>
                <a:tc>
                  <a:txBody>
                    <a:bodyPr/>
                    <a:lstStyle/>
                    <a:p>
                      <a:r>
                        <a:rPr sz="1875" b="0">
                          <a:solidFill>
                            <a:srgbClr val="183D34"/>
                          </a:solidFill>
                        </a:rPr>
                        <a:t>Recovery required</a:t>
                      </a:r>
                    </a:p>
                  </a:txBody>
                  <a:tcPr marL="91440" marR="91440" marT="45720" marB="45720">
                    <a:lnR w="9525">
                      <a:solidFill>
                        <a:srgbClr val="C6D6CB"/>
                      </a:solidFill>
                      <a:prstDash val="solid"/>
                    </a:lnR>
                    <a:lnB w="9525">
                      <a:solidFill>
                        <a:srgbClr val="C6D6CB"/>
                      </a:solidFill>
                      <a:prstDash val="solid"/>
                    </a:lnB>
                    <a:solidFill>
                      <a:srgbClr val="E2EDE3"/>
                    </a:solidFill>
                  </a:tcPr>
                </a:tc>
                <a:tc>
                  <a:txBody>
                    <a:bodyPr/>
                    <a:lstStyle/>
                    <a:p>
                      <a:r>
                        <a:rPr sz="1875" b="0">
                          <a:solidFill>
                            <a:srgbClr val="183D34"/>
                          </a:solidFill>
                        </a:rPr>
                        <a:t>SUCCEEDED</a:t>
                      </a:r>
                    </a:p>
                  </a:txBody>
                  <a:tcPr marL="91440" marR="91440" marT="45720" marB="45720">
                    <a:lnR w="9525">
                      <a:solidFill>
                        <a:srgbClr val="C6D6CB"/>
                      </a:solidFill>
                      <a:prstDash val="solid"/>
                    </a:lnR>
                    <a:lnB w="9525">
                      <a:solidFill>
                        <a:srgbClr val="C6D6CB"/>
                      </a:solidFill>
                      <a:prstDash val="solid"/>
                    </a:lnB>
                    <a:solidFill>
                      <a:srgbClr val="E2EDE3"/>
                    </a:solidFill>
                  </a:tcPr>
                </a:tc>
              </a:tr>
              <a:tr h="674688">
                <a:tc>
                  <a:txBody>
                    <a:bodyPr/>
                    <a:lstStyle/>
                    <a:p>
                      <a:r>
                        <a:rPr sz="1875" b="0">
                          <a:solidFill>
                            <a:srgbClr val="183D34"/>
                          </a:solidFill>
                        </a:rPr>
                        <a:t>Approval state</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FFFFFF"/>
                    </a:solidFill>
                  </a:tcPr>
                </a:tc>
                <a:tc>
                  <a:txBody>
                    <a:bodyPr/>
                    <a:lstStyle/>
                    <a:p>
                      <a:r>
                        <a:rPr sz="1875" b="0">
                          <a:solidFill>
                            <a:srgbClr val="183D34"/>
                          </a:solidFill>
                        </a:rPr>
                        <a:t>Not requested</a:t>
                      </a:r>
                    </a:p>
                  </a:txBody>
                  <a:tcPr marL="91440" marR="91440" marT="45720" marB="45720">
                    <a:lnR w="9525">
                      <a:solidFill>
                        <a:srgbClr val="C6D6CB"/>
                      </a:solidFill>
                      <a:prstDash val="solid"/>
                    </a:lnR>
                    <a:lnB w="9525">
                      <a:solidFill>
                        <a:srgbClr val="C6D6CB"/>
                      </a:solidFill>
                      <a:prstDash val="solid"/>
                    </a:lnB>
                    <a:solidFill>
                      <a:srgbClr val="FFFFFF"/>
                    </a:solidFill>
                  </a:tcPr>
                </a:tc>
                <a:tc>
                  <a:txBody>
                    <a:bodyPr/>
                    <a:lstStyle/>
                    <a:p>
                      <a:r>
                        <a:rPr sz="1875" b="0">
                          <a:solidFill>
                            <a:srgbClr val="183D34"/>
                          </a:solidFill>
                        </a:rPr>
                        <a:t>EXECUTED</a:t>
                      </a:r>
                    </a:p>
                  </a:txBody>
                  <a:tcPr marL="91440" marR="91440" marT="45720" marB="45720">
                    <a:lnR w="9525">
                      <a:solidFill>
                        <a:srgbClr val="C6D6CB"/>
                      </a:solidFill>
                      <a:prstDash val="solid"/>
                    </a:lnR>
                    <a:lnB w="9525">
                      <a:solidFill>
                        <a:srgbClr val="C6D6CB"/>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1ED354A-851D-4A37-B0CC-F59D2225C8AC}"/>
              </a:ext>
            </a:extLst>
          </p:cNvPr>
          <p:cNvSpPr>
            <a:spLocks xmlns:a="http://schemas.openxmlformats.org/drawingml/2006/main" noGrp="1"/>
          </p:cNvSpPr>
          <p:nvPr/>
        </p:nvSpPr>
        <p:spPr>
          <a:xfrm xmlns:a="http://schemas.openxmlformats.org/drawingml/2006/main">
            <a:off x="609600" y="59055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A6B4D"/>
                </a:solidFill>
              </a:defRPr>
            </a:defPPr>
            <a:lvl1pPr>
              <a:defRPr sz="1875" b="1">
                <a:solidFill>
                  <a:srgbClr val="2A6B4D"/>
                </a:solidFill>
              </a:defRPr>
            </a:lvl1pPr>
            <a:lvl2pPr>
              <a:defRPr sz="1875" b="1">
                <a:solidFill>
                  <a:srgbClr val="2A6B4D"/>
                </a:solidFill>
              </a:defRPr>
            </a:lvl2pPr>
            <a:lvl3pPr>
              <a:defRPr sz="1875" b="1">
                <a:solidFill>
                  <a:srgbClr val="2A6B4D"/>
                </a:solidFill>
              </a:defRPr>
            </a:lvl3pPr>
            <a:lvl4pPr>
              <a:defRPr sz="1875" b="1">
                <a:solidFill>
                  <a:srgbClr val="2A6B4D"/>
                </a:solidFill>
              </a:defRPr>
            </a:lvl4pPr>
            <a:lvl5pPr>
              <a:defRPr sz="1875" b="1">
                <a:solidFill>
                  <a:srgbClr val="2A6B4D"/>
                </a:solidFill>
              </a:defRPr>
            </a:lvl5pPr>
            <a:lvl6pPr>
              <a:defRPr sz="1875" b="1">
                <a:solidFill>
                  <a:srgbClr val="2A6B4D"/>
                </a:solidFill>
              </a:defRPr>
            </a:lvl6pPr>
            <a:lvl7pPr>
              <a:defRPr sz="1875" b="1">
                <a:solidFill>
                  <a:srgbClr val="2A6B4D"/>
                </a:solidFill>
              </a:defRPr>
            </a:lvl7pPr>
            <a:lvl8pPr>
              <a:defRPr sz="1875" b="1">
                <a:solidFill>
                  <a:srgbClr val="2A6B4D"/>
                </a:solidFill>
              </a:defRPr>
            </a:lvl8pPr>
            <a:lvl9pPr>
              <a:defRPr sz="1875" b="1">
                <a:solidFill>
                  <a:srgbClr val="2A6B4D"/>
                </a:solidFill>
              </a:defRPr>
            </a:lvl9pPr>
          </a:lstStyle>
          <a:p xmlns:a="http://schemas.openxmlformats.org/drawingml/2006/main">
            <a:pPr>
              <a:defRPr sz="1875" b="1">
                <a:solidFill>
                  <a:srgbClr val="2A6B4D"/>
                </a:solidFill>
              </a:defRPr>
            </a:pPr>
            <a:r>
              <a:rPr sz="1875" b="1">
                <a:solidFill>
                  <a:srgbClr val="2A6B4D"/>
                </a:solidFill>
              </a:rPr>
              <a:t>Recovery preserves the missed deadline in history. Green reports require content verification.</a:t>
            </a:r>
          </a:p>
        </p:txBody>
      </p:sp>
    </p:spTree>
    <p:extLst>
      <p:ext uri="{BB962C8B-B14F-4D97-AF65-F5344CB8AC3E}">
        <p14:creationId xmlns:p14="http://schemas.microsoft.com/office/powerpoint/2010/main" val="931370345"/>
      </p:ext>
    </p:extLst>
  </p:cSld>
</p:sld>
</file>

<file path=ppt/slides/slide7.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6784573-EE74-46C0-8477-D31278FD8669}"/>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D34"/>
                </a:solidFill>
              </a:defRPr>
            </a:defPPr>
            <a:lvl1pPr>
              <a:defRPr sz="3000" b="1">
                <a:solidFill>
                  <a:srgbClr val="183D34"/>
                </a:solidFill>
              </a:defRPr>
            </a:lvl1pPr>
            <a:lvl2pPr>
              <a:defRPr sz="3000" b="1">
                <a:solidFill>
                  <a:srgbClr val="183D34"/>
                </a:solidFill>
              </a:defRPr>
            </a:lvl2pPr>
            <a:lvl3pPr>
              <a:defRPr sz="3000" b="1">
                <a:solidFill>
                  <a:srgbClr val="183D34"/>
                </a:solidFill>
              </a:defRPr>
            </a:lvl3pPr>
            <a:lvl4pPr>
              <a:defRPr sz="3000" b="1">
                <a:solidFill>
                  <a:srgbClr val="183D34"/>
                </a:solidFill>
              </a:defRPr>
            </a:lvl4pPr>
            <a:lvl5pPr>
              <a:defRPr sz="3000" b="1">
                <a:solidFill>
                  <a:srgbClr val="183D34"/>
                </a:solidFill>
              </a:defRPr>
            </a:lvl5pPr>
            <a:lvl6pPr>
              <a:defRPr sz="3000" b="1">
                <a:solidFill>
                  <a:srgbClr val="183D34"/>
                </a:solidFill>
              </a:defRPr>
            </a:lvl6pPr>
            <a:lvl7pPr>
              <a:defRPr sz="3000" b="1">
                <a:solidFill>
                  <a:srgbClr val="183D34"/>
                </a:solidFill>
              </a:defRPr>
            </a:lvl7pPr>
            <a:lvl8pPr>
              <a:defRPr sz="3000" b="1">
                <a:solidFill>
                  <a:srgbClr val="183D34"/>
                </a:solidFill>
              </a:defRPr>
            </a:lvl8pPr>
            <a:lvl9pPr>
              <a:defRPr sz="3000" b="1">
                <a:solidFill>
                  <a:srgbClr val="183D34"/>
                </a:solidFill>
              </a:defRPr>
            </a:lvl9pPr>
          </a:lstStyle>
          <a:p xmlns:a="http://schemas.openxmlformats.org/drawingml/2006/main">
            <a:pPr>
              <a:defRPr sz="3000" b="1">
                <a:solidFill>
                  <a:srgbClr val="183D34"/>
                </a:solidFill>
              </a:defRPr>
            </a:pPr>
            <a:r>
              <a:rPr sz="3000" b="1">
                <a:solidFill>
                  <a:srgbClr val="183D34"/>
                </a:solidFill>
              </a:rPr>
              <a:t>Guided demo evidence</a:t>
            </a:r>
          </a:p>
        </p:txBody>
      </p:sp>
      <p:sp>
        <p:nvSpPr>
          <p:cNvPr id="3" name="">
            <a:extLst xmlns:a="http://schemas.openxmlformats.org/drawingml/2006/main">
              <a:ext uri="{FF2B5EF4-FFF2-40B4-BE49-F238E27FC236}">
                <a16:creationId xmlns:a16="http://schemas.microsoft.com/office/drawing/2014/main" id="{30634380-5723-49A4-A973-EEB34BC56802}"/>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A62"/>
                </a:solidFill>
              </a:defRPr>
            </a:defPPr>
            <a:lvl1pPr>
              <a:defRPr sz="1200" b="0">
                <a:solidFill>
                  <a:srgbClr val="536A62"/>
                </a:solidFill>
              </a:defRPr>
            </a:lvl1pPr>
            <a:lvl2pPr>
              <a:defRPr sz="1200" b="0">
                <a:solidFill>
                  <a:srgbClr val="536A62"/>
                </a:solidFill>
              </a:defRPr>
            </a:lvl2pPr>
            <a:lvl3pPr>
              <a:defRPr sz="1200" b="0">
                <a:solidFill>
                  <a:srgbClr val="536A62"/>
                </a:solidFill>
              </a:defRPr>
            </a:lvl3pPr>
            <a:lvl4pPr>
              <a:defRPr sz="1200" b="0">
                <a:solidFill>
                  <a:srgbClr val="536A62"/>
                </a:solidFill>
              </a:defRPr>
            </a:lvl4pPr>
            <a:lvl5pPr>
              <a:defRPr sz="1200" b="0">
                <a:solidFill>
                  <a:srgbClr val="536A62"/>
                </a:solidFill>
              </a:defRPr>
            </a:lvl5pPr>
            <a:lvl6pPr>
              <a:defRPr sz="1200" b="0">
                <a:solidFill>
                  <a:srgbClr val="536A62"/>
                </a:solidFill>
              </a:defRPr>
            </a:lvl6pPr>
            <a:lvl7pPr>
              <a:defRPr sz="1200" b="0">
                <a:solidFill>
                  <a:srgbClr val="536A62"/>
                </a:solidFill>
              </a:defRPr>
            </a:lvl7pPr>
            <a:lvl8pPr>
              <a:defRPr sz="1200" b="0">
                <a:solidFill>
                  <a:srgbClr val="536A62"/>
                </a:solidFill>
              </a:defRPr>
            </a:lvl8pPr>
            <a:lvl9pPr>
              <a:defRPr sz="1200" b="0">
                <a:solidFill>
                  <a:srgbClr val="536A62"/>
                </a:solidFill>
              </a:defRPr>
            </a:lvl9pPr>
          </a:lstStyle>
          <a:p xmlns:a="http://schemas.openxmlformats.org/drawingml/2006/main">
            <a:pPr>
              <a:defRPr sz="1200" b="0">
                <a:solidFill>
                  <a:srgbClr val="536A62"/>
                </a:solidFill>
              </a:defRPr>
            </a:pPr>
            <a:r>
              <a:rPr sz="1200" b="0">
                <a:solidFill>
                  <a:srgbClr val="536A62"/>
                </a:solidFill>
              </a:rPr>
              <a:t>07</a:t>
            </a:r>
          </a:p>
        </p:txBody>
      </p:sp>
      <p:sp>
        <p:nvSpPr>
          <p:cNvPr id="4" name="">
            <a:extLst xmlns:a="http://schemas.openxmlformats.org/drawingml/2006/main">
              <a:ext uri="{FF2B5EF4-FFF2-40B4-BE49-F238E27FC236}">
                <a16:creationId xmlns:a16="http://schemas.microsoft.com/office/drawing/2014/main" id="{3E6CCB86-F8E4-4EA2-9C3D-9A6154CB93B2}"/>
              </a:ext>
            </a:extLst>
          </p:cNvPr>
          <p:cNvSpPr>
            <a:spLocks xmlns:a="http://schemas.openxmlformats.org/drawingml/2006/main" noGrp="1"/>
          </p:cNvSpPr>
          <p:nvPr/>
        </p:nvSpPr>
        <p:spPr>
          <a:xfrm xmlns:a="http://schemas.openxmlformats.org/drawingml/2006/main">
            <a:off x="609600" y="1619250"/>
            <a:ext cx="590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2A6B4D"/>
                </a:solidFill>
              </a:defRPr>
            </a:defPPr>
            <a:lvl1pPr>
              <a:defRPr sz="2550" b="1">
                <a:solidFill>
                  <a:srgbClr val="2A6B4D"/>
                </a:solidFill>
              </a:defRPr>
            </a:lvl1pPr>
            <a:lvl2pPr>
              <a:defRPr sz="2550" b="1">
                <a:solidFill>
                  <a:srgbClr val="2A6B4D"/>
                </a:solidFill>
              </a:defRPr>
            </a:lvl2pPr>
            <a:lvl3pPr>
              <a:defRPr sz="2550" b="1">
                <a:solidFill>
                  <a:srgbClr val="2A6B4D"/>
                </a:solidFill>
              </a:defRPr>
            </a:lvl3pPr>
            <a:lvl4pPr>
              <a:defRPr sz="2550" b="1">
                <a:solidFill>
                  <a:srgbClr val="2A6B4D"/>
                </a:solidFill>
              </a:defRPr>
            </a:lvl4pPr>
            <a:lvl5pPr>
              <a:defRPr sz="2550" b="1">
                <a:solidFill>
                  <a:srgbClr val="2A6B4D"/>
                </a:solidFill>
              </a:defRPr>
            </a:lvl5pPr>
            <a:lvl6pPr>
              <a:defRPr sz="2550" b="1">
                <a:solidFill>
                  <a:srgbClr val="2A6B4D"/>
                </a:solidFill>
              </a:defRPr>
            </a:lvl6pPr>
            <a:lvl7pPr>
              <a:defRPr sz="2550" b="1">
                <a:solidFill>
                  <a:srgbClr val="2A6B4D"/>
                </a:solidFill>
              </a:defRPr>
            </a:lvl7pPr>
            <a:lvl8pPr>
              <a:defRPr sz="2550" b="1">
                <a:solidFill>
                  <a:srgbClr val="2A6B4D"/>
                </a:solidFill>
              </a:defRPr>
            </a:lvl8pPr>
            <a:lvl9pPr>
              <a:defRPr sz="2550" b="1">
                <a:solidFill>
                  <a:srgbClr val="2A6B4D"/>
                </a:solidFill>
              </a:defRPr>
            </a:lvl9pPr>
          </a:lstStyle>
          <a:p xmlns:a="http://schemas.openxmlformats.org/drawingml/2006/main">
            <a:pPr>
              <a:defRPr sz="2550" b="1">
                <a:solidFill>
                  <a:srgbClr val="2A6B4D"/>
                </a:solidFill>
              </a:defRPr>
            </a:pPr>
            <a:r>
              <a:rPr sz="2550" b="1">
                <a:solidFill>
                  <a:srgbClr val="2A6B4D"/>
                </a:solidFill>
              </a:rPr>
              <a:t>A manager can inspect each decision</a:t>
            </a:r>
          </a:p>
        </p:txBody>
      </p:sp>
      <p:sp>
        <p:nvSpPr>
          <p:cNvPr id="5" name="">
            <a:extLst xmlns:a="http://schemas.openxmlformats.org/drawingml/2006/main">
              <a:ext uri="{FF2B5EF4-FFF2-40B4-BE49-F238E27FC236}">
                <a16:creationId xmlns:a16="http://schemas.microsoft.com/office/drawing/2014/main" id="{08E32484-9089-41C3-A8B8-5B4C3FC8C35A}"/>
              </a:ext>
            </a:extLst>
          </p:cNvPr>
          <p:cNvSpPr>
            <a:spLocks xmlns:a="http://schemas.openxmlformats.org/drawingml/2006/main" noGrp="1"/>
          </p:cNvSpPr>
          <p:nvPr/>
        </p:nvSpPr>
        <p:spPr>
          <a:xfrm xmlns:a="http://schemas.openxmlformats.org/drawingml/2006/main">
            <a:off x="609600" y="2714625"/>
            <a:ext cx="5524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D34"/>
                </a:solidFill>
              </a:defRPr>
            </a:defPPr>
            <a:lvl1pPr>
              <a:defRPr sz="2175" b="0">
                <a:solidFill>
                  <a:srgbClr val="183D34"/>
                </a:solidFill>
              </a:defRPr>
            </a:lvl1pPr>
            <a:lvl2pPr>
              <a:defRPr sz="2175" b="0">
                <a:solidFill>
                  <a:srgbClr val="183D34"/>
                </a:solidFill>
              </a:defRPr>
            </a:lvl2pPr>
            <a:lvl3pPr>
              <a:defRPr sz="2175" b="0">
                <a:solidFill>
                  <a:srgbClr val="183D34"/>
                </a:solidFill>
              </a:defRPr>
            </a:lvl3pPr>
            <a:lvl4pPr>
              <a:defRPr sz="2175" b="0">
                <a:solidFill>
                  <a:srgbClr val="183D34"/>
                </a:solidFill>
              </a:defRPr>
            </a:lvl4pPr>
            <a:lvl5pPr>
              <a:defRPr sz="2175" b="0">
                <a:solidFill>
                  <a:srgbClr val="183D34"/>
                </a:solidFill>
              </a:defRPr>
            </a:lvl5pPr>
            <a:lvl6pPr>
              <a:defRPr sz="2175" b="0">
                <a:solidFill>
                  <a:srgbClr val="183D34"/>
                </a:solidFill>
              </a:defRPr>
            </a:lvl6pPr>
            <a:lvl7pPr>
              <a:defRPr sz="2175" b="0">
                <a:solidFill>
                  <a:srgbClr val="183D34"/>
                </a:solidFill>
              </a:defRPr>
            </a:lvl7pPr>
            <a:lvl8pPr>
              <a:defRPr sz="2175" b="0">
                <a:solidFill>
                  <a:srgbClr val="183D34"/>
                </a:solidFill>
              </a:defRPr>
            </a:lvl8pPr>
            <a:lvl9pPr>
              <a:defRPr sz="2175" b="0">
                <a:solidFill>
                  <a:srgbClr val="183D34"/>
                </a:solidFill>
              </a:defRPr>
            </a:lvl9pPr>
          </a:lstStyle>
          <a:p xmlns:a="http://schemas.openxmlformats.org/drawingml/2006/main">
            <a:pPr>
              <a:defRPr sz="2175" b="0">
                <a:solidFill>
                  <a:srgbClr val="183D34"/>
                </a:solidFill>
              </a:defRPr>
            </a:pPr>
            <a:r>
              <a:rPr sz="2175" b="0">
                <a:solidFill>
                  <a:srgbClr val="183D34"/>
                </a:solidFill>
              </a:rPr>
              <a:t>Pause at failure to inspect the red channel and affected reports.</a:t>
            </a:r>
          </a:p>
        </p:txBody>
      </p:sp>
      <p:sp>
        <p:nvSpPr>
          <p:cNvPr id="6" name="">
            <a:extLst xmlns:a="http://schemas.openxmlformats.org/drawingml/2006/main">
              <a:ext uri="{FF2B5EF4-FFF2-40B4-BE49-F238E27FC236}">
                <a16:creationId xmlns:a16="http://schemas.microsoft.com/office/drawing/2014/main" id="{E0CC9A2E-942B-4D08-AA11-8F9926AE6992}"/>
              </a:ext>
            </a:extLst>
          </p:cNvPr>
          <p:cNvSpPr>
            <a:spLocks xmlns:a="http://schemas.openxmlformats.org/drawingml/2006/main" noGrp="1"/>
          </p:cNvSpPr>
          <p:nvPr/>
        </p:nvSpPr>
        <p:spPr>
          <a:xfrm xmlns:a="http://schemas.openxmlformats.org/drawingml/2006/main">
            <a:off x="609600" y="3857625"/>
            <a:ext cx="5524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D34"/>
                </a:solidFill>
              </a:defRPr>
            </a:defPPr>
            <a:lvl1pPr>
              <a:defRPr sz="2175" b="0">
                <a:solidFill>
                  <a:srgbClr val="183D34"/>
                </a:solidFill>
              </a:defRPr>
            </a:lvl1pPr>
            <a:lvl2pPr>
              <a:defRPr sz="2175" b="0">
                <a:solidFill>
                  <a:srgbClr val="183D34"/>
                </a:solidFill>
              </a:defRPr>
            </a:lvl2pPr>
            <a:lvl3pPr>
              <a:defRPr sz="2175" b="0">
                <a:solidFill>
                  <a:srgbClr val="183D34"/>
                </a:solidFill>
              </a:defRPr>
            </a:lvl3pPr>
            <a:lvl4pPr>
              <a:defRPr sz="2175" b="0">
                <a:solidFill>
                  <a:srgbClr val="183D34"/>
                </a:solidFill>
              </a:defRPr>
            </a:lvl4pPr>
            <a:lvl5pPr>
              <a:defRPr sz="2175" b="0">
                <a:solidFill>
                  <a:srgbClr val="183D34"/>
                </a:solidFill>
              </a:defRPr>
            </a:lvl5pPr>
            <a:lvl6pPr>
              <a:defRPr sz="2175" b="0">
                <a:solidFill>
                  <a:srgbClr val="183D34"/>
                </a:solidFill>
              </a:defRPr>
            </a:lvl6pPr>
            <a:lvl7pPr>
              <a:defRPr sz="2175" b="0">
                <a:solidFill>
                  <a:srgbClr val="183D34"/>
                </a:solidFill>
              </a:defRPr>
            </a:lvl7pPr>
            <a:lvl8pPr>
              <a:defRPr sz="2175" b="0">
                <a:solidFill>
                  <a:srgbClr val="183D34"/>
                </a:solidFill>
              </a:defRPr>
            </a:lvl8pPr>
            <a:lvl9pPr>
              <a:defRPr sz="2175" b="0">
                <a:solidFill>
                  <a:srgbClr val="183D34"/>
                </a:solidFill>
              </a:defRPr>
            </a:lvl9pPr>
          </a:lstStyle>
          <a:p xmlns:a="http://schemas.openxmlformats.org/drawingml/2006/main">
            <a:pPr>
              <a:defRPr sz="2175" b="0">
                <a:solidFill>
                  <a:srgbClr val="183D34"/>
                </a:solidFill>
              </a:defRPr>
            </a:pPr>
            <a:r>
              <a:rPr sz="2175" b="0">
                <a:solidFill>
                  <a:srgbClr val="183D34"/>
                </a:solidFill>
              </a:rPr>
              <a:t>Revisit saved steps after recovery without changing the underlying run.</a:t>
            </a:r>
          </a:p>
        </p:txBody>
      </p:sp>
      <p:sp>
        <p:nvSpPr>
          <p:cNvPr id="7" name="">
            <a:extLst xmlns:a="http://schemas.openxmlformats.org/drawingml/2006/main">
              <a:ext uri="{FF2B5EF4-FFF2-40B4-BE49-F238E27FC236}">
                <a16:creationId xmlns:a16="http://schemas.microsoft.com/office/drawing/2014/main" id="{27550F91-DF87-46AA-91FD-59C0F173BFA3}"/>
              </a:ext>
            </a:extLst>
          </p:cNvPr>
          <p:cNvSpPr>
            <a:spLocks xmlns:a="http://schemas.openxmlformats.org/drawingml/2006/main" noGrp="1"/>
          </p:cNvSpPr>
          <p:nvPr/>
        </p:nvSpPr>
        <p:spPr>
          <a:xfrm xmlns:a="http://schemas.openxmlformats.org/drawingml/2006/main">
            <a:off x="609600" y="5000625"/>
            <a:ext cx="5524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D34"/>
                </a:solidFill>
              </a:defRPr>
            </a:defPPr>
            <a:lvl1pPr>
              <a:defRPr sz="2175" b="0">
                <a:solidFill>
                  <a:srgbClr val="183D34"/>
                </a:solidFill>
              </a:defRPr>
            </a:lvl1pPr>
            <a:lvl2pPr>
              <a:defRPr sz="2175" b="0">
                <a:solidFill>
                  <a:srgbClr val="183D34"/>
                </a:solidFill>
              </a:defRPr>
            </a:lvl2pPr>
            <a:lvl3pPr>
              <a:defRPr sz="2175" b="0">
                <a:solidFill>
                  <a:srgbClr val="183D34"/>
                </a:solidFill>
              </a:defRPr>
            </a:lvl3pPr>
            <a:lvl4pPr>
              <a:defRPr sz="2175" b="0">
                <a:solidFill>
                  <a:srgbClr val="183D34"/>
                </a:solidFill>
              </a:defRPr>
            </a:lvl4pPr>
            <a:lvl5pPr>
              <a:defRPr sz="2175" b="0">
                <a:solidFill>
                  <a:srgbClr val="183D34"/>
                </a:solidFill>
              </a:defRPr>
            </a:lvl5pPr>
            <a:lvl6pPr>
              <a:defRPr sz="2175" b="0">
                <a:solidFill>
                  <a:srgbClr val="183D34"/>
                </a:solidFill>
              </a:defRPr>
            </a:lvl6pPr>
            <a:lvl7pPr>
              <a:defRPr sz="2175" b="0">
                <a:solidFill>
                  <a:srgbClr val="183D34"/>
                </a:solidFill>
              </a:defRPr>
            </a:lvl7pPr>
            <a:lvl8pPr>
              <a:defRPr sz="2175" b="0">
                <a:solidFill>
                  <a:srgbClr val="183D34"/>
                </a:solidFill>
              </a:defRPr>
            </a:lvl8pPr>
            <a:lvl9pPr>
              <a:defRPr sz="2175" b="0">
                <a:solidFill>
                  <a:srgbClr val="183D34"/>
                </a:solidFill>
              </a:defRPr>
            </a:lvl9pPr>
          </a:lstStyle>
          <a:p xmlns:a="http://schemas.openxmlformats.org/drawingml/2006/main">
            <a:pPr>
              <a:defRPr sz="2175" b="0">
                <a:solidFill>
                  <a:srgbClr val="183D34"/>
                </a:solidFill>
              </a:defRPr>
            </a:pPr>
            <a:r>
              <a:rPr sz="2175" b="0">
                <a:solidFill>
                  <a:srgbClr val="183D34"/>
                </a:solidFill>
              </a:rPr>
              <a:t>Expand fingerprints and audit details when the architect asks for proof.</a:t>
            </a:r>
          </a:p>
        </p:txBody>
      </p:sp>
      <p:pic>
        <p:nvPicPr>
          <p:cNvPr id="8" name="">
            <a:extLst xmlns:a="http://schemas.openxmlformats.org/drawingml/2006/main">
              <a:ext uri="{FF2B5EF4-FFF2-40B4-BE49-F238E27FC236}">
                <a16:creationId xmlns:a16="http://schemas.microsoft.com/office/drawing/2014/main" id="{6F913270-190F-44D4-B8F3-26910062DC0B}"/>
              </a:ext>
            </a:extLst>
          </p:cNvPr>
          <p:cNvPicPr>
            <a:picLocks xmlns:a="http://schemas.openxmlformats.org/drawingml/2006/main" noChangeAspect="1"/>
          </p:cNvPicPr>
          <p:nvPr/>
        </p:nvPicPr>
        <p:blipFill>
          <a:blip xmlns:r="http://schemas.openxmlformats.org/officeDocument/2006/relationships" xmlns:a="http://schemas.openxmlformats.org/drawingml/2006/main" r:embed="Rdeaea6018e024a4b"/>
          <a:srcRect xmlns:a="http://schemas.openxmlformats.org/drawingml/2006/main" l="0" t="0" r="0" b="0"/>
          <a:stretch xmlns:a="http://schemas.openxmlformats.org/drawingml/2006/main">
            <a:fillRect l="0" t="0" r="0" b="0"/>
          </a:stretch>
        </p:blipFill>
        <p:spPr>
          <a:xfrm xmlns:a="http://schemas.openxmlformats.org/drawingml/2006/main">
            <a:off x="7143750" y="1427750"/>
            <a:ext cx="4238625" cy="4812125"/>
          </a:xfrm>
          <a:prstGeom xmlns:a="http://schemas.openxmlformats.org/drawingml/2006/main" prst="rect">
            <a:avLst/>
          </a:prstGeom>
        </p:spPr>
      </p:pic>
    </p:spTree>
    <p:extLst>
      <p:ext uri="{BB962C8B-B14F-4D97-AF65-F5344CB8AC3E}">
        <p14:creationId xmlns:p14="http://schemas.microsoft.com/office/powerpoint/2010/main" val="1637384123"/>
      </p:ext>
    </p:extLst>
  </p:cSld>
</p:sld>
</file>

<file path=ppt/slides/slide8.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67BC64A-A92D-46F7-82A9-C82A3F3F9332}"/>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D34"/>
                </a:solidFill>
              </a:defRPr>
            </a:defPPr>
            <a:lvl1pPr>
              <a:defRPr sz="3000" b="1">
                <a:solidFill>
                  <a:srgbClr val="183D34"/>
                </a:solidFill>
              </a:defRPr>
            </a:lvl1pPr>
            <a:lvl2pPr>
              <a:defRPr sz="3000" b="1">
                <a:solidFill>
                  <a:srgbClr val="183D34"/>
                </a:solidFill>
              </a:defRPr>
            </a:lvl2pPr>
            <a:lvl3pPr>
              <a:defRPr sz="3000" b="1">
                <a:solidFill>
                  <a:srgbClr val="183D34"/>
                </a:solidFill>
              </a:defRPr>
            </a:lvl3pPr>
            <a:lvl4pPr>
              <a:defRPr sz="3000" b="1">
                <a:solidFill>
                  <a:srgbClr val="183D34"/>
                </a:solidFill>
              </a:defRPr>
            </a:lvl4pPr>
            <a:lvl5pPr>
              <a:defRPr sz="3000" b="1">
                <a:solidFill>
                  <a:srgbClr val="183D34"/>
                </a:solidFill>
              </a:defRPr>
            </a:lvl5pPr>
            <a:lvl6pPr>
              <a:defRPr sz="3000" b="1">
                <a:solidFill>
                  <a:srgbClr val="183D34"/>
                </a:solidFill>
              </a:defRPr>
            </a:lvl6pPr>
            <a:lvl7pPr>
              <a:defRPr sz="3000" b="1">
                <a:solidFill>
                  <a:srgbClr val="183D34"/>
                </a:solidFill>
              </a:defRPr>
            </a:lvl7pPr>
            <a:lvl8pPr>
              <a:defRPr sz="3000" b="1">
                <a:solidFill>
                  <a:srgbClr val="183D34"/>
                </a:solidFill>
              </a:defRPr>
            </a:lvl8pPr>
            <a:lvl9pPr>
              <a:defRPr sz="3000" b="1">
                <a:solidFill>
                  <a:srgbClr val="183D34"/>
                </a:solidFill>
              </a:defRPr>
            </a:lvl9pPr>
          </a:lstStyle>
          <a:p xmlns:a="http://schemas.openxmlformats.org/drawingml/2006/main">
            <a:pPr>
              <a:defRPr sz="3000" b="1">
                <a:solidFill>
                  <a:srgbClr val="183D34"/>
                </a:solidFill>
              </a:defRPr>
            </a:pPr>
            <a:r>
              <a:rPr sz="3000" b="1">
                <a:solidFill>
                  <a:srgbClr val="183D34"/>
                </a:solidFill>
              </a:rPr>
              <a:t>Controls that make recovery reviewable</a:t>
            </a:r>
          </a:p>
        </p:txBody>
      </p:sp>
      <p:sp>
        <p:nvSpPr>
          <p:cNvPr id="3" name="">
            <a:extLst xmlns:a="http://schemas.openxmlformats.org/drawingml/2006/main">
              <a:ext uri="{FF2B5EF4-FFF2-40B4-BE49-F238E27FC236}">
                <a16:creationId xmlns:a16="http://schemas.microsoft.com/office/drawing/2014/main" id="{4F84ACA4-BE01-449E-97AB-4A59C36E2E90}"/>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A62"/>
                </a:solidFill>
              </a:defRPr>
            </a:defPPr>
            <a:lvl1pPr>
              <a:defRPr sz="1200" b="0">
                <a:solidFill>
                  <a:srgbClr val="536A62"/>
                </a:solidFill>
              </a:defRPr>
            </a:lvl1pPr>
            <a:lvl2pPr>
              <a:defRPr sz="1200" b="0">
                <a:solidFill>
                  <a:srgbClr val="536A62"/>
                </a:solidFill>
              </a:defRPr>
            </a:lvl2pPr>
            <a:lvl3pPr>
              <a:defRPr sz="1200" b="0">
                <a:solidFill>
                  <a:srgbClr val="536A62"/>
                </a:solidFill>
              </a:defRPr>
            </a:lvl3pPr>
            <a:lvl4pPr>
              <a:defRPr sz="1200" b="0">
                <a:solidFill>
                  <a:srgbClr val="536A62"/>
                </a:solidFill>
              </a:defRPr>
            </a:lvl4pPr>
            <a:lvl5pPr>
              <a:defRPr sz="1200" b="0">
                <a:solidFill>
                  <a:srgbClr val="536A62"/>
                </a:solidFill>
              </a:defRPr>
            </a:lvl5pPr>
            <a:lvl6pPr>
              <a:defRPr sz="1200" b="0">
                <a:solidFill>
                  <a:srgbClr val="536A62"/>
                </a:solidFill>
              </a:defRPr>
            </a:lvl6pPr>
            <a:lvl7pPr>
              <a:defRPr sz="1200" b="0">
                <a:solidFill>
                  <a:srgbClr val="536A62"/>
                </a:solidFill>
              </a:defRPr>
            </a:lvl7pPr>
            <a:lvl8pPr>
              <a:defRPr sz="1200" b="0">
                <a:solidFill>
                  <a:srgbClr val="536A62"/>
                </a:solidFill>
              </a:defRPr>
            </a:lvl8pPr>
            <a:lvl9pPr>
              <a:defRPr sz="1200" b="0">
                <a:solidFill>
                  <a:srgbClr val="536A62"/>
                </a:solidFill>
              </a:defRPr>
            </a:lvl9pPr>
          </a:lstStyle>
          <a:p xmlns:a="http://schemas.openxmlformats.org/drawingml/2006/main">
            <a:pPr>
              <a:defRPr sz="1200" b="0">
                <a:solidFill>
                  <a:srgbClr val="536A62"/>
                </a:solidFill>
              </a:defRPr>
            </a:pPr>
            <a:r>
              <a:rPr sz="1200" b="0">
                <a:solidFill>
                  <a:srgbClr val="536A62"/>
                </a:solidFill>
              </a:rPr>
              <a:t>08</a:t>
            </a:r>
          </a:p>
        </p:txBody>
      </p:sp>
      <p:sp>
        <p:nvSpPr>
          <p:cNvPr id="4" name="">
            <a:extLst xmlns:a="http://schemas.openxmlformats.org/drawingml/2006/main">
              <a:ext uri="{FF2B5EF4-FFF2-40B4-BE49-F238E27FC236}">
                <a16:creationId xmlns:a16="http://schemas.microsoft.com/office/drawing/2014/main" id="{6973EF70-6E31-401C-8A10-6A576A70225D}"/>
              </a:ext>
            </a:extLst>
          </p:cNvPr>
          <p:cNvSpPr>
            <a:spLocks xmlns:a="http://schemas.openxmlformats.org/drawingml/2006/main" noGrp="1"/>
          </p:cNvSpPr>
          <p:nvPr/>
        </p:nvSpPr>
        <p:spPr>
          <a:xfrm xmlns:a="http://schemas.openxmlformats.org/drawingml/2006/main">
            <a:off x="609600" y="1476375"/>
            <a:ext cx="3381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A6B4D"/>
                </a:solidFill>
              </a:defRPr>
            </a:defPPr>
            <a:lvl1pPr>
              <a:defRPr sz="2100" b="1">
                <a:solidFill>
                  <a:srgbClr val="2A6B4D"/>
                </a:solidFill>
              </a:defRPr>
            </a:lvl1pPr>
            <a:lvl2pPr>
              <a:defRPr sz="2100" b="1">
                <a:solidFill>
                  <a:srgbClr val="2A6B4D"/>
                </a:solidFill>
              </a:defRPr>
            </a:lvl2pPr>
            <a:lvl3pPr>
              <a:defRPr sz="2100" b="1">
                <a:solidFill>
                  <a:srgbClr val="2A6B4D"/>
                </a:solidFill>
              </a:defRPr>
            </a:lvl3pPr>
            <a:lvl4pPr>
              <a:defRPr sz="2100" b="1">
                <a:solidFill>
                  <a:srgbClr val="2A6B4D"/>
                </a:solidFill>
              </a:defRPr>
            </a:lvl4pPr>
            <a:lvl5pPr>
              <a:defRPr sz="2100" b="1">
                <a:solidFill>
                  <a:srgbClr val="2A6B4D"/>
                </a:solidFill>
              </a:defRPr>
            </a:lvl5pPr>
            <a:lvl6pPr>
              <a:defRPr sz="2100" b="1">
                <a:solidFill>
                  <a:srgbClr val="2A6B4D"/>
                </a:solidFill>
              </a:defRPr>
            </a:lvl6pPr>
            <a:lvl7pPr>
              <a:defRPr sz="2100" b="1">
                <a:solidFill>
                  <a:srgbClr val="2A6B4D"/>
                </a:solidFill>
              </a:defRPr>
            </a:lvl7pPr>
            <a:lvl8pPr>
              <a:defRPr sz="2100" b="1">
                <a:solidFill>
                  <a:srgbClr val="2A6B4D"/>
                </a:solidFill>
              </a:defRPr>
            </a:lvl8pPr>
            <a:lvl9pPr>
              <a:defRPr sz="2100" b="1">
                <a:solidFill>
                  <a:srgbClr val="2A6B4D"/>
                </a:solidFill>
              </a:defRPr>
            </a:lvl9pPr>
          </a:lstStyle>
          <a:p xmlns:a="http://schemas.openxmlformats.org/drawingml/2006/main">
            <a:pPr>
              <a:defRPr sz="2100" b="1">
                <a:solidFill>
                  <a:srgbClr val="2A6B4D"/>
                </a:solidFill>
              </a:defRPr>
            </a:pPr>
            <a:r>
              <a:rPr sz="2100" b="1">
                <a:solidFill>
                  <a:srgbClr val="2A6B4D"/>
                </a:solidFill>
              </a:rPr>
              <a:t>Stable identities</a:t>
            </a:r>
          </a:p>
        </p:txBody>
      </p:sp>
      <p:sp>
        <p:nvSpPr>
          <p:cNvPr id="5" name="">
            <a:extLst xmlns:a="http://schemas.openxmlformats.org/drawingml/2006/main">
              <a:ext uri="{FF2B5EF4-FFF2-40B4-BE49-F238E27FC236}">
                <a16:creationId xmlns:a16="http://schemas.microsoft.com/office/drawing/2014/main" id="{733369C3-4EA3-4AAF-B80E-7866E81D7B94}"/>
              </a:ext>
            </a:extLst>
          </p:cNvPr>
          <p:cNvSpPr>
            <a:spLocks xmlns:a="http://schemas.openxmlformats.org/drawingml/2006/main" noGrp="1"/>
          </p:cNvSpPr>
          <p:nvPr/>
        </p:nvSpPr>
        <p:spPr>
          <a:xfrm xmlns:a="http://schemas.openxmlformats.org/drawingml/2006/main">
            <a:off x="4381500" y="1476375"/>
            <a:ext cx="709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D34"/>
                </a:solidFill>
              </a:defRPr>
            </a:defPPr>
            <a:lvl1pPr>
              <a:defRPr sz="2025" b="0">
                <a:solidFill>
                  <a:srgbClr val="183D34"/>
                </a:solidFill>
              </a:defRPr>
            </a:lvl1pPr>
            <a:lvl2pPr>
              <a:defRPr sz="2025" b="0">
                <a:solidFill>
                  <a:srgbClr val="183D34"/>
                </a:solidFill>
              </a:defRPr>
            </a:lvl2pPr>
            <a:lvl3pPr>
              <a:defRPr sz="2025" b="0">
                <a:solidFill>
                  <a:srgbClr val="183D34"/>
                </a:solidFill>
              </a:defRPr>
            </a:lvl3pPr>
            <a:lvl4pPr>
              <a:defRPr sz="2025" b="0">
                <a:solidFill>
                  <a:srgbClr val="183D34"/>
                </a:solidFill>
              </a:defRPr>
            </a:lvl4pPr>
            <a:lvl5pPr>
              <a:defRPr sz="2025" b="0">
                <a:solidFill>
                  <a:srgbClr val="183D34"/>
                </a:solidFill>
              </a:defRPr>
            </a:lvl5pPr>
            <a:lvl6pPr>
              <a:defRPr sz="2025" b="0">
                <a:solidFill>
                  <a:srgbClr val="183D34"/>
                </a:solidFill>
              </a:defRPr>
            </a:lvl6pPr>
            <a:lvl7pPr>
              <a:defRPr sz="2025" b="0">
                <a:solidFill>
                  <a:srgbClr val="183D34"/>
                </a:solidFill>
              </a:defRPr>
            </a:lvl7pPr>
            <a:lvl8pPr>
              <a:defRPr sz="2025" b="0">
                <a:solidFill>
                  <a:srgbClr val="183D34"/>
                </a:solidFill>
              </a:defRPr>
            </a:lvl8pPr>
            <a:lvl9pPr>
              <a:defRPr sz="2025" b="0">
                <a:solidFill>
                  <a:srgbClr val="183D34"/>
                </a:solidFill>
              </a:defRPr>
            </a:lvl9pPr>
          </a:lstStyle>
          <a:p xmlns:a="http://schemas.openxmlformats.org/drawingml/2006/main">
            <a:pPr>
              <a:defRPr sz="2025" b="0">
                <a:solidFill>
                  <a:srgbClr val="183D34"/>
                </a:solidFill>
              </a:defRPr>
            </a:pPr>
            <a:r>
              <a:rPr sz="2025" b="0">
                <a:solidFill>
                  <a:srgbClr val="183D34"/>
                </a:solidFill>
              </a:rPr>
              <a:t>Per-record distribution IDs and payload fingerprints separate identical duplicates from conflicting content.</a:t>
            </a:r>
          </a:p>
        </p:txBody>
      </p:sp>
      <p:sp>
        <p:nvSpPr>
          <p:cNvPr id="6" name="">
            <a:extLst xmlns:a="http://schemas.openxmlformats.org/drawingml/2006/main">
              <a:ext uri="{FF2B5EF4-FFF2-40B4-BE49-F238E27FC236}">
                <a16:creationId xmlns:a16="http://schemas.microsoft.com/office/drawing/2014/main" id="{30327302-B694-4E62-9646-0EF4CD07F8BA}"/>
              </a:ext>
            </a:extLst>
          </p:cNvPr>
          <p:cNvSpPr>
            <a:spLocks xmlns:a="http://schemas.openxmlformats.org/drawingml/2006/main" noGrp="1"/>
          </p:cNvSpPr>
          <p:nvPr/>
        </p:nvSpPr>
        <p:spPr>
          <a:xfrm xmlns:a="http://schemas.openxmlformats.org/drawingml/2006/main">
            <a:off x="609600" y="2600325"/>
            <a:ext cx="3381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A6B4D"/>
                </a:solidFill>
              </a:defRPr>
            </a:defPPr>
            <a:lvl1pPr>
              <a:defRPr sz="2100" b="1">
                <a:solidFill>
                  <a:srgbClr val="2A6B4D"/>
                </a:solidFill>
              </a:defRPr>
            </a:lvl1pPr>
            <a:lvl2pPr>
              <a:defRPr sz="2100" b="1">
                <a:solidFill>
                  <a:srgbClr val="2A6B4D"/>
                </a:solidFill>
              </a:defRPr>
            </a:lvl2pPr>
            <a:lvl3pPr>
              <a:defRPr sz="2100" b="1">
                <a:solidFill>
                  <a:srgbClr val="2A6B4D"/>
                </a:solidFill>
              </a:defRPr>
            </a:lvl3pPr>
            <a:lvl4pPr>
              <a:defRPr sz="2100" b="1">
                <a:solidFill>
                  <a:srgbClr val="2A6B4D"/>
                </a:solidFill>
              </a:defRPr>
            </a:lvl4pPr>
            <a:lvl5pPr>
              <a:defRPr sz="2100" b="1">
                <a:solidFill>
                  <a:srgbClr val="2A6B4D"/>
                </a:solidFill>
              </a:defRPr>
            </a:lvl5pPr>
            <a:lvl6pPr>
              <a:defRPr sz="2100" b="1">
                <a:solidFill>
                  <a:srgbClr val="2A6B4D"/>
                </a:solidFill>
              </a:defRPr>
            </a:lvl6pPr>
            <a:lvl7pPr>
              <a:defRPr sz="2100" b="1">
                <a:solidFill>
                  <a:srgbClr val="2A6B4D"/>
                </a:solidFill>
              </a:defRPr>
            </a:lvl7pPr>
            <a:lvl8pPr>
              <a:defRPr sz="2100" b="1">
                <a:solidFill>
                  <a:srgbClr val="2A6B4D"/>
                </a:solidFill>
              </a:defRPr>
            </a:lvl8pPr>
            <a:lvl9pPr>
              <a:defRPr sz="2100" b="1">
                <a:solidFill>
                  <a:srgbClr val="2A6B4D"/>
                </a:solidFill>
              </a:defRPr>
            </a:lvl9pPr>
          </a:lstStyle>
          <a:p xmlns:a="http://schemas.openxmlformats.org/drawingml/2006/main">
            <a:pPr>
              <a:defRPr sz="2100" b="1">
                <a:solidFill>
                  <a:srgbClr val="2A6B4D"/>
                </a:solidFill>
              </a:defRPr>
            </a:pPr>
            <a:r>
              <a:rPr sz="2100" b="1">
                <a:solidFill>
                  <a:srgbClr val="2A6B4D"/>
                </a:solidFill>
              </a:rPr>
              <a:t>Ambiguous acknowledgments</a:t>
            </a:r>
          </a:p>
        </p:txBody>
      </p:sp>
      <p:sp>
        <p:nvSpPr>
          <p:cNvPr id="7" name="">
            <a:extLst xmlns:a="http://schemas.openxmlformats.org/drawingml/2006/main">
              <a:ext uri="{FF2B5EF4-FFF2-40B4-BE49-F238E27FC236}">
                <a16:creationId xmlns:a16="http://schemas.microsoft.com/office/drawing/2014/main" id="{50CB5E9F-EBB6-46AA-ADA1-58EB73CD81ED}"/>
              </a:ext>
            </a:extLst>
          </p:cNvPr>
          <p:cNvSpPr>
            <a:spLocks xmlns:a="http://schemas.openxmlformats.org/drawingml/2006/main" noGrp="1"/>
          </p:cNvSpPr>
          <p:nvPr/>
        </p:nvSpPr>
        <p:spPr>
          <a:xfrm xmlns:a="http://schemas.openxmlformats.org/drawingml/2006/main">
            <a:off x="4381500" y="2600325"/>
            <a:ext cx="709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D34"/>
                </a:solidFill>
              </a:defRPr>
            </a:defPPr>
            <a:lvl1pPr>
              <a:defRPr sz="2025" b="0">
                <a:solidFill>
                  <a:srgbClr val="183D34"/>
                </a:solidFill>
              </a:defRPr>
            </a:lvl1pPr>
            <a:lvl2pPr>
              <a:defRPr sz="2025" b="0">
                <a:solidFill>
                  <a:srgbClr val="183D34"/>
                </a:solidFill>
              </a:defRPr>
            </a:lvl2pPr>
            <a:lvl3pPr>
              <a:defRPr sz="2025" b="0">
                <a:solidFill>
                  <a:srgbClr val="183D34"/>
                </a:solidFill>
              </a:defRPr>
            </a:lvl3pPr>
            <a:lvl4pPr>
              <a:defRPr sz="2025" b="0">
                <a:solidFill>
                  <a:srgbClr val="183D34"/>
                </a:solidFill>
              </a:defRPr>
            </a:lvl4pPr>
            <a:lvl5pPr>
              <a:defRPr sz="2025" b="0">
                <a:solidFill>
                  <a:srgbClr val="183D34"/>
                </a:solidFill>
              </a:defRPr>
            </a:lvl5pPr>
            <a:lvl6pPr>
              <a:defRPr sz="2025" b="0">
                <a:solidFill>
                  <a:srgbClr val="183D34"/>
                </a:solidFill>
              </a:defRPr>
            </a:lvl6pPr>
            <a:lvl7pPr>
              <a:defRPr sz="2025" b="0">
                <a:solidFill>
                  <a:srgbClr val="183D34"/>
                </a:solidFill>
              </a:defRPr>
            </a:lvl7pPr>
            <a:lvl8pPr>
              <a:defRPr sz="2025" b="0">
                <a:solidFill>
                  <a:srgbClr val="183D34"/>
                </a:solidFill>
              </a:defRPr>
            </a:lvl8pPr>
            <a:lvl9pPr>
              <a:defRPr sz="2025" b="0">
                <a:solidFill>
                  <a:srgbClr val="183D34"/>
                </a:solidFill>
              </a:defRPr>
            </a:lvl9pPr>
          </a:lstStyle>
          <a:p xmlns:a="http://schemas.openxmlformats.org/drawingml/2006/main">
            <a:pPr>
              <a:defRPr sz="2025" b="0">
                <a:solidFill>
                  <a:srgbClr val="183D34"/>
                </a:solidFill>
              </a:defRPr>
            </a:pPr>
            <a:r>
              <a:rPr sz="2025" b="0">
                <a:solidFill>
                  <a:srgbClr val="183D34"/>
                </a:solidFill>
              </a:rPr>
              <a:t>UNKNOWN delivery requires reconciliation before retry. A timeout does not prove non-delivery.</a:t>
            </a:r>
          </a:p>
        </p:txBody>
      </p:sp>
      <p:sp>
        <p:nvSpPr>
          <p:cNvPr id="8" name="">
            <a:extLst xmlns:a="http://schemas.openxmlformats.org/drawingml/2006/main">
              <a:ext uri="{FF2B5EF4-FFF2-40B4-BE49-F238E27FC236}">
                <a16:creationId xmlns:a16="http://schemas.microsoft.com/office/drawing/2014/main" id="{B74664C6-FC67-47AB-8B5E-48760DB15C6A}"/>
              </a:ext>
            </a:extLst>
          </p:cNvPr>
          <p:cNvSpPr>
            <a:spLocks xmlns:a="http://schemas.openxmlformats.org/drawingml/2006/main" noGrp="1"/>
          </p:cNvSpPr>
          <p:nvPr/>
        </p:nvSpPr>
        <p:spPr>
          <a:xfrm xmlns:a="http://schemas.openxmlformats.org/drawingml/2006/main">
            <a:off x="609600" y="3724275"/>
            <a:ext cx="3381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A6B4D"/>
                </a:solidFill>
              </a:defRPr>
            </a:defPPr>
            <a:lvl1pPr>
              <a:defRPr sz="2100" b="1">
                <a:solidFill>
                  <a:srgbClr val="2A6B4D"/>
                </a:solidFill>
              </a:defRPr>
            </a:lvl1pPr>
            <a:lvl2pPr>
              <a:defRPr sz="2100" b="1">
                <a:solidFill>
                  <a:srgbClr val="2A6B4D"/>
                </a:solidFill>
              </a:defRPr>
            </a:lvl2pPr>
            <a:lvl3pPr>
              <a:defRPr sz="2100" b="1">
                <a:solidFill>
                  <a:srgbClr val="2A6B4D"/>
                </a:solidFill>
              </a:defRPr>
            </a:lvl3pPr>
            <a:lvl4pPr>
              <a:defRPr sz="2100" b="1">
                <a:solidFill>
                  <a:srgbClr val="2A6B4D"/>
                </a:solidFill>
              </a:defRPr>
            </a:lvl4pPr>
            <a:lvl5pPr>
              <a:defRPr sz="2100" b="1">
                <a:solidFill>
                  <a:srgbClr val="2A6B4D"/>
                </a:solidFill>
              </a:defRPr>
            </a:lvl5pPr>
            <a:lvl6pPr>
              <a:defRPr sz="2100" b="1">
                <a:solidFill>
                  <a:srgbClr val="2A6B4D"/>
                </a:solidFill>
              </a:defRPr>
            </a:lvl6pPr>
            <a:lvl7pPr>
              <a:defRPr sz="2100" b="1">
                <a:solidFill>
                  <a:srgbClr val="2A6B4D"/>
                </a:solidFill>
              </a:defRPr>
            </a:lvl7pPr>
            <a:lvl8pPr>
              <a:defRPr sz="2100" b="1">
                <a:solidFill>
                  <a:srgbClr val="2A6B4D"/>
                </a:solidFill>
              </a:defRPr>
            </a:lvl8pPr>
            <a:lvl9pPr>
              <a:defRPr sz="2100" b="1">
                <a:solidFill>
                  <a:srgbClr val="2A6B4D"/>
                </a:solidFill>
              </a:defRPr>
            </a:lvl9pPr>
          </a:lstStyle>
          <a:p xmlns:a="http://schemas.openxmlformats.org/drawingml/2006/main">
            <a:pPr>
              <a:defRPr sz="2100" b="1">
                <a:solidFill>
                  <a:srgbClr val="2A6B4D"/>
                </a:solidFill>
              </a:defRPr>
            </a:pPr>
            <a:r>
              <a:rPr sz="2100" b="1">
                <a:solidFill>
                  <a:srgbClr val="2A6B4D"/>
                </a:solidFill>
              </a:rPr>
              <a:t>Evidence-bound approval</a:t>
            </a:r>
          </a:p>
        </p:txBody>
      </p:sp>
      <p:sp>
        <p:nvSpPr>
          <p:cNvPr id="9" name="">
            <a:extLst xmlns:a="http://schemas.openxmlformats.org/drawingml/2006/main">
              <a:ext uri="{FF2B5EF4-FFF2-40B4-BE49-F238E27FC236}">
                <a16:creationId xmlns:a16="http://schemas.microsoft.com/office/drawing/2014/main" id="{E93026D3-CB61-41BF-B44D-B8D519622E3D}"/>
              </a:ext>
            </a:extLst>
          </p:cNvPr>
          <p:cNvSpPr>
            <a:spLocks xmlns:a="http://schemas.openxmlformats.org/drawingml/2006/main" noGrp="1"/>
          </p:cNvSpPr>
          <p:nvPr/>
        </p:nvSpPr>
        <p:spPr>
          <a:xfrm xmlns:a="http://schemas.openxmlformats.org/drawingml/2006/main">
            <a:off x="4381500" y="3724275"/>
            <a:ext cx="709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D34"/>
                </a:solidFill>
              </a:defRPr>
            </a:defPPr>
            <a:lvl1pPr>
              <a:defRPr sz="2025" b="0">
                <a:solidFill>
                  <a:srgbClr val="183D34"/>
                </a:solidFill>
              </a:defRPr>
            </a:lvl1pPr>
            <a:lvl2pPr>
              <a:defRPr sz="2025" b="0">
                <a:solidFill>
                  <a:srgbClr val="183D34"/>
                </a:solidFill>
              </a:defRPr>
            </a:lvl2pPr>
            <a:lvl3pPr>
              <a:defRPr sz="2025" b="0">
                <a:solidFill>
                  <a:srgbClr val="183D34"/>
                </a:solidFill>
              </a:defRPr>
            </a:lvl3pPr>
            <a:lvl4pPr>
              <a:defRPr sz="2025" b="0">
                <a:solidFill>
                  <a:srgbClr val="183D34"/>
                </a:solidFill>
              </a:defRPr>
            </a:lvl4pPr>
            <a:lvl5pPr>
              <a:defRPr sz="2025" b="0">
                <a:solidFill>
                  <a:srgbClr val="183D34"/>
                </a:solidFill>
              </a:defRPr>
            </a:lvl5pPr>
            <a:lvl6pPr>
              <a:defRPr sz="2025" b="0">
                <a:solidFill>
                  <a:srgbClr val="183D34"/>
                </a:solidFill>
              </a:defRPr>
            </a:lvl6pPr>
            <a:lvl7pPr>
              <a:defRPr sz="2025" b="0">
                <a:solidFill>
                  <a:srgbClr val="183D34"/>
                </a:solidFill>
              </a:defRPr>
            </a:lvl7pPr>
            <a:lvl8pPr>
              <a:defRPr sz="2025" b="0">
                <a:solidFill>
                  <a:srgbClr val="183D34"/>
                </a:solidFill>
              </a:defRPr>
            </a:lvl8pPr>
            <a:lvl9pPr>
              <a:defRPr sz="2025" b="0">
                <a:solidFill>
                  <a:srgbClr val="183D34"/>
                </a:solidFill>
              </a:defRPr>
            </a:lvl9pPr>
          </a:lstStyle>
          <a:p xmlns:a="http://schemas.openxmlformats.org/drawingml/2006/main">
            <a:pPr>
              <a:defRPr sz="2025" b="0">
                <a:solidFill>
                  <a:srgbClr val="183D34"/>
                </a:solidFill>
              </a:defRPr>
            </a:pPr>
            <a:r>
              <a:rPr sz="2025" b="0">
                <a:solidFill>
                  <a:srgbClr val="183D34"/>
                </a:solidFill>
              </a:rPr>
              <a:t>Execution rejects missing or stale approval. Requester and approver must differ in the local protocol.</a:t>
            </a:r>
          </a:p>
        </p:txBody>
      </p:sp>
      <p:sp>
        <p:nvSpPr>
          <p:cNvPr id="10" name="">
            <a:extLst xmlns:a="http://schemas.openxmlformats.org/drawingml/2006/main">
              <a:ext uri="{FF2B5EF4-FFF2-40B4-BE49-F238E27FC236}">
                <a16:creationId xmlns:a16="http://schemas.microsoft.com/office/drawing/2014/main" id="{8D19829E-20E3-4D87-AA1C-78F4FB3CF199}"/>
              </a:ext>
            </a:extLst>
          </p:cNvPr>
          <p:cNvSpPr>
            <a:spLocks xmlns:a="http://schemas.openxmlformats.org/drawingml/2006/main" noGrp="1"/>
          </p:cNvSpPr>
          <p:nvPr/>
        </p:nvSpPr>
        <p:spPr>
          <a:xfrm xmlns:a="http://schemas.openxmlformats.org/drawingml/2006/main">
            <a:off x="609600" y="4848225"/>
            <a:ext cx="3381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A6B4D"/>
                </a:solidFill>
              </a:defRPr>
            </a:defPPr>
            <a:lvl1pPr>
              <a:defRPr sz="2100" b="1">
                <a:solidFill>
                  <a:srgbClr val="2A6B4D"/>
                </a:solidFill>
              </a:defRPr>
            </a:lvl1pPr>
            <a:lvl2pPr>
              <a:defRPr sz="2100" b="1">
                <a:solidFill>
                  <a:srgbClr val="2A6B4D"/>
                </a:solidFill>
              </a:defRPr>
            </a:lvl2pPr>
            <a:lvl3pPr>
              <a:defRPr sz="2100" b="1">
                <a:solidFill>
                  <a:srgbClr val="2A6B4D"/>
                </a:solidFill>
              </a:defRPr>
            </a:lvl3pPr>
            <a:lvl4pPr>
              <a:defRPr sz="2100" b="1">
                <a:solidFill>
                  <a:srgbClr val="2A6B4D"/>
                </a:solidFill>
              </a:defRPr>
            </a:lvl4pPr>
            <a:lvl5pPr>
              <a:defRPr sz="2100" b="1">
                <a:solidFill>
                  <a:srgbClr val="2A6B4D"/>
                </a:solidFill>
              </a:defRPr>
            </a:lvl5pPr>
            <a:lvl6pPr>
              <a:defRPr sz="2100" b="1">
                <a:solidFill>
                  <a:srgbClr val="2A6B4D"/>
                </a:solidFill>
              </a:defRPr>
            </a:lvl6pPr>
            <a:lvl7pPr>
              <a:defRPr sz="2100" b="1">
                <a:solidFill>
                  <a:srgbClr val="2A6B4D"/>
                </a:solidFill>
              </a:defRPr>
            </a:lvl7pPr>
            <a:lvl8pPr>
              <a:defRPr sz="2100" b="1">
                <a:solidFill>
                  <a:srgbClr val="2A6B4D"/>
                </a:solidFill>
              </a:defRPr>
            </a:lvl8pPr>
            <a:lvl9pPr>
              <a:defRPr sz="2100" b="1">
                <a:solidFill>
                  <a:srgbClr val="2A6B4D"/>
                </a:solidFill>
              </a:defRPr>
            </a:lvl9pPr>
          </a:lstStyle>
          <a:p xmlns:a="http://schemas.openxmlformats.org/drawingml/2006/main">
            <a:pPr>
              <a:defRPr sz="2100" b="1">
                <a:solidFill>
                  <a:srgbClr val="2A6B4D"/>
                </a:solidFill>
              </a:defRPr>
            </a:pPr>
            <a:r>
              <a:rPr sz="2100" b="1">
                <a:solidFill>
                  <a:srgbClr val="2A6B4D"/>
                </a:solidFill>
              </a:rPr>
              <a:t>Verified completion</a:t>
            </a:r>
          </a:p>
        </p:txBody>
      </p:sp>
      <p:sp>
        <p:nvSpPr>
          <p:cNvPr id="11" name="">
            <a:extLst xmlns:a="http://schemas.openxmlformats.org/drawingml/2006/main">
              <a:ext uri="{FF2B5EF4-FFF2-40B4-BE49-F238E27FC236}">
                <a16:creationId xmlns:a16="http://schemas.microsoft.com/office/drawing/2014/main" id="{60BF47F2-2E4B-4459-BF7E-31A866DAFF22}"/>
              </a:ext>
            </a:extLst>
          </p:cNvPr>
          <p:cNvSpPr>
            <a:spLocks xmlns:a="http://schemas.openxmlformats.org/drawingml/2006/main" noGrp="1"/>
          </p:cNvSpPr>
          <p:nvPr/>
        </p:nvSpPr>
        <p:spPr>
          <a:xfrm xmlns:a="http://schemas.openxmlformats.org/drawingml/2006/main">
            <a:off x="4381500" y="4848225"/>
            <a:ext cx="709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D34"/>
                </a:solidFill>
              </a:defRPr>
            </a:defPPr>
            <a:lvl1pPr>
              <a:defRPr sz="2025" b="0">
                <a:solidFill>
                  <a:srgbClr val="183D34"/>
                </a:solidFill>
              </a:defRPr>
            </a:lvl1pPr>
            <a:lvl2pPr>
              <a:defRPr sz="2025" b="0">
                <a:solidFill>
                  <a:srgbClr val="183D34"/>
                </a:solidFill>
              </a:defRPr>
            </a:lvl2pPr>
            <a:lvl3pPr>
              <a:defRPr sz="2025" b="0">
                <a:solidFill>
                  <a:srgbClr val="183D34"/>
                </a:solidFill>
              </a:defRPr>
            </a:lvl3pPr>
            <a:lvl4pPr>
              <a:defRPr sz="2025" b="0">
                <a:solidFill>
                  <a:srgbClr val="183D34"/>
                </a:solidFill>
              </a:defRPr>
            </a:lvl4pPr>
            <a:lvl5pPr>
              <a:defRPr sz="2025" b="0">
                <a:solidFill>
                  <a:srgbClr val="183D34"/>
                </a:solidFill>
              </a:defRPr>
            </a:lvl5pPr>
            <a:lvl6pPr>
              <a:defRPr sz="2025" b="0">
                <a:solidFill>
                  <a:srgbClr val="183D34"/>
                </a:solidFill>
              </a:defRPr>
            </a:lvl6pPr>
            <a:lvl7pPr>
              <a:defRPr sz="2025" b="0">
                <a:solidFill>
                  <a:srgbClr val="183D34"/>
                </a:solidFill>
              </a:defRPr>
            </a:lvl7pPr>
            <a:lvl8pPr>
              <a:defRPr sz="2025" b="0">
                <a:solidFill>
                  <a:srgbClr val="183D34"/>
                </a:solidFill>
              </a:defRPr>
            </a:lvl8pPr>
            <a:lvl9pPr>
              <a:defRPr sz="2025" b="0">
                <a:solidFill>
                  <a:srgbClr val="183D34"/>
                </a:solidFill>
              </a:defRPr>
            </a:lvl9pPr>
          </a:lstStyle>
          <a:p xmlns:a="http://schemas.openxmlformats.org/drawingml/2006/main">
            <a:pPr>
              <a:defRPr sz="2025" b="0">
                <a:solidFill>
                  <a:srgbClr val="183D34"/>
                </a:solidFill>
              </a:defRPr>
            </a:pPr>
            <a:r>
              <a:rPr sz="2025" b="0">
                <a:solidFill>
                  <a:srgbClr val="183D34"/>
                </a:solidFill>
              </a:rPr>
              <a:t>Consumer checks compare receiver payloads with canonical records before reports become healthy.</a:t>
            </a:r>
          </a:p>
        </p:txBody>
      </p:sp>
    </p:spTree>
    <p:extLst>
      <p:ext uri="{BB962C8B-B14F-4D97-AF65-F5344CB8AC3E}">
        <p14:creationId xmlns:p14="http://schemas.microsoft.com/office/powerpoint/2010/main" val="344062853"/>
      </p:ext>
    </p:extLst>
  </p:cSld>
</p:sld>
</file>

<file path=ppt/slides/slide9.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C7C8ABD-24BA-40FF-8EB7-A63B65B1D4F0}"/>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D34"/>
                </a:solidFill>
              </a:defRPr>
            </a:defPPr>
            <a:lvl1pPr>
              <a:defRPr sz="3000" b="1">
                <a:solidFill>
                  <a:srgbClr val="183D34"/>
                </a:solidFill>
              </a:defRPr>
            </a:lvl1pPr>
            <a:lvl2pPr>
              <a:defRPr sz="3000" b="1">
                <a:solidFill>
                  <a:srgbClr val="183D34"/>
                </a:solidFill>
              </a:defRPr>
            </a:lvl2pPr>
            <a:lvl3pPr>
              <a:defRPr sz="3000" b="1">
                <a:solidFill>
                  <a:srgbClr val="183D34"/>
                </a:solidFill>
              </a:defRPr>
            </a:lvl3pPr>
            <a:lvl4pPr>
              <a:defRPr sz="3000" b="1">
                <a:solidFill>
                  <a:srgbClr val="183D34"/>
                </a:solidFill>
              </a:defRPr>
            </a:lvl4pPr>
            <a:lvl5pPr>
              <a:defRPr sz="3000" b="1">
                <a:solidFill>
                  <a:srgbClr val="183D34"/>
                </a:solidFill>
              </a:defRPr>
            </a:lvl5pPr>
            <a:lvl6pPr>
              <a:defRPr sz="3000" b="1">
                <a:solidFill>
                  <a:srgbClr val="183D34"/>
                </a:solidFill>
              </a:defRPr>
            </a:lvl6pPr>
            <a:lvl7pPr>
              <a:defRPr sz="3000" b="1">
                <a:solidFill>
                  <a:srgbClr val="183D34"/>
                </a:solidFill>
              </a:defRPr>
            </a:lvl7pPr>
            <a:lvl8pPr>
              <a:defRPr sz="3000" b="1">
                <a:solidFill>
                  <a:srgbClr val="183D34"/>
                </a:solidFill>
              </a:defRPr>
            </a:lvl8pPr>
            <a:lvl9pPr>
              <a:defRPr sz="3000" b="1">
                <a:solidFill>
                  <a:srgbClr val="183D34"/>
                </a:solidFill>
              </a:defRPr>
            </a:lvl9pPr>
          </a:lstStyle>
          <a:p xmlns:a="http://schemas.openxmlformats.org/drawingml/2006/main">
            <a:pPr>
              <a:defRPr sz="3000" b="1">
                <a:solidFill>
                  <a:srgbClr val="183D34"/>
                </a:solidFill>
              </a:defRPr>
            </a:pPr>
            <a:r>
              <a:rPr sz="3000" b="1">
                <a:solidFill>
                  <a:srgbClr val="183D34"/>
                </a:solidFill>
              </a:rPr>
              <a:t>DeliveryGuard baseline evidence</a:t>
            </a:r>
          </a:p>
        </p:txBody>
      </p:sp>
      <p:sp>
        <p:nvSpPr>
          <p:cNvPr id="3" name="">
            <a:extLst xmlns:a="http://schemas.openxmlformats.org/drawingml/2006/main">
              <a:ext uri="{FF2B5EF4-FFF2-40B4-BE49-F238E27FC236}">
                <a16:creationId xmlns:a16="http://schemas.microsoft.com/office/drawing/2014/main" id="{E4247C28-F4D0-4850-9774-BE14642736C5}"/>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A62"/>
                </a:solidFill>
              </a:defRPr>
            </a:defPPr>
            <a:lvl1pPr>
              <a:defRPr sz="1200" b="0">
                <a:solidFill>
                  <a:srgbClr val="536A62"/>
                </a:solidFill>
              </a:defRPr>
            </a:lvl1pPr>
            <a:lvl2pPr>
              <a:defRPr sz="1200" b="0">
                <a:solidFill>
                  <a:srgbClr val="536A62"/>
                </a:solidFill>
              </a:defRPr>
            </a:lvl2pPr>
            <a:lvl3pPr>
              <a:defRPr sz="1200" b="0">
                <a:solidFill>
                  <a:srgbClr val="536A62"/>
                </a:solidFill>
              </a:defRPr>
            </a:lvl3pPr>
            <a:lvl4pPr>
              <a:defRPr sz="1200" b="0">
                <a:solidFill>
                  <a:srgbClr val="536A62"/>
                </a:solidFill>
              </a:defRPr>
            </a:lvl4pPr>
            <a:lvl5pPr>
              <a:defRPr sz="1200" b="0">
                <a:solidFill>
                  <a:srgbClr val="536A62"/>
                </a:solidFill>
              </a:defRPr>
            </a:lvl5pPr>
            <a:lvl6pPr>
              <a:defRPr sz="1200" b="0">
                <a:solidFill>
                  <a:srgbClr val="536A62"/>
                </a:solidFill>
              </a:defRPr>
            </a:lvl6pPr>
            <a:lvl7pPr>
              <a:defRPr sz="1200" b="0">
                <a:solidFill>
                  <a:srgbClr val="536A62"/>
                </a:solidFill>
              </a:defRPr>
            </a:lvl7pPr>
            <a:lvl8pPr>
              <a:defRPr sz="1200" b="0">
                <a:solidFill>
                  <a:srgbClr val="536A62"/>
                </a:solidFill>
              </a:defRPr>
            </a:lvl8pPr>
            <a:lvl9pPr>
              <a:defRPr sz="1200" b="0">
                <a:solidFill>
                  <a:srgbClr val="536A62"/>
                </a:solidFill>
              </a:defRPr>
            </a:lvl9pPr>
          </a:lstStyle>
          <a:p xmlns:a="http://schemas.openxmlformats.org/drawingml/2006/main">
            <a:pPr>
              <a:defRPr sz="1200" b="0">
                <a:solidFill>
                  <a:srgbClr val="536A62"/>
                </a:solidFill>
              </a:defRPr>
            </a:pPr>
            <a:r>
              <a:rPr sz="1200" b="0">
                <a:solidFill>
                  <a:srgbClr val="536A62"/>
                </a:solidFill>
              </a:rPr>
              <a:t>09</a:t>
            </a:r>
          </a:p>
        </p:txBody>
      </p:sp>
      <p:sp>
        <p:nvSpPr>
          <p:cNvPr id="4" name="">
            <a:extLst xmlns:a="http://schemas.openxmlformats.org/drawingml/2006/main">
              <a:ext uri="{FF2B5EF4-FFF2-40B4-BE49-F238E27FC236}">
                <a16:creationId xmlns:a16="http://schemas.microsoft.com/office/drawing/2014/main" id="{C7EF3154-5ADC-45BD-AEA7-A754C55BA825}"/>
              </a:ext>
            </a:extLst>
          </p:cNvPr>
          <p:cNvSpPr>
            <a:spLocks xmlns:a="http://schemas.openxmlformats.org/drawingml/2006/main" noGrp="1"/>
          </p:cNvSpPr>
          <p:nvPr/>
        </p:nvSpPr>
        <p:spPr>
          <a:xfrm xmlns:a="http://schemas.openxmlformats.org/drawingml/2006/main">
            <a:off x="609600" y="1476375"/>
            <a:ext cx="266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000" b="1">
                <a:solidFill>
                  <a:srgbClr val="2A6B4D"/>
                </a:solidFill>
              </a:defRPr>
            </a:defPPr>
            <a:lvl1pPr>
              <a:defRPr sz="6000" b="1">
                <a:solidFill>
                  <a:srgbClr val="2A6B4D"/>
                </a:solidFill>
              </a:defRPr>
            </a:lvl1pPr>
            <a:lvl2pPr>
              <a:defRPr sz="6000" b="1">
                <a:solidFill>
                  <a:srgbClr val="2A6B4D"/>
                </a:solidFill>
              </a:defRPr>
            </a:lvl2pPr>
            <a:lvl3pPr>
              <a:defRPr sz="6000" b="1">
                <a:solidFill>
                  <a:srgbClr val="2A6B4D"/>
                </a:solidFill>
              </a:defRPr>
            </a:lvl3pPr>
            <a:lvl4pPr>
              <a:defRPr sz="6000" b="1">
                <a:solidFill>
                  <a:srgbClr val="2A6B4D"/>
                </a:solidFill>
              </a:defRPr>
            </a:lvl4pPr>
            <a:lvl5pPr>
              <a:defRPr sz="6000" b="1">
                <a:solidFill>
                  <a:srgbClr val="2A6B4D"/>
                </a:solidFill>
              </a:defRPr>
            </a:lvl5pPr>
            <a:lvl6pPr>
              <a:defRPr sz="6000" b="1">
                <a:solidFill>
                  <a:srgbClr val="2A6B4D"/>
                </a:solidFill>
              </a:defRPr>
            </a:lvl6pPr>
            <a:lvl7pPr>
              <a:defRPr sz="6000" b="1">
                <a:solidFill>
                  <a:srgbClr val="2A6B4D"/>
                </a:solidFill>
              </a:defRPr>
            </a:lvl7pPr>
            <a:lvl8pPr>
              <a:defRPr sz="6000" b="1">
                <a:solidFill>
                  <a:srgbClr val="2A6B4D"/>
                </a:solidFill>
              </a:defRPr>
            </a:lvl8pPr>
            <a:lvl9pPr>
              <a:defRPr sz="6000" b="1">
                <a:solidFill>
                  <a:srgbClr val="2A6B4D"/>
                </a:solidFill>
              </a:defRPr>
            </a:lvl9pPr>
          </a:lstStyle>
          <a:p xmlns:a="http://schemas.openxmlformats.org/drawingml/2006/main">
            <a:pPr>
              <a:defRPr sz="6000" b="1">
                <a:solidFill>
                  <a:srgbClr val="2A6B4D"/>
                </a:solidFill>
              </a:defRPr>
            </a:pPr>
            <a:r>
              <a:rPr sz="6000" b="1">
                <a:solidFill>
                  <a:srgbClr val="2A6B4D"/>
                </a:solidFill>
              </a:rPr>
              <a:t>09</a:t>
            </a:r>
          </a:p>
        </p:txBody>
      </p:sp>
      <p:sp>
        <p:nvSpPr>
          <p:cNvPr id="5" name="">
            <a:extLst xmlns:a="http://schemas.openxmlformats.org/drawingml/2006/main">
              <a:ext uri="{FF2B5EF4-FFF2-40B4-BE49-F238E27FC236}">
                <a16:creationId xmlns:a16="http://schemas.microsoft.com/office/drawing/2014/main" id="{DEC5CBA0-0C58-48FC-ACF3-6D1855A129CF}"/>
              </a:ext>
            </a:extLst>
          </p:cNvPr>
          <p:cNvSpPr>
            <a:spLocks xmlns:a="http://schemas.openxmlformats.org/drawingml/2006/main" noGrp="1"/>
          </p:cNvSpPr>
          <p:nvPr/>
        </p:nvSpPr>
        <p:spPr>
          <a:xfrm xmlns:a="http://schemas.openxmlformats.org/drawingml/2006/main">
            <a:off x="609600" y="26670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D34"/>
                </a:solidFill>
              </a:defRPr>
            </a:defPPr>
            <a:lvl1pPr>
              <a:defRPr sz="2100" b="0">
                <a:solidFill>
                  <a:srgbClr val="183D34"/>
                </a:solidFill>
              </a:defRPr>
            </a:lvl1pPr>
            <a:lvl2pPr>
              <a:defRPr sz="2100" b="0">
                <a:solidFill>
                  <a:srgbClr val="183D34"/>
                </a:solidFill>
              </a:defRPr>
            </a:lvl2pPr>
            <a:lvl3pPr>
              <a:defRPr sz="2100" b="0">
                <a:solidFill>
                  <a:srgbClr val="183D34"/>
                </a:solidFill>
              </a:defRPr>
            </a:lvl3pPr>
            <a:lvl4pPr>
              <a:defRPr sz="2100" b="0">
                <a:solidFill>
                  <a:srgbClr val="183D34"/>
                </a:solidFill>
              </a:defRPr>
            </a:lvl4pPr>
            <a:lvl5pPr>
              <a:defRPr sz="2100" b="0">
                <a:solidFill>
                  <a:srgbClr val="183D34"/>
                </a:solidFill>
              </a:defRPr>
            </a:lvl5pPr>
            <a:lvl6pPr>
              <a:defRPr sz="2100" b="0">
                <a:solidFill>
                  <a:srgbClr val="183D34"/>
                </a:solidFill>
              </a:defRPr>
            </a:lvl6pPr>
            <a:lvl7pPr>
              <a:defRPr sz="2100" b="0">
                <a:solidFill>
                  <a:srgbClr val="183D34"/>
                </a:solidFill>
              </a:defRPr>
            </a:lvl7pPr>
            <a:lvl8pPr>
              <a:defRPr sz="2100" b="0">
                <a:solidFill>
                  <a:srgbClr val="183D34"/>
                </a:solidFill>
              </a:defRPr>
            </a:lvl8pPr>
            <a:lvl9pPr>
              <a:defRPr sz="2100" b="0">
                <a:solidFill>
                  <a:srgbClr val="183D34"/>
                </a:solidFill>
              </a:defRPr>
            </a:lvl9pPr>
          </a:lstStyle>
          <a:p xmlns:a="http://schemas.openxmlformats.org/drawingml/2006/main">
            <a:pPr>
              <a:defRPr sz="2100" b="0">
                <a:solidFill>
                  <a:srgbClr val="183D34"/>
                </a:solidFill>
              </a:defRPr>
            </a:pPr>
            <a:r>
              <a:rPr sz="2100" b="0">
                <a:solidFill>
                  <a:srgbClr val="183D34"/>
                </a:solidFill>
              </a:rPr>
              <a:t>Python tests passed</a:t>
            </a:r>
          </a:p>
        </p:txBody>
      </p:sp>
      <p:sp>
        <p:nvSpPr>
          <p:cNvPr id="6" name="">
            <a:extLst xmlns:a="http://schemas.openxmlformats.org/drawingml/2006/main">
              <a:ext uri="{FF2B5EF4-FFF2-40B4-BE49-F238E27FC236}">
                <a16:creationId xmlns:a16="http://schemas.microsoft.com/office/drawing/2014/main" id="{981364DB-F00F-4190-8A87-C70BF04E25E4}"/>
              </a:ext>
            </a:extLst>
          </p:cNvPr>
          <p:cNvSpPr>
            <a:spLocks xmlns:a="http://schemas.openxmlformats.org/drawingml/2006/main" noGrp="1"/>
          </p:cNvSpPr>
          <p:nvPr/>
        </p:nvSpPr>
        <p:spPr>
          <a:xfrm xmlns:a="http://schemas.openxmlformats.org/drawingml/2006/main">
            <a:off x="4572000" y="1476375"/>
            <a:ext cx="266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000" b="1">
                <a:solidFill>
                  <a:srgbClr val="2A6B4D"/>
                </a:solidFill>
              </a:defRPr>
            </a:defPPr>
            <a:lvl1pPr>
              <a:defRPr sz="6000" b="1">
                <a:solidFill>
                  <a:srgbClr val="2A6B4D"/>
                </a:solidFill>
              </a:defRPr>
            </a:lvl1pPr>
            <a:lvl2pPr>
              <a:defRPr sz="6000" b="1">
                <a:solidFill>
                  <a:srgbClr val="2A6B4D"/>
                </a:solidFill>
              </a:defRPr>
            </a:lvl2pPr>
            <a:lvl3pPr>
              <a:defRPr sz="6000" b="1">
                <a:solidFill>
                  <a:srgbClr val="2A6B4D"/>
                </a:solidFill>
              </a:defRPr>
            </a:lvl3pPr>
            <a:lvl4pPr>
              <a:defRPr sz="6000" b="1">
                <a:solidFill>
                  <a:srgbClr val="2A6B4D"/>
                </a:solidFill>
              </a:defRPr>
            </a:lvl4pPr>
            <a:lvl5pPr>
              <a:defRPr sz="6000" b="1">
                <a:solidFill>
                  <a:srgbClr val="2A6B4D"/>
                </a:solidFill>
              </a:defRPr>
            </a:lvl5pPr>
            <a:lvl6pPr>
              <a:defRPr sz="6000" b="1">
                <a:solidFill>
                  <a:srgbClr val="2A6B4D"/>
                </a:solidFill>
              </a:defRPr>
            </a:lvl6pPr>
            <a:lvl7pPr>
              <a:defRPr sz="6000" b="1">
                <a:solidFill>
                  <a:srgbClr val="2A6B4D"/>
                </a:solidFill>
              </a:defRPr>
            </a:lvl7pPr>
            <a:lvl8pPr>
              <a:defRPr sz="6000" b="1">
                <a:solidFill>
                  <a:srgbClr val="2A6B4D"/>
                </a:solidFill>
              </a:defRPr>
            </a:lvl8pPr>
            <a:lvl9pPr>
              <a:defRPr sz="6000" b="1">
                <a:solidFill>
                  <a:srgbClr val="2A6B4D"/>
                </a:solidFill>
              </a:defRPr>
            </a:lvl9pPr>
          </a:lstStyle>
          <a:p xmlns:a="http://schemas.openxmlformats.org/drawingml/2006/main">
            <a:pPr>
              <a:defRPr sz="6000" b="1">
                <a:solidFill>
                  <a:srgbClr val="2A6B4D"/>
                </a:solidFill>
              </a:defRPr>
            </a:pPr>
            <a:r>
              <a:rPr sz="6000" b="1">
                <a:solidFill>
                  <a:srgbClr val="2A6B4D"/>
                </a:solidFill>
              </a:rPr>
              <a:t>9</a:t>
            </a:r>
          </a:p>
        </p:txBody>
      </p:sp>
      <p:sp>
        <p:nvSpPr>
          <p:cNvPr id="7" name="">
            <a:extLst xmlns:a="http://schemas.openxmlformats.org/drawingml/2006/main">
              <a:ext uri="{FF2B5EF4-FFF2-40B4-BE49-F238E27FC236}">
                <a16:creationId xmlns:a16="http://schemas.microsoft.com/office/drawing/2014/main" id="{88FAFFAD-081C-4C11-A260-001A66CD694A}"/>
              </a:ext>
            </a:extLst>
          </p:cNvPr>
          <p:cNvSpPr>
            <a:spLocks xmlns:a="http://schemas.openxmlformats.org/drawingml/2006/main" noGrp="1"/>
          </p:cNvSpPr>
          <p:nvPr/>
        </p:nvSpPr>
        <p:spPr>
          <a:xfrm xmlns:a="http://schemas.openxmlformats.org/drawingml/2006/main">
            <a:off x="4572000" y="26670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D34"/>
                </a:solidFill>
              </a:defRPr>
            </a:defPPr>
            <a:lvl1pPr>
              <a:defRPr sz="2100" b="0">
                <a:solidFill>
                  <a:srgbClr val="183D34"/>
                </a:solidFill>
              </a:defRPr>
            </a:lvl1pPr>
            <a:lvl2pPr>
              <a:defRPr sz="2100" b="0">
                <a:solidFill>
                  <a:srgbClr val="183D34"/>
                </a:solidFill>
              </a:defRPr>
            </a:lvl2pPr>
            <a:lvl3pPr>
              <a:defRPr sz="2100" b="0">
                <a:solidFill>
                  <a:srgbClr val="183D34"/>
                </a:solidFill>
              </a:defRPr>
            </a:lvl3pPr>
            <a:lvl4pPr>
              <a:defRPr sz="2100" b="0">
                <a:solidFill>
                  <a:srgbClr val="183D34"/>
                </a:solidFill>
              </a:defRPr>
            </a:lvl4pPr>
            <a:lvl5pPr>
              <a:defRPr sz="2100" b="0">
                <a:solidFill>
                  <a:srgbClr val="183D34"/>
                </a:solidFill>
              </a:defRPr>
            </a:lvl5pPr>
            <a:lvl6pPr>
              <a:defRPr sz="2100" b="0">
                <a:solidFill>
                  <a:srgbClr val="183D34"/>
                </a:solidFill>
              </a:defRPr>
            </a:lvl6pPr>
            <a:lvl7pPr>
              <a:defRPr sz="2100" b="0">
                <a:solidFill>
                  <a:srgbClr val="183D34"/>
                </a:solidFill>
              </a:defRPr>
            </a:lvl7pPr>
            <a:lvl8pPr>
              <a:defRPr sz="2100" b="0">
                <a:solidFill>
                  <a:srgbClr val="183D34"/>
                </a:solidFill>
              </a:defRPr>
            </a:lvl8pPr>
            <a:lvl9pPr>
              <a:defRPr sz="2100" b="0">
                <a:solidFill>
                  <a:srgbClr val="183D34"/>
                </a:solidFill>
              </a:defRPr>
            </a:lvl9pPr>
          </a:lstStyle>
          <a:p xmlns:a="http://schemas.openxmlformats.org/drawingml/2006/main">
            <a:pPr>
              <a:defRPr sz="2100" b="0">
                <a:solidFill>
                  <a:srgbClr val="183D34"/>
                </a:solidFill>
              </a:defRPr>
            </a:pPr>
            <a:r>
              <a:rPr sz="2100" b="0">
                <a:solidFill>
                  <a:srgbClr val="183D34"/>
                </a:solidFill>
              </a:rPr>
              <a:t>Evaluated fault scenarios</a:t>
            </a:r>
          </a:p>
        </p:txBody>
      </p:sp>
      <p:sp>
        <p:nvSpPr>
          <p:cNvPr id="8" name="">
            <a:extLst xmlns:a="http://schemas.openxmlformats.org/drawingml/2006/main">
              <a:ext uri="{FF2B5EF4-FFF2-40B4-BE49-F238E27FC236}">
                <a16:creationId xmlns:a16="http://schemas.microsoft.com/office/drawing/2014/main" id="{18C00747-A9EE-4914-894D-830252722E27}"/>
              </a:ext>
            </a:extLst>
          </p:cNvPr>
          <p:cNvSpPr>
            <a:spLocks xmlns:a="http://schemas.openxmlformats.org/drawingml/2006/main" noGrp="1"/>
          </p:cNvSpPr>
          <p:nvPr/>
        </p:nvSpPr>
        <p:spPr>
          <a:xfrm xmlns:a="http://schemas.openxmlformats.org/drawingml/2006/main">
            <a:off x="8763000" y="1476375"/>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250" b="1">
                <a:solidFill>
                  <a:srgbClr val="2A6B4D"/>
                </a:solidFill>
              </a:defRPr>
            </a:defPPr>
            <a:lvl1pPr>
              <a:defRPr sz="5250" b="1">
                <a:solidFill>
                  <a:srgbClr val="2A6B4D"/>
                </a:solidFill>
              </a:defRPr>
            </a:lvl1pPr>
            <a:lvl2pPr>
              <a:defRPr sz="5250" b="1">
                <a:solidFill>
                  <a:srgbClr val="2A6B4D"/>
                </a:solidFill>
              </a:defRPr>
            </a:lvl2pPr>
            <a:lvl3pPr>
              <a:defRPr sz="5250" b="1">
                <a:solidFill>
                  <a:srgbClr val="2A6B4D"/>
                </a:solidFill>
              </a:defRPr>
            </a:lvl3pPr>
            <a:lvl4pPr>
              <a:defRPr sz="5250" b="1">
                <a:solidFill>
                  <a:srgbClr val="2A6B4D"/>
                </a:solidFill>
              </a:defRPr>
            </a:lvl4pPr>
            <a:lvl5pPr>
              <a:defRPr sz="5250" b="1">
                <a:solidFill>
                  <a:srgbClr val="2A6B4D"/>
                </a:solidFill>
              </a:defRPr>
            </a:lvl5pPr>
            <a:lvl6pPr>
              <a:defRPr sz="5250" b="1">
                <a:solidFill>
                  <a:srgbClr val="2A6B4D"/>
                </a:solidFill>
              </a:defRPr>
            </a:lvl6pPr>
            <a:lvl7pPr>
              <a:defRPr sz="5250" b="1">
                <a:solidFill>
                  <a:srgbClr val="2A6B4D"/>
                </a:solidFill>
              </a:defRPr>
            </a:lvl7pPr>
            <a:lvl8pPr>
              <a:defRPr sz="5250" b="1">
                <a:solidFill>
                  <a:srgbClr val="2A6B4D"/>
                </a:solidFill>
              </a:defRPr>
            </a:lvl8pPr>
            <a:lvl9pPr>
              <a:defRPr sz="5250" b="1">
                <a:solidFill>
                  <a:srgbClr val="2A6B4D"/>
                </a:solidFill>
              </a:defRPr>
            </a:lvl9pPr>
          </a:lstStyle>
          <a:p xmlns:a="http://schemas.openxmlformats.org/drawingml/2006/main">
            <a:pPr>
              <a:defRPr sz="5250" b="1">
                <a:solidFill>
                  <a:srgbClr val="2A6B4D"/>
                </a:solidFill>
              </a:defRPr>
            </a:pPr>
            <a:r>
              <a:rPr sz="5250" b="1">
                <a:solidFill>
                  <a:srgbClr val="2A6B4D"/>
                </a:solidFill>
              </a:rPr>
              <a:t>5</a:t>
            </a:r>
          </a:p>
        </p:txBody>
      </p:sp>
      <p:sp>
        <p:nvSpPr>
          <p:cNvPr id="9" name="">
            <a:extLst xmlns:a="http://schemas.openxmlformats.org/drawingml/2006/main">
              <a:ext uri="{FF2B5EF4-FFF2-40B4-BE49-F238E27FC236}">
                <a16:creationId xmlns:a16="http://schemas.microsoft.com/office/drawing/2014/main" id="{7F142CE9-C10C-48FE-94B6-CACEACCCA0D3}"/>
              </a:ext>
            </a:extLst>
          </p:cNvPr>
          <p:cNvSpPr>
            <a:spLocks xmlns:a="http://schemas.openxmlformats.org/drawingml/2006/main" noGrp="1"/>
          </p:cNvSpPr>
          <p:nvPr/>
        </p:nvSpPr>
        <p:spPr>
          <a:xfrm xmlns:a="http://schemas.openxmlformats.org/drawingml/2006/main">
            <a:off x="8572500" y="2667000"/>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83D34"/>
                </a:solidFill>
              </a:defRPr>
            </a:defPPr>
            <a:lvl1pPr>
              <a:defRPr sz="1950" b="0">
                <a:solidFill>
                  <a:srgbClr val="183D34"/>
                </a:solidFill>
              </a:defRPr>
            </a:lvl1pPr>
            <a:lvl2pPr>
              <a:defRPr sz="1950" b="0">
                <a:solidFill>
                  <a:srgbClr val="183D34"/>
                </a:solidFill>
              </a:defRPr>
            </a:lvl2pPr>
            <a:lvl3pPr>
              <a:defRPr sz="1950" b="0">
                <a:solidFill>
                  <a:srgbClr val="183D34"/>
                </a:solidFill>
              </a:defRPr>
            </a:lvl3pPr>
            <a:lvl4pPr>
              <a:defRPr sz="1950" b="0">
                <a:solidFill>
                  <a:srgbClr val="183D34"/>
                </a:solidFill>
              </a:defRPr>
            </a:lvl4pPr>
            <a:lvl5pPr>
              <a:defRPr sz="1950" b="0">
                <a:solidFill>
                  <a:srgbClr val="183D34"/>
                </a:solidFill>
              </a:defRPr>
            </a:lvl5pPr>
            <a:lvl6pPr>
              <a:defRPr sz="1950" b="0">
                <a:solidFill>
                  <a:srgbClr val="183D34"/>
                </a:solidFill>
              </a:defRPr>
            </a:lvl6pPr>
            <a:lvl7pPr>
              <a:defRPr sz="1950" b="0">
                <a:solidFill>
                  <a:srgbClr val="183D34"/>
                </a:solidFill>
              </a:defRPr>
            </a:lvl7pPr>
            <a:lvl8pPr>
              <a:defRPr sz="1950" b="0">
                <a:solidFill>
                  <a:srgbClr val="183D34"/>
                </a:solidFill>
              </a:defRPr>
            </a:lvl8pPr>
            <a:lvl9pPr>
              <a:defRPr sz="1950" b="0">
                <a:solidFill>
                  <a:srgbClr val="183D34"/>
                </a:solidFill>
              </a:defRPr>
            </a:lvl9pPr>
          </a:lstStyle>
          <a:p xmlns:a="http://schemas.openxmlformats.org/drawingml/2006/main">
            <a:pPr>
              <a:defRPr sz="1950" b="0">
                <a:solidFill>
                  <a:srgbClr val="183D34"/>
                </a:solidFill>
              </a:defRPr>
            </a:pPr>
            <a:r>
              <a:rPr sz="1950" b="0">
                <a:solidFill>
                  <a:srgbClr val="183D34"/>
                </a:solidFill>
              </a:rPr>
              <a:t>Kafka records before and after recovery</a:t>
            </a:r>
          </a:p>
        </p:txBody>
      </p:sp>
      <p:sp>
        <p:nvSpPr>
          <p:cNvPr id="10" name="">
            <a:extLst xmlns:a="http://schemas.openxmlformats.org/drawingml/2006/main">
              <a:ext uri="{FF2B5EF4-FFF2-40B4-BE49-F238E27FC236}">
                <a16:creationId xmlns:a16="http://schemas.microsoft.com/office/drawing/2014/main" id="{62522ACD-C8D6-4C1E-9F07-F0FA14413453}"/>
              </a:ext>
            </a:extLst>
          </p:cNvPr>
          <p:cNvSpPr>
            <a:spLocks xmlns:a="http://schemas.openxmlformats.org/drawingml/2006/main" noGrp="1"/>
          </p:cNvSpPr>
          <p:nvPr/>
        </p:nvSpPr>
        <p:spPr>
          <a:xfrm xmlns:a="http://schemas.openxmlformats.org/drawingml/2006/main">
            <a:off x="609600" y="3952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83D34"/>
                </a:solidFill>
              </a:defRPr>
            </a:defPPr>
            <a:lvl1pPr>
              <a:defRPr sz="2100" b="1">
                <a:solidFill>
                  <a:srgbClr val="183D34"/>
                </a:solidFill>
              </a:defRPr>
            </a:lvl1pPr>
            <a:lvl2pPr>
              <a:defRPr sz="2100" b="1">
                <a:solidFill>
                  <a:srgbClr val="183D34"/>
                </a:solidFill>
              </a:defRPr>
            </a:lvl2pPr>
            <a:lvl3pPr>
              <a:defRPr sz="2100" b="1">
                <a:solidFill>
                  <a:srgbClr val="183D34"/>
                </a:solidFill>
              </a:defRPr>
            </a:lvl3pPr>
            <a:lvl4pPr>
              <a:defRPr sz="2100" b="1">
                <a:solidFill>
                  <a:srgbClr val="183D34"/>
                </a:solidFill>
              </a:defRPr>
            </a:lvl4pPr>
            <a:lvl5pPr>
              <a:defRPr sz="2100" b="1">
                <a:solidFill>
                  <a:srgbClr val="183D34"/>
                </a:solidFill>
              </a:defRPr>
            </a:lvl5pPr>
            <a:lvl6pPr>
              <a:defRPr sz="2100" b="1">
                <a:solidFill>
                  <a:srgbClr val="183D34"/>
                </a:solidFill>
              </a:defRPr>
            </a:lvl6pPr>
            <a:lvl7pPr>
              <a:defRPr sz="2100" b="1">
                <a:solidFill>
                  <a:srgbClr val="183D34"/>
                </a:solidFill>
              </a:defRPr>
            </a:lvl7pPr>
            <a:lvl8pPr>
              <a:defRPr sz="2100" b="1">
                <a:solidFill>
                  <a:srgbClr val="183D34"/>
                </a:solidFill>
              </a:defRPr>
            </a:lvl8pPr>
            <a:lvl9pPr>
              <a:defRPr sz="2100" b="1">
                <a:solidFill>
                  <a:srgbClr val="183D34"/>
                </a:solidFill>
              </a:defRPr>
            </a:lvl9pPr>
          </a:lstStyle>
          <a:p xmlns:a="http://schemas.openxmlformats.org/drawingml/2006/main">
            <a:pPr>
              <a:defRPr sz="2100" b="1">
                <a:solidFill>
                  <a:srgbClr val="183D34"/>
                </a:solidFill>
              </a:defRPr>
            </a:pPr>
            <a:r>
              <a:rPr sz="2100" b="1">
                <a:solidFill>
                  <a:srgbClr val="183D34"/>
                </a:solidFill>
              </a:rPr>
              <a:t>Covered locally</a:t>
            </a:r>
          </a:p>
        </p:txBody>
      </p:sp>
      <p:sp>
        <p:nvSpPr>
          <p:cNvPr id="11" name="">
            <a:extLst xmlns:a="http://schemas.openxmlformats.org/drawingml/2006/main">
              <a:ext uri="{FF2B5EF4-FFF2-40B4-BE49-F238E27FC236}">
                <a16:creationId xmlns:a16="http://schemas.microsoft.com/office/drawing/2014/main" id="{F9412F15-5AEF-423C-8AE7-18F472E6422D}"/>
              </a:ext>
            </a:extLst>
          </p:cNvPr>
          <p:cNvSpPr>
            <a:spLocks xmlns:a="http://schemas.openxmlformats.org/drawingml/2006/main" noGrp="1"/>
          </p:cNvSpPr>
          <p:nvPr/>
        </p:nvSpPr>
        <p:spPr>
          <a:xfrm xmlns:a="http://schemas.openxmlformats.org/drawingml/2006/main">
            <a:off x="609600" y="45243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83D34"/>
                </a:solidFill>
              </a:defRPr>
            </a:defPPr>
            <a:lvl1pPr>
              <a:defRPr sz="1950" b="0">
                <a:solidFill>
                  <a:srgbClr val="183D34"/>
                </a:solidFill>
              </a:defRPr>
            </a:lvl1pPr>
            <a:lvl2pPr>
              <a:defRPr sz="1950" b="0">
                <a:solidFill>
                  <a:srgbClr val="183D34"/>
                </a:solidFill>
              </a:defRPr>
            </a:lvl2pPr>
            <a:lvl3pPr>
              <a:defRPr sz="1950" b="0">
                <a:solidFill>
                  <a:srgbClr val="183D34"/>
                </a:solidFill>
              </a:defRPr>
            </a:lvl3pPr>
            <a:lvl4pPr>
              <a:defRPr sz="1950" b="0">
                <a:solidFill>
                  <a:srgbClr val="183D34"/>
                </a:solidFill>
              </a:defRPr>
            </a:lvl4pPr>
            <a:lvl5pPr>
              <a:defRPr sz="1950" b="0">
                <a:solidFill>
                  <a:srgbClr val="183D34"/>
                </a:solidFill>
              </a:defRPr>
            </a:lvl5pPr>
            <a:lvl6pPr>
              <a:defRPr sz="1950" b="0">
                <a:solidFill>
                  <a:srgbClr val="183D34"/>
                </a:solidFill>
              </a:defRPr>
            </a:lvl6pPr>
            <a:lvl7pPr>
              <a:defRPr sz="1950" b="0">
                <a:solidFill>
                  <a:srgbClr val="183D34"/>
                </a:solidFill>
              </a:defRPr>
            </a:lvl7pPr>
            <a:lvl8pPr>
              <a:defRPr sz="1950" b="0">
                <a:solidFill>
                  <a:srgbClr val="183D34"/>
                </a:solidFill>
              </a:defRPr>
            </a:lvl8pPr>
            <a:lvl9pPr>
              <a:defRPr sz="1950" b="0">
                <a:solidFill>
                  <a:srgbClr val="183D34"/>
                </a:solidFill>
              </a:defRPr>
            </a:lvl9pPr>
          </a:lstStyle>
          <a:p xmlns:a="http://schemas.openxmlformats.org/drawingml/2006/main">
            <a:pPr>
              <a:defRPr sz="1950" b="0">
                <a:solidFill>
                  <a:srgbClr val="183D34"/>
                </a:solidFill>
              </a:defRPr>
            </a:pPr>
            <a:r>
              <a:rPr sz="1950" b="0">
                <a:solidFill>
                  <a:srgbClr val="183D34"/>
                </a:solidFill>
              </a:rPr>
              <a:t>Timeout reconciliation, retry exhaustion, quarantine, duplicate suppression, stale approval and transaction rollback.</a:t>
            </a:r>
          </a:p>
        </p:txBody>
      </p:sp>
      <p:sp>
        <p:nvSpPr>
          <p:cNvPr id="12" name="">
            <a:extLst xmlns:a="http://schemas.openxmlformats.org/drawingml/2006/main">
              <a:ext uri="{FF2B5EF4-FFF2-40B4-BE49-F238E27FC236}">
                <a16:creationId xmlns:a16="http://schemas.microsoft.com/office/drawing/2014/main" id="{93C75509-20E4-49B5-8D68-C4463DD24E5D}"/>
              </a:ext>
            </a:extLst>
          </p:cNvPr>
          <p:cNvSpPr>
            <a:spLocks xmlns:a="http://schemas.openxmlformats.org/drawingml/2006/main" noGrp="1"/>
          </p:cNvSpPr>
          <p:nvPr/>
        </p:nvSpPr>
        <p:spPr>
          <a:xfrm xmlns:a="http://schemas.openxmlformats.org/drawingml/2006/main">
            <a:off x="6477000" y="3952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83D34"/>
                </a:solidFill>
              </a:defRPr>
            </a:defPPr>
            <a:lvl1pPr>
              <a:defRPr sz="2100" b="1">
                <a:solidFill>
                  <a:srgbClr val="183D34"/>
                </a:solidFill>
              </a:defRPr>
            </a:lvl1pPr>
            <a:lvl2pPr>
              <a:defRPr sz="2100" b="1">
                <a:solidFill>
                  <a:srgbClr val="183D34"/>
                </a:solidFill>
              </a:defRPr>
            </a:lvl2pPr>
            <a:lvl3pPr>
              <a:defRPr sz="2100" b="1">
                <a:solidFill>
                  <a:srgbClr val="183D34"/>
                </a:solidFill>
              </a:defRPr>
            </a:lvl3pPr>
            <a:lvl4pPr>
              <a:defRPr sz="2100" b="1">
                <a:solidFill>
                  <a:srgbClr val="183D34"/>
                </a:solidFill>
              </a:defRPr>
            </a:lvl4pPr>
            <a:lvl5pPr>
              <a:defRPr sz="2100" b="1">
                <a:solidFill>
                  <a:srgbClr val="183D34"/>
                </a:solidFill>
              </a:defRPr>
            </a:lvl5pPr>
            <a:lvl6pPr>
              <a:defRPr sz="2100" b="1">
                <a:solidFill>
                  <a:srgbClr val="183D34"/>
                </a:solidFill>
              </a:defRPr>
            </a:lvl6pPr>
            <a:lvl7pPr>
              <a:defRPr sz="2100" b="1">
                <a:solidFill>
                  <a:srgbClr val="183D34"/>
                </a:solidFill>
              </a:defRPr>
            </a:lvl7pPr>
            <a:lvl8pPr>
              <a:defRPr sz="2100" b="1">
                <a:solidFill>
                  <a:srgbClr val="183D34"/>
                </a:solidFill>
              </a:defRPr>
            </a:lvl8pPr>
            <a:lvl9pPr>
              <a:defRPr sz="2100" b="1">
                <a:solidFill>
                  <a:srgbClr val="183D34"/>
                </a:solidFill>
              </a:defRPr>
            </a:lvl9pPr>
          </a:lstStyle>
          <a:p xmlns:a="http://schemas.openxmlformats.org/drawingml/2006/main">
            <a:pPr>
              <a:defRPr sz="2100" b="1">
                <a:solidFill>
                  <a:srgbClr val="183D34"/>
                </a:solidFill>
              </a:defRPr>
            </a:pPr>
            <a:r>
              <a:rPr sz="2100" b="1">
                <a:solidFill>
                  <a:srgbClr val="183D34"/>
                </a:solidFill>
              </a:rPr>
              <a:t>Still unmeasured</a:t>
            </a:r>
          </a:p>
        </p:txBody>
      </p:sp>
      <p:sp>
        <p:nvSpPr>
          <p:cNvPr id="13" name="">
            <a:extLst xmlns:a="http://schemas.openxmlformats.org/drawingml/2006/main">
              <a:ext uri="{FF2B5EF4-FFF2-40B4-BE49-F238E27FC236}">
                <a16:creationId xmlns:a16="http://schemas.microsoft.com/office/drawing/2014/main" id="{8A486F8E-222A-4399-AD19-A0B13EC1D603}"/>
              </a:ext>
            </a:extLst>
          </p:cNvPr>
          <p:cNvSpPr>
            <a:spLocks xmlns:a="http://schemas.openxmlformats.org/drawingml/2006/main" noGrp="1"/>
          </p:cNvSpPr>
          <p:nvPr/>
        </p:nvSpPr>
        <p:spPr>
          <a:xfrm xmlns:a="http://schemas.openxmlformats.org/drawingml/2006/main">
            <a:off x="6477000" y="45243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83D34"/>
                </a:solidFill>
              </a:defRPr>
            </a:defPPr>
            <a:lvl1pPr>
              <a:defRPr sz="1950" b="0">
                <a:solidFill>
                  <a:srgbClr val="183D34"/>
                </a:solidFill>
              </a:defRPr>
            </a:lvl1pPr>
            <a:lvl2pPr>
              <a:defRPr sz="1950" b="0">
                <a:solidFill>
                  <a:srgbClr val="183D34"/>
                </a:solidFill>
              </a:defRPr>
            </a:lvl2pPr>
            <a:lvl3pPr>
              <a:defRPr sz="1950" b="0">
                <a:solidFill>
                  <a:srgbClr val="183D34"/>
                </a:solidFill>
              </a:defRPr>
            </a:lvl3pPr>
            <a:lvl4pPr>
              <a:defRPr sz="1950" b="0">
                <a:solidFill>
                  <a:srgbClr val="183D34"/>
                </a:solidFill>
              </a:defRPr>
            </a:lvl4pPr>
            <a:lvl5pPr>
              <a:defRPr sz="1950" b="0">
                <a:solidFill>
                  <a:srgbClr val="183D34"/>
                </a:solidFill>
              </a:defRPr>
            </a:lvl5pPr>
            <a:lvl6pPr>
              <a:defRPr sz="1950" b="0">
                <a:solidFill>
                  <a:srgbClr val="183D34"/>
                </a:solidFill>
              </a:defRPr>
            </a:lvl6pPr>
            <a:lvl7pPr>
              <a:defRPr sz="1950" b="0">
                <a:solidFill>
                  <a:srgbClr val="183D34"/>
                </a:solidFill>
              </a:defRPr>
            </a:lvl7pPr>
            <a:lvl8pPr>
              <a:defRPr sz="1950" b="0">
                <a:solidFill>
                  <a:srgbClr val="183D34"/>
                </a:solidFill>
              </a:defRPr>
            </a:lvl8pPr>
            <a:lvl9pPr>
              <a:defRPr sz="1950" b="0">
                <a:solidFill>
                  <a:srgbClr val="183D34"/>
                </a:solidFill>
              </a:defRPr>
            </a:lvl9pPr>
          </a:lstStyle>
          <a:p xmlns:a="http://schemas.openxmlformats.org/drawingml/2006/main">
            <a:pPr>
              <a:defRPr sz="1950" b="0">
                <a:solidFill>
                  <a:srgbClr val="183D34"/>
                </a:solidFill>
              </a:defRPr>
            </a:pPr>
            <a:r>
              <a:rPr sz="1950" b="0">
                <a:solidFill>
                  <a:srgbClr val="183D34"/>
                </a:solidFill>
              </a:rPr>
              <a:t>Production throughput, live connector behavior, enterprise authorization and operator triage improvement.</a:t>
            </a:r>
          </a:p>
        </p:txBody>
      </p:sp>
    </p:spTree>
    <p:extLst>
      <p:ext uri="{BB962C8B-B14F-4D97-AF65-F5344CB8AC3E}">
        <p14:creationId xmlns:p14="http://schemas.microsoft.com/office/powerpoint/2010/main" val="1466948420"/>
      </p:ext>
    </p:extLst>
  </p:cSld>
</p:sld>
</file>

<file path=ppt/slides/slide10.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09299A7E-1D29-4E24-8C7A-761781023D95}"/>
              </a:ext>
            </a:extLst>
          </p:cNvPr>
          <p:cNvCxnSpPr>
            <a:stCxn xmlns:a="http://schemas.openxmlformats.org/drawingml/2006/main" id="15" idx="0"/>
            <a:endCxn xmlns:a="http://schemas.openxmlformats.org/drawingml/2006/main" id="12" idx="2"/>
          </p:cNvCxnSpPr>
          <p:nvPr/>
        </p:nvCxnSpPr>
        <p:spPr>
          <a:xfrm xmlns:a="http://schemas.openxmlformats.org/drawingml/2006/main" flipV="1">
            <a:off x="1966913" y="3143250"/>
            <a:ext cx="0" cy="1143000"/>
          </a:xfrm>
          <a:prstGeom xmlns:a="http://schemas.openxmlformats.org/drawingml/2006/main" prst="straightConnector1">
            <a:avLst/>
          </a:prstGeom>
          <a:ln xmlns:a="http://schemas.openxmlformats.org/drawingml/2006/main" w="19050">
            <a:solidFill>
              <a:srgbClr val="2A6B4D"/>
            </a:solidFill>
            <a:prstDash val="solid"/>
            <a:tailEnd type="arrow" w="med" len="med"/>
          </a:ln>
        </p:spPr>
      </p:cxnSp>
      <p:cxnSp>
        <p:nvCxnSpPr>
          <p:cNvPr id="3" name="">
            <a:extLst xmlns:a="http://schemas.openxmlformats.org/drawingml/2006/main">
              <a:ext uri="{FF2B5EF4-FFF2-40B4-BE49-F238E27FC236}">
                <a16:creationId xmlns:a16="http://schemas.microsoft.com/office/drawing/2014/main" id="{25D47B11-A6CF-4E17-8272-74AAEA90DC85}"/>
              </a:ext>
            </a:extLst>
          </p:cNvPr>
          <p:cNvCxnSpPr>
            <a:stCxn xmlns:a="http://schemas.openxmlformats.org/drawingml/2006/main" id="16" idx="1"/>
            <a:endCxn xmlns:a="http://schemas.openxmlformats.org/drawingml/2006/main" id="15" idx="3"/>
          </p:cNvCxnSpPr>
          <p:nvPr/>
        </p:nvCxnSpPr>
        <p:spPr>
          <a:xfrm xmlns:a="http://schemas.openxmlformats.org/drawingml/2006/main" flipH="1">
            <a:off x="3324225" y="4810125"/>
            <a:ext cx="1247775" cy="0"/>
          </a:xfrm>
          <a:prstGeom xmlns:a="http://schemas.openxmlformats.org/drawingml/2006/main" prst="straightConnector1">
            <a:avLst/>
          </a:prstGeom>
          <a:ln xmlns:a="http://schemas.openxmlformats.org/drawingml/2006/main" w="19050">
            <a:solidFill>
              <a:srgbClr val="2A6B4D"/>
            </a:solidFill>
            <a:prstDash val="solid"/>
            <a:tailEnd type="arrow" w="med" len="med"/>
          </a:ln>
        </p:spPr>
      </p:cxnSp>
      <p:cxnSp>
        <p:nvCxnSpPr>
          <p:cNvPr id="4" name="">
            <a:extLst xmlns:a="http://schemas.openxmlformats.org/drawingml/2006/main">
              <a:ext uri="{FF2B5EF4-FFF2-40B4-BE49-F238E27FC236}">
                <a16:creationId xmlns:a16="http://schemas.microsoft.com/office/drawing/2014/main" id="{B1CB8EB4-BBA8-43C3-BC34-DA42944CDEE4}"/>
              </a:ext>
            </a:extLst>
          </p:cNvPr>
          <p:cNvCxnSpPr>
            <a:stCxn xmlns:a="http://schemas.openxmlformats.org/drawingml/2006/main" id="16" idx="3"/>
            <a:endCxn xmlns:a="http://schemas.openxmlformats.org/drawingml/2006/main" id="17" idx="1"/>
          </p:cNvCxnSpPr>
          <p:nvPr/>
        </p:nvCxnSpPr>
        <p:spPr>
          <a:xfrm xmlns:a="http://schemas.openxmlformats.org/drawingml/2006/main">
            <a:off x="7429500" y="4810125"/>
            <a:ext cx="1428750" cy="0"/>
          </a:xfrm>
          <a:prstGeom xmlns:a="http://schemas.openxmlformats.org/drawingml/2006/main" prst="straightConnector1">
            <a:avLst/>
          </a:prstGeom>
          <a:ln xmlns:a="http://schemas.openxmlformats.org/drawingml/2006/main" w="19050">
            <a:solidFill>
              <a:srgbClr val="2A6B4D"/>
            </a:solidFill>
            <a:prstDash val="solid"/>
            <a:tailEnd type="arrow" w="med" len="med"/>
          </a:ln>
        </p:spPr>
      </p:cxnSp>
      <p:cxnSp>
        <p:nvCxnSpPr>
          <p:cNvPr id="5" name="">
            <a:extLst xmlns:a="http://schemas.openxmlformats.org/drawingml/2006/main">
              <a:ext uri="{FF2B5EF4-FFF2-40B4-BE49-F238E27FC236}">
                <a16:creationId xmlns:a16="http://schemas.microsoft.com/office/drawing/2014/main" id="{E2011450-A970-47BE-810A-D89D71908245}"/>
              </a:ext>
            </a:extLst>
          </p:cNvPr>
          <p:cNvCxnSpPr>
            <a:stCxn xmlns:a="http://schemas.openxmlformats.org/drawingml/2006/main" id="14" idx="2"/>
            <a:endCxn xmlns:a="http://schemas.openxmlformats.org/drawingml/2006/main" id="17" idx="0"/>
          </p:cNvCxnSpPr>
          <p:nvPr/>
        </p:nvCxnSpPr>
        <p:spPr>
          <a:xfrm xmlns:a="http://schemas.openxmlformats.org/drawingml/2006/main">
            <a:off x="10215563" y="3143250"/>
            <a:ext cx="0" cy="1143000"/>
          </a:xfrm>
          <a:prstGeom xmlns:a="http://schemas.openxmlformats.org/drawingml/2006/main" prst="straightConnector1">
            <a:avLst/>
          </a:prstGeom>
          <a:ln xmlns:a="http://schemas.openxmlformats.org/drawingml/2006/main" w="19050">
            <a:solidFill>
              <a:srgbClr val="2A6B4D"/>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4F3322A9-0E43-4876-884A-587CBECE5706}"/>
              </a:ext>
            </a:extLst>
          </p:cNvPr>
          <p:cNvCxnSpPr>
            <a:stCxn xmlns:a="http://schemas.openxmlformats.org/drawingml/2006/main" id="13" idx="2"/>
            <a:endCxn xmlns:a="http://schemas.openxmlformats.org/drawingml/2006/main" id="16" idx="0"/>
          </p:cNvCxnSpPr>
          <p:nvPr/>
        </p:nvCxnSpPr>
        <p:spPr>
          <a:xfrm xmlns:a="http://schemas.openxmlformats.org/drawingml/2006/main">
            <a:off x="6000750" y="3143250"/>
            <a:ext cx="0" cy="1143000"/>
          </a:xfrm>
          <a:prstGeom xmlns:a="http://schemas.openxmlformats.org/drawingml/2006/main" prst="straightConnector1">
            <a:avLst/>
          </a:prstGeom>
          <a:ln xmlns:a="http://schemas.openxmlformats.org/drawingml/2006/main" w="19050">
            <a:solidFill>
              <a:srgbClr val="2A6B4D"/>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E63C5061-97D4-402B-9985-A62E1A10F93B}"/>
              </a:ext>
            </a:extLst>
          </p:cNvPr>
          <p:cNvCxnSpPr>
            <a:stCxn xmlns:a="http://schemas.openxmlformats.org/drawingml/2006/main" id="13" idx="3"/>
            <a:endCxn xmlns:a="http://schemas.openxmlformats.org/drawingml/2006/main" id="14" idx="1"/>
          </p:cNvCxnSpPr>
          <p:nvPr/>
        </p:nvCxnSpPr>
        <p:spPr>
          <a:xfrm xmlns:a="http://schemas.openxmlformats.org/drawingml/2006/main">
            <a:off x="7429500" y="2667000"/>
            <a:ext cx="1428750" cy="0"/>
          </a:xfrm>
          <a:prstGeom xmlns:a="http://schemas.openxmlformats.org/drawingml/2006/main" prst="straightConnector1">
            <a:avLst/>
          </a:prstGeom>
          <a:ln xmlns:a="http://schemas.openxmlformats.org/drawingml/2006/main" w="19050">
            <a:solidFill>
              <a:srgbClr val="2A6B4D"/>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114632A0-62B8-4D5F-9BED-7C77B24DA22D}"/>
              </a:ext>
            </a:extLst>
          </p:cNvPr>
          <p:cNvCxnSpPr>
            <a:stCxn xmlns:a="http://schemas.openxmlformats.org/drawingml/2006/main" id="12" idx="3"/>
            <a:endCxn xmlns:a="http://schemas.openxmlformats.org/drawingml/2006/main" id="13" idx="1"/>
          </p:cNvCxnSpPr>
          <p:nvPr/>
        </p:nvCxnSpPr>
        <p:spPr>
          <a:xfrm xmlns:a="http://schemas.openxmlformats.org/drawingml/2006/main">
            <a:off x="3324225" y="2667000"/>
            <a:ext cx="1247775" cy="0"/>
          </a:xfrm>
          <a:prstGeom xmlns:a="http://schemas.openxmlformats.org/drawingml/2006/main" prst="straightConnector1">
            <a:avLst/>
          </a:prstGeom>
          <a:ln xmlns:a="http://schemas.openxmlformats.org/drawingml/2006/main" w="19050">
            <a:solidFill>
              <a:srgbClr val="2A6B4D"/>
            </a:solidFill>
            <a:prstDash val="solid"/>
            <a:tailEnd type="arrow" w="med" len="med"/>
          </a:ln>
        </p:spPr>
      </p:cxnSp>
      <p:sp>
        <p:nvSpPr>
          <p:cNvPr id="9" name="">
            <a:extLst xmlns:a="http://schemas.openxmlformats.org/drawingml/2006/main">
              <a:ext uri="{FF2B5EF4-FFF2-40B4-BE49-F238E27FC236}">
                <a16:creationId xmlns:a16="http://schemas.microsoft.com/office/drawing/2014/main" id="{7524D295-A54B-4120-B101-A30B8CD9F0EF}"/>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D34"/>
                </a:solidFill>
                <a:latin typeface="Arial"/>
                <a:ea typeface="Arial"/>
                <a:cs typeface="Arial"/>
              </a:defRPr>
            </a:defPPr>
            <a:lvl1pPr>
              <a:defRPr sz="3000" b="1">
                <a:solidFill>
                  <a:srgbClr val="183D34"/>
                </a:solidFill>
                <a:latin typeface="Arial"/>
                <a:ea typeface="Arial"/>
                <a:cs typeface="Arial"/>
              </a:defRPr>
            </a:lvl1pPr>
            <a:lvl2pPr>
              <a:defRPr sz="3000" b="1">
                <a:solidFill>
                  <a:srgbClr val="183D34"/>
                </a:solidFill>
                <a:latin typeface="Arial"/>
                <a:ea typeface="Arial"/>
                <a:cs typeface="Arial"/>
              </a:defRPr>
            </a:lvl2pPr>
            <a:lvl3pPr>
              <a:defRPr sz="3000" b="1">
                <a:solidFill>
                  <a:srgbClr val="183D34"/>
                </a:solidFill>
                <a:latin typeface="Arial"/>
                <a:ea typeface="Arial"/>
                <a:cs typeface="Arial"/>
              </a:defRPr>
            </a:lvl3pPr>
            <a:lvl4pPr>
              <a:defRPr sz="3000" b="1">
                <a:solidFill>
                  <a:srgbClr val="183D34"/>
                </a:solidFill>
                <a:latin typeface="Arial"/>
                <a:ea typeface="Arial"/>
                <a:cs typeface="Arial"/>
              </a:defRPr>
            </a:lvl4pPr>
            <a:lvl5pPr>
              <a:defRPr sz="3000" b="1">
                <a:solidFill>
                  <a:srgbClr val="183D34"/>
                </a:solidFill>
                <a:latin typeface="Arial"/>
                <a:ea typeface="Arial"/>
                <a:cs typeface="Arial"/>
              </a:defRPr>
            </a:lvl5pPr>
            <a:lvl6pPr>
              <a:defRPr sz="3000" b="1">
                <a:solidFill>
                  <a:srgbClr val="183D34"/>
                </a:solidFill>
                <a:latin typeface="Arial"/>
                <a:ea typeface="Arial"/>
                <a:cs typeface="Arial"/>
              </a:defRPr>
            </a:lvl6pPr>
            <a:lvl7pPr>
              <a:defRPr sz="3000" b="1">
                <a:solidFill>
                  <a:srgbClr val="183D34"/>
                </a:solidFill>
                <a:latin typeface="Arial"/>
                <a:ea typeface="Arial"/>
                <a:cs typeface="Arial"/>
              </a:defRPr>
            </a:lvl7pPr>
            <a:lvl8pPr>
              <a:defRPr sz="3000" b="1">
                <a:solidFill>
                  <a:srgbClr val="183D34"/>
                </a:solidFill>
                <a:latin typeface="Arial"/>
                <a:ea typeface="Arial"/>
                <a:cs typeface="Arial"/>
              </a:defRPr>
            </a:lvl8pPr>
            <a:lvl9pPr>
              <a:defRPr sz="3000" b="1">
                <a:solidFill>
                  <a:srgbClr val="183D34"/>
                </a:solidFill>
                <a:latin typeface="Arial"/>
                <a:ea typeface="Arial"/>
                <a:cs typeface="Arial"/>
              </a:defRPr>
            </a:lvl9pPr>
          </a:lstStyle>
          <a:p xmlns:a="http://schemas.openxmlformats.org/drawingml/2006/main">
            <a:pPr>
              <a:defRPr sz="3000" b="1">
                <a:solidFill>
                  <a:srgbClr val="183D34"/>
                </a:solidFill>
                <a:latin typeface="Arial"/>
                <a:ea typeface="Arial"/>
                <a:cs typeface="Arial"/>
              </a:defRPr>
            </a:pPr>
            <a:r>
              <a:rPr sz="3000" b="1">
                <a:solidFill>
                  <a:srgbClr val="183D34"/>
                </a:solidFill>
                <a:latin typeface="Arial"/>
                <a:ea typeface="Arial"/>
                <a:cs typeface="Arial"/>
              </a:rPr>
              <a:t>Proposed internal Databricks architecture</a:t>
            </a:r>
          </a:p>
        </p:txBody>
      </p:sp>
      <p:sp>
        <p:nvSpPr>
          <p:cNvPr id="10" name="">
            <a:extLst xmlns:a="http://schemas.openxmlformats.org/drawingml/2006/main">
              <a:ext uri="{FF2B5EF4-FFF2-40B4-BE49-F238E27FC236}">
                <a16:creationId xmlns:a16="http://schemas.microsoft.com/office/drawing/2014/main" id="{DDA1A8AB-59EC-40FB-A486-E67BCF696C59}"/>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83D34"/>
                </a:solidFill>
                <a:latin typeface="Arial"/>
                <a:ea typeface="Arial"/>
                <a:cs typeface="Arial"/>
              </a:defRPr>
            </a:defPPr>
            <a:lvl1pPr>
              <a:defRPr sz="1200" b="0">
                <a:solidFill>
                  <a:srgbClr val="183D34"/>
                </a:solidFill>
                <a:latin typeface="Arial"/>
                <a:ea typeface="Arial"/>
                <a:cs typeface="Arial"/>
              </a:defRPr>
            </a:lvl1pPr>
            <a:lvl2pPr>
              <a:defRPr sz="1200" b="0">
                <a:solidFill>
                  <a:srgbClr val="183D34"/>
                </a:solidFill>
                <a:latin typeface="Arial"/>
                <a:ea typeface="Arial"/>
                <a:cs typeface="Arial"/>
              </a:defRPr>
            </a:lvl2pPr>
            <a:lvl3pPr>
              <a:defRPr sz="1200" b="0">
                <a:solidFill>
                  <a:srgbClr val="183D34"/>
                </a:solidFill>
                <a:latin typeface="Arial"/>
                <a:ea typeface="Arial"/>
                <a:cs typeface="Arial"/>
              </a:defRPr>
            </a:lvl3pPr>
            <a:lvl4pPr>
              <a:defRPr sz="1200" b="0">
                <a:solidFill>
                  <a:srgbClr val="183D34"/>
                </a:solidFill>
                <a:latin typeface="Arial"/>
                <a:ea typeface="Arial"/>
                <a:cs typeface="Arial"/>
              </a:defRPr>
            </a:lvl4pPr>
            <a:lvl5pPr>
              <a:defRPr sz="1200" b="0">
                <a:solidFill>
                  <a:srgbClr val="183D34"/>
                </a:solidFill>
                <a:latin typeface="Arial"/>
                <a:ea typeface="Arial"/>
                <a:cs typeface="Arial"/>
              </a:defRPr>
            </a:lvl5pPr>
            <a:lvl6pPr>
              <a:defRPr sz="1200" b="0">
                <a:solidFill>
                  <a:srgbClr val="183D34"/>
                </a:solidFill>
                <a:latin typeface="Arial"/>
                <a:ea typeface="Arial"/>
                <a:cs typeface="Arial"/>
              </a:defRPr>
            </a:lvl6pPr>
            <a:lvl7pPr>
              <a:defRPr sz="1200" b="0">
                <a:solidFill>
                  <a:srgbClr val="183D34"/>
                </a:solidFill>
                <a:latin typeface="Arial"/>
                <a:ea typeface="Arial"/>
                <a:cs typeface="Arial"/>
              </a:defRPr>
            </a:lvl7pPr>
            <a:lvl8pPr>
              <a:defRPr sz="1200" b="0">
                <a:solidFill>
                  <a:srgbClr val="183D34"/>
                </a:solidFill>
                <a:latin typeface="Arial"/>
                <a:ea typeface="Arial"/>
                <a:cs typeface="Arial"/>
              </a:defRPr>
            </a:lvl8pPr>
            <a:lvl9pPr>
              <a:defRPr sz="1200" b="0">
                <a:solidFill>
                  <a:srgbClr val="183D34"/>
                </a:solidFill>
                <a:latin typeface="Arial"/>
                <a:ea typeface="Arial"/>
                <a:cs typeface="Arial"/>
              </a:defRPr>
            </a:lvl9pPr>
          </a:lstStyle>
          <a:p xmlns:a="http://schemas.openxmlformats.org/drawingml/2006/main">
            <a:pPr>
              <a:defRPr sz="1200" b="0">
                <a:solidFill>
                  <a:srgbClr val="183D34"/>
                </a:solidFill>
                <a:latin typeface="Arial"/>
                <a:ea typeface="Arial"/>
                <a:cs typeface="Arial"/>
              </a:defRPr>
            </a:pPr>
            <a:r>
              <a:rPr sz="1200" b="0">
                <a:solidFill>
                  <a:srgbClr val="183D34"/>
                </a:solidFill>
                <a:latin typeface="Arial"/>
                <a:ea typeface="Arial"/>
                <a:cs typeface="Arial"/>
              </a:rPr>
              <a:t>10</a:t>
            </a:r>
          </a:p>
        </p:txBody>
      </p:sp>
      <p:sp>
        <p:nvSpPr>
          <p:cNvPr id="11" name="">
            <a:extLst xmlns:a="http://schemas.openxmlformats.org/drawingml/2006/main">
              <a:ext uri="{FF2B5EF4-FFF2-40B4-BE49-F238E27FC236}">
                <a16:creationId xmlns:a16="http://schemas.microsoft.com/office/drawing/2014/main" id="{B884016E-EC1B-4EF7-8F86-08020B971FC0}"/>
              </a:ext>
            </a:extLst>
          </p:cNvPr>
          <p:cNvSpPr>
            <a:spLocks xmlns:a="http://schemas.openxmlformats.org/drawingml/2006/main" noGrp="1"/>
          </p:cNvSpPr>
          <p:nvPr/>
        </p:nvSpPr>
        <p:spPr>
          <a:xfrm xmlns:a="http://schemas.openxmlformats.org/drawingml/2006/main">
            <a:off x="609600" y="12382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4"/>
                </a:solidFill>
                <a:latin typeface="Arial"/>
                <a:ea typeface="Arial"/>
                <a:cs typeface="Arial"/>
              </a:defRPr>
            </a:defPPr>
            <a:lvl1pPr>
              <a:defRPr sz="1875" b="0">
                <a:solidFill>
                  <a:srgbClr val="183D34"/>
                </a:solidFill>
                <a:latin typeface="Arial"/>
                <a:ea typeface="Arial"/>
                <a:cs typeface="Arial"/>
              </a:defRPr>
            </a:lvl1pPr>
            <a:lvl2pPr>
              <a:defRPr sz="1875" b="0">
                <a:solidFill>
                  <a:srgbClr val="183D34"/>
                </a:solidFill>
                <a:latin typeface="Arial"/>
                <a:ea typeface="Arial"/>
                <a:cs typeface="Arial"/>
              </a:defRPr>
            </a:lvl2pPr>
            <a:lvl3pPr>
              <a:defRPr sz="1875" b="0">
                <a:solidFill>
                  <a:srgbClr val="183D34"/>
                </a:solidFill>
                <a:latin typeface="Arial"/>
                <a:ea typeface="Arial"/>
                <a:cs typeface="Arial"/>
              </a:defRPr>
            </a:lvl3pPr>
            <a:lvl4pPr>
              <a:defRPr sz="1875" b="0">
                <a:solidFill>
                  <a:srgbClr val="183D34"/>
                </a:solidFill>
                <a:latin typeface="Arial"/>
                <a:ea typeface="Arial"/>
                <a:cs typeface="Arial"/>
              </a:defRPr>
            </a:lvl4pPr>
            <a:lvl5pPr>
              <a:defRPr sz="1875" b="0">
                <a:solidFill>
                  <a:srgbClr val="183D34"/>
                </a:solidFill>
                <a:latin typeface="Arial"/>
                <a:ea typeface="Arial"/>
                <a:cs typeface="Arial"/>
              </a:defRPr>
            </a:lvl5pPr>
            <a:lvl6pPr>
              <a:defRPr sz="1875" b="0">
                <a:solidFill>
                  <a:srgbClr val="183D34"/>
                </a:solidFill>
                <a:latin typeface="Arial"/>
                <a:ea typeface="Arial"/>
                <a:cs typeface="Arial"/>
              </a:defRPr>
            </a:lvl6pPr>
            <a:lvl7pPr>
              <a:defRPr sz="1875" b="0">
                <a:solidFill>
                  <a:srgbClr val="183D34"/>
                </a:solidFill>
                <a:latin typeface="Arial"/>
                <a:ea typeface="Arial"/>
                <a:cs typeface="Arial"/>
              </a:defRPr>
            </a:lvl7pPr>
            <a:lvl8pPr>
              <a:defRPr sz="1875" b="0">
                <a:solidFill>
                  <a:srgbClr val="183D34"/>
                </a:solidFill>
                <a:latin typeface="Arial"/>
                <a:ea typeface="Arial"/>
                <a:cs typeface="Arial"/>
              </a:defRPr>
            </a:lvl8pPr>
            <a:lvl9pPr>
              <a:defRPr sz="1875" b="0">
                <a:solidFill>
                  <a:srgbClr val="183D34"/>
                </a:solidFill>
                <a:latin typeface="Arial"/>
                <a:ea typeface="Arial"/>
                <a:cs typeface="Arial"/>
              </a:defRPr>
            </a:lvl9pPr>
          </a:lstStyle>
          <a:p xmlns:a="http://schemas.openxmlformats.org/drawingml/2006/main">
            <a:pPr>
              <a:defRPr sz="1875" b="0">
                <a:solidFill>
                  <a:srgbClr val="183D34"/>
                </a:solidFill>
                <a:latin typeface="Arial"/>
                <a:ea typeface="Arial"/>
                <a:cs typeface="Arial"/>
              </a:defRPr>
            </a:pPr>
            <a:r>
              <a:rPr sz="1875" b="0">
                <a:solidFill>
                  <a:srgbClr val="183D34"/>
                </a:solidFill>
                <a:latin typeface="Arial"/>
                <a:ea typeface="Arial"/>
                <a:cs typeface="Arial"/>
              </a:rPr>
              <a:t>Proposed deployment topology, subject to sandbox validation</a:t>
            </a:r>
          </a:p>
        </p:txBody>
      </p:sp>
      <p:sp>
        <p:nvSpPr>
          <p:cNvPr id="12" name="">
            <a:extLst xmlns:a="http://schemas.openxmlformats.org/drawingml/2006/main">
              <a:ext uri="{FF2B5EF4-FFF2-40B4-BE49-F238E27FC236}">
                <a16:creationId xmlns:a16="http://schemas.microsoft.com/office/drawing/2014/main" id="{BC84F005-E9DB-4E98-AD20-A6507CF085A6}"/>
              </a:ext>
            </a:extLst>
          </p:cNvPr>
          <p:cNvSpPr>
            <a:spLocks xmlns:a="http://schemas.openxmlformats.org/drawingml/2006/main" noGrp="1"/>
          </p:cNvSpPr>
          <p:nvPr/>
        </p:nvSpPr>
        <p:spPr>
          <a:xfrm xmlns:a="http://schemas.openxmlformats.org/drawingml/2006/main">
            <a:off x="609600" y="2190750"/>
            <a:ext cx="2714625" cy="952500"/>
          </a:xfrm>
          <a:prstGeom xmlns:a="http://schemas.openxmlformats.org/drawingml/2006/main" prst="roundRect">
            <a:avLst>
              <a:gd name="adj" fmla="val 14000"/>
            </a:avLst>
          </a:prstGeom>
          <a:solidFill xmlns:a="http://schemas.openxmlformats.org/drawingml/2006/main">
            <a:srgbClr val="E4EEE6"/>
          </a:solidFill>
          <a:ln xmlns:a="http://schemas.openxmlformats.org/drawingml/2006/main" w="13335">
            <a:solidFill>
              <a:srgbClr val="6D9A83"/>
            </a:solidFill>
          </a:ln>
        </p:spPr>
        <p:txBody>
          <a:bodyPr xmlns:a="http://schemas.openxmlformats.org/drawingml/2006/main"/>
          <a:lstStyle xmlns:a="http://schemas.openxmlformats.org/drawingml/2006/main">
            <a:defPPr>
              <a:defRPr sz="1650">
                <a:solidFill>
                  <a:srgbClr val="173C32"/>
                </a:solidFill>
                <a:latin typeface="Arial"/>
                <a:ea typeface="Arial"/>
                <a:cs typeface="Arial"/>
              </a:defRPr>
            </a:defPPr>
            <a:lvl1pPr>
              <a:defRPr sz="1650">
                <a:solidFill>
                  <a:srgbClr val="173C32"/>
                </a:solidFill>
                <a:latin typeface="Arial"/>
                <a:ea typeface="Arial"/>
                <a:cs typeface="Arial"/>
              </a:defRPr>
            </a:lvl1pPr>
            <a:lvl2pPr>
              <a:defRPr sz="1650">
                <a:solidFill>
                  <a:srgbClr val="173C32"/>
                </a:solidFill>
                <a:latin typeface="Arial"/>
                <a:ea typeface="Arial"/>
                <a:cs typeface="Arial"/>
              </a:defRPr>
            </a:lvl2pPr>
            <a:lvl3pPr>
              <a:defRPr sz="1650">
                <a:solidFill>
                  <a:srgbClr val="173C32"/>
                </a:solidFill>
                <a:latin typeface="Arial"/>
                <a:ea typeface="Arial"/>
                <a:cs typeface="Arial"/>
              </a:defRPr>
            </a:lvl3pPr>
            <a:lvl4pPr>
              <a:defRPr sz="1650">
                <a:solidFill>
                  <a:srgbClr val="173C32"/>
                </a:solidFill>
                <a:latin typeface="Arial"/>
                <a:ea typeface="Arial"/>
                <a:cs typeface="Arial"/>
              </a:defRPr>
            </a:lvl4pPr>
            <a:lvl5pPr>
              <a:defRPr sz="1650">
                <a:solidFill>
                  <a:srgbClr val="173C32"/>
                </a:solidFill>
                <a:latin typeface="Arial"/>
                <a:ea typeface="Arial"/>
                <a:cs typeface="Arial"/>
              </a:defRPr>
            </a:lvl5pPr>
            <a:lvl6pPr>
              <a:defRPr sz="1650">
                <a:solidFill>
                  <a:srgbClr val="173C32"/>
                </a:solidFill>
                <a:latin typeface="Arial"/>
                <a:ea typeface="Arial"/>
                <a:cs typeface="Arial"/>
              </a:defRPr>
            </a:lvl6pPr>
            <a:lvl7pPr>
              <a:defRPr sz="1650">
                <a:solidFill>
                  <a:srgbClr val="173C32"/>
                </a:solidFill>
                <a:latin typeface="Arial"/>
                <a:ea typeface="Arial"/>
                <a:cs typeface="Arial"/>
              </a:defRPr>
            </a:lvl7pPr>
            <a:lvl8pPr>
              <a:defRPr sz="1650">
                <a:solidFill>
                  <a:srgbClr val="173C32"/>
                </a:solidFill>
                <a:latin typeface="Arial"/>
                <a:ea typeface="Arial"/>
                <a:cs typeface="Arial"/>
              </a:defRPr>
            </a:lvl8pPr>
            <a:lvl9pPr>
              <a:defRPr sz="1650">
                <a:solidFill>
                  <a:srgbClr val="173C32"/>
                </a:solidFill>
                <a:latin typeface="Arial"/>
                <a:ea typeface="Arial"/>
                <a:cs typeface="Arial"/>
              </a:defRPr>
            </a:lvl9pPr>
          </a:lstStyle>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Databricks App</a:t>
            </a:r>
          </a:p>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Review and investigation UI</a:t>
            </a:r>
          </a:p>
        </p:txBody>
      </p:sp>
      <p:sp>
        <p:nvSpPr>
          <p:cNvPr id="13" name="">
            <a:extLst xmlns:a="http://schemas.openxmlformats.org/drawingml/2006/main">
              <a:ext uri="{FF2B5EF4-FFF2-40B4-BE49-F238E27FC236}">
                <a16:creationId xmlns:a16="http://schemas.microsoft.com/office/drawing/2014/main" id="{245A2BAD-D340-4800-B961-9A039680C18C}"/>
              </a:ext>
            </a:extLst>
          </p:cNvPr>
          <p:cNvSpPr>
            <a:spLocks xmlns:a="http://schemas.openxmlformats.org/drawingml/2006/main" noGrp="1"/>
          </p:cNvSpPr>
          <p:nvPr/>
        </p:nvSpPr>
        <p:spPr>
          <a:xfrm xmlns:a="http://schemas.openxmlformats.org/drawingml/2006/main">
            <a:off x="4572000" y="2190750"/>
            <a:ext cx="2857500" cy="952500"/>
          </a:xfrm>
          <a:prstGeom xmlns:a="http://schemas.openxmlformats.org/drawingml/2006/main" prst="roundRect">
            <a:avLst>
              <a:gd name="adj" fmla="val 14000"/>
            </a:avLst>
          </a:prstGeom>
          <a:solidFill xmlns:a="http://schemas.openxmlformats.org/drawingml/2006/main">
            <a:srgbClr val="E4EEE6"/>
          </a:solidFill>
          <a:ln xmlns:a="http://schemas.openxmlformats.org/drawingml/2006/main" w="13335">
            <a:solidFill>
              <a:srgbClr val="6D9A83"/>
            </a:solidFill>
          </a:ln>
        </p:spPr>
        <p:txBody>
          <a:bodyPr xmlns:a="http://schemas.openxmlformats.org/drawingml/2006/main"/>
          <a:lstStyle xmlns:a="http://schemas.openxmlformats.org/drawingml/2006/main">
            <a:defPPr>
              <a:defRPr sz="1650">
                <a:solidFill>
                  <a:srgbClr val="173C32"/>
                </a:solidFill>
                <a:latin typeface="Arial"/>
                <a:ea typeface="Arial"/>
                <a:cs typeface="Arial"/>
              </a:defRPr>
            </a:defPPr>
            <a:lvl1pPr>
              <a:defRPr sz="1650">
                <a:solidFill>
                  <a:srgbClr val="173C32"/>
                </a:solidFill>
                <a:latin typeface="Arial"/>
                <a:ea typeface="Arial"/>
                <a:cs typeface="Arial"/>
              </a:defRPr>
            </a:lvl1pPr>
            <a:lvl2pPr>
              <a:defRPr sz="1650">
                <a:solidFill>
                  <a:srgbClr val="173C32"/>
                </a:solidFill>
                <a:latin typeface="Arial"/>
                <a:ea typeface="Arial"/>
                <a:cs typeface="Arial"/>
              </a:defRPr>
            </a:lvl2pPr>
            <a:lvl3pPr>
              <a:defRPr sz="1650">
                <a:solidFill>
                  <a:srgbClr val="173C32"/>
                </a:solidFill>
                <a:latin typeface="Arial"/>
                <a:ea typeface="Arial"/>
                <a:cs typeface="Arial"/>
              </a:defRPr>
            </a:lvl3pPr>
            <a:lvl4pPr>
              <a:defRPr sz="1650">
                <a:solidFill>
                  <a:srgbClr val="173C32"/>
                </a:solidFill>
                <a:latin typeface="Arial"/>
                <a:ea typeface="Arial"/>
                <a:cs typeface="Arial"/>
              </a:defRPr>
            </a:lvl4pPr>
            <a:lvl5pPr>
              <a:defRPr sz="1650">
                <a:solidFill>
                  <a:srgbClr val="173C32"/>
                </a:solidFill>
                <a:latin typeface="Arial"/>
                <a:ea typeface="Arial"/>
                <a:cs typeface="Arial"/>
              </a:defRPr>
            </a:lvl5pPr>
            <a:lvl6pPr>
              <a:defRPr sz="1650">
                <a:solidFill>
                  <a:srgbClr val="173C32"/>
                </a:solidFill>
                <a:latin typeface="Arial"/>
                <a:ea typeface="Arial"/>
                <a:cs typeface="Arial"/>
              </a:defRPr>
            </a:lvl6pPr>
            <a:lvl7pPr>
              <a:defRPr sz="1650">
                <a:solidFill>
                  <a:srgbClr val="173C32"/>
                </a:solidFill>
                <a:latin typeface="Arial"/>
                <a:ea typeface="Arial"/>
                <a:cs typeface="Arial"/>
              </a:defRPr>
            </a:lvl7pPr>
            <a:lvl8pPr>
              <a:defRPr sz="1650">
                <a:solidFill>
                  <a:srgbClr val="173C32"/>
                </a:solidFill>
                <a:latin typeface="Arial"/>
                <a:ea typeface="Arial"/>
                <a:cs typeface="Arial"/>
              </a:defRPr>
            </a:lvl8pPr>
            <a:lvl9pPr>
              <a:defRPr sz="1650">
                <a:solidFill>
                  <a:srgbClr val="173C32"/>
                </a:solidFill>
                <a:latin typeface="Arial"/>
                <a:ea typeface="Arial"/>
                <a:cs typeface="Arial"/>
              </a:defRPr>
            </a:lvl9pPr>
          </a:lstStyle>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Operational API</a:t>
            </a:r>
          </a:p>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Identity + approval gates</a:t>
            </a:r>
          </a:p>
        </p:txBody>
      </p:sp>
      <p:sp>
        <p:nvSpPr>
          <p:cNvPr id="14" name="">
            <a:extLst xmlns:a="http://schemas.openxmlformats.org/drawingml/2006/main">
              <a:ext uri="{FF2B5EF4-FFF2-40B4-BE49-F238E27FC236}">
                <a16:creationId xmlns:a16="http://schemas.microsoft.com/office/drawing/2014/main" id="{FEC2171F-A9FA-4A23-A567-253DB4FF22FA}"/>
              </a:ext>
            </a:extLst>
          </p:cNvPr>
          <p:cNvSpPr>
            <a:spLocks xmlns:a="http://schemas.openxmlformats.org/drawingml/2006/main" noGrp="1"/>
          </p:cNvSpPr>
          <p:nvPr/>
        </p:nvSpPr>
        <p:spPr>
          <a:xfrm xmlns:a="http://schemas.openxmlformats.org/drawingml/2006/main">
            <a:off x="8858250" y="2190750"/>
            <a:ext cx="2714625" cy="952500"/>
          </a:xfrm>
          <a:prstGeom xmlns:a="http://schemas.openxmlformats.org/drawingml/2006/main" prst="roundRect">
            <a:avLst>
              <a:gd name="adj" fmla="val 14000"/>
            </a:avLst>
          </a:prstGeom>
          <a:solidFill xmlns:a="http://schemas.openxmlformats.org/drawingml/2006/main">
            <a:srgbClr val="E4EEE6"/>
          </a:solidFill>
          <a:ln xmlns:a="http://schemas.openxmlformats.org/drawingml/2006/main" w="13335">
            <a:solidFill>
              <a:srgbClr val="6D9A83"/>
            </a:solidFill>
          </a:ln>
        </p:spPr>
        <p:txBody>
          <a:bodyPr xmlns:a="http://schemas.openxmlformats.org/drawingml/2006/main"/>
          <a:lstStyle xmlns:a="http://schemas.openxmlformats.org/drawingml/2006/main">
            <a:defPPr>
              <a:defRPr sz="1650">
                <a:solidFill>
                  <a:srgbClr val="173C32"/>
                </a:solidFill>
                <a:latin typeface="Arial"/>
                <a:ea typeface="Arial"/>
                <a:cs typeface="Arial"/>
              </a:defRPr>
            </a:defPPr>
            <a:lvl1pPr>
              <a:defRPr sz="1650">
                <a:solidFill>
                  <a:srgbClr val="173C32"/>
                </a:solidFill>
                <a:latin typeface="Arial"/>
                <a:ea typeface="Arial"/>
                <a:cs typeface="Arial"/>
              </a:defRPr>
            </a:lvl1pPr>
            <a:lvl2pPr>
              <a:defRPr sz="1650">
                <a:solidFill>
                  <a:srgbClr val="173C32"/>
                </a:solidFill>
                <a:latin typeface="Arial"/>
                <a:ea typeface="Arial"/>
                <a:cs typeface="Arial"/>
              </a:defRPr>
            </a:lvl2pPr>
            <a:lvl3pPr>
              <a:defRPr sz="1650">
                <a:solidFill>
                  <a:srgbClr val="173C32"/>
                </a:solidFill>
                <a:latin typeface="Arial"/>
                <a:ea typeface="Arial"/>
                <a:cs typeface="Arial"/>
              </a:defRPr>
            </a:lvl3pPr>
            <a:lvl4pPr>
              <a:defRPr sz="1650">
                <a:solidFill>
                  <a:srgbClr val="173C32"/>
                </a:solidFill>
                <a:latin typeface="Arial"/>
                <a:ea typeface="Arial"/>
                <a:cs typeface="Arial"/>
              </a:defRPr>
            </a:lvl4pPr>
            <a:lvl5pPr>
              <a:defRPr sz="1650">
                <a:solidFill>
                  <a:srgbClr val="173C32"/>
                </a:solidFill>
                <a:latin typeface="Arial"/>
                <a:ea typeface="Arial"/>
                <a:cs typeface="Arial"/>
              </a:defRPr>
            </a:lvl5pPr>
            <a:lvl6pPr>
              <a:defRPr sz="1650">
                <a:solidFill>
                  <a:srgbClr val="173C32"/>
                </a:solidFill>
                <a:latin typeface="Arial"/>
                <a:ea typeface="Arial"/>
                <a:cs typeface="Arial"/>
              </a:defRPr>
            </a:lvl6pPr>
            <a:lvl7pPr>
              <a:defRPr sz="1650">
                <a:solidFill>
                  <a:srgbClr val="173C32"/>
                </a:solidFill>
                <a:latin typeface="Arial"/>
                <a:ea typeface="Arial"/>
                <a:cs typeface="Arial"/>
              </a:defRPr>
            </a:lvl7pPr>
            <a:lvl8pPr>
              <a:defRPr sz="1650">
                <a:solidFill>
                  <a:srgbClr val="173C32"/>
                </a:solidFill>
                <a:latin typeface="Arial"/>
                <a:ea typeface="Arial"/>
                <a:cs typeface="Arial"/>
              </a:defRPr>
            </a:lvl8pPr>
            <a:lvl9pPr>
              <a:defRPr sz="1650">
                <a:solidFill>
                  <a:srgbClr val="173C32"/>
                </a:solidFill>
                <a:latin typeface="Arial"/>
                <a:ea typeface="Arial"/>
                <a:cs typeface="Arial"/>
              </a:defRPr>
            </a:lvl9pPr>
          </a:lstStyle>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Jobs / Lakeflow</a:t>
            </a:r>
          </a:p>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Synthetic ingestion</a:t>
            </a:r>
          </a:p>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Quality checks</a:t>
            </a:r>
          </a:p>
        </p:txBody>
      </p:sp>
      <p:sp>
        <p:nvSpPr>
          <p:cNvPr id="15" name="">
            <a:extLst xmlns:a="http://schemas.openxmlformats.org/drawingml/2006/main">
              <a:ext uri="{FF2B5EF4-FFF2-40B4-BE49-F238E27FC236}">
                <a16:creationId xmlns:a16="http://schemas.microsoft.com/office/drawing/2014/main" id="{B6DE3846-43B1-4E8B-B3B6-CBEDDCA26FAE}"/>
              </a:ext>
            </a:extLst>
          </p:cNvPr>
          <p:cNvSpPr>
            <a:spLocks xmlns:a="http://schemas.openxmlformats.org/drawingml/2006/main" noGrp="1"/>
          </p:cNvSpPr>
          <p:nvPr/>
        </p:nvSpPr>
        <p:spPr>
          <a:xfrm xmlns:a="http://schemas.openxmlformats.org/drawingml/2006/main">
            <a:off x="609600" y="4286250"/>
            <a:ext cx="2714625" cy="1047750"/>
          </a:xfrm>
          <a:prstGeom xmlns:a="http://schemas.openxmlformats.org/drawingml/2006/main" prst="roundRect">
            <a:avLst>
              <a:gd name="adj" fmla="val 12727"/>
            </a:avLst>
          </a:prstGeom>
          <a:solidFill xmlns:a="http://schemas.openxmlformats.org/drawingml/2006/main">
            <a:srgbClr val="E4EEE6"/>
          </a:solidFill>
          <a:ln xmlns:a="http://schemas.openxmlformats.org/drawingml/2006/main" w="13335">
            <a:solidFill>
              <a:srgbClr val="6D9A83"/>
            </a:solidFill>
          </a:ln>
        </p:spPr>
        <p:txBody>
          <a:bodyPr xmlns:a="http://schemas.openxmlformats.org/drawingml/2006/main"/>
          <a:lstStyle xmlns:a="http://schemas.openxmlformats.org/drawingml/2006/main">
            <a:defPPr>
              <a:defRPr sz="1650">
                <a:solidFill>
                  <a:srgbClr val="173C32"/>
                </a:solidFill>
                <a:latin typeface="Arial"/>
                <a:ea typeface="Arial"/>
                <a:cs typeface="Arial"/>
              </a:defRPr>
            </a:defPPr>
            <a:lvl1pPr>
              <a:defRPr sz="1650">
                <a:solidFill>
                  <a:srgbClr val="173C32"/>
                </a:solidFill>
                <a:latin typeface="Arial"/>
                <a:ea typeface="Arial"/>
                <a:cs typeface="Arial"/>
              </a:defRPr>
            </a:lvl1pPr>
            <a:lvl2pPr>
              <a:defRPr sz="1650">
                <a:solidFill>
                  <a:srgbClr val="173C32"/>
                </a:solidFill>
                <a:latin typeface="Arial"/>
                <a:ea typeface="Arial"/>
                <a:cs typeface="Arial"/>
              </a:defRPr>
            </a:lvl2pPr>
            <a:lvl3pPr>
              <a:defRPr sz="1650">
                <a:solidFill>
                  <a:srgbClr val="173C32"/>
                </a:solidFill>
                <a:latin typeface="Arial"/>
                <a:ea typeface="Arial"/>
                <a:cs typeface="Arial"/>
              </a:defRPr>
            </a:lvl3pPr>
            <a:lvl4pPr>
              <a:defRPr sz="1650">
                <a:solidFill>
                  <a:srgbClr val="173C32"/>
                </a:solidFill>
                <a:latin typeface="Arial"/>
                <a:ea typeface="Arial"/>
                <a:cs typeface="Arial"/>
              </a:defRPr>
            </a:lvl4pPr>
            <a:lvl5pPr>
              <a:defRPr sz="1650">
                <a:solidFill>
                  <a:srgbClr val="173C32"/>
                </a:solidFill>
                <a:latin typeface="Arial"/>
                <a:ea typeface="Arial"/>
                <a:cs typeface="Arial"/>
              </a:defRPr>
            </a:lvl5pPr>
            <a:lvl6pPr>
              <a:defRPr sz="1650">
                <a:solidFill>
                  <a:srgbClr val="173C32"/>
                </a:solidFill>
                <a:latin typeface="Arial"/>
                <a:ea typeface="Arial"/>
                <a:cs typeface="Arial"/>
              </a:defRPr>
            </a:lvl6pPr>
            <a:lvl7pPr>
              <a:defRPr sz="1650">
                <a:solidFill>
                  <a:srgbClr val="173C32"/>
                </a:solidFill>
                <a:latin typeface="Arial"/>
                <a:ea typeface="Arial"/>
                <a:cs typeface="Arial"/>
              </a:defRPr>
            </a:lvl7pPr>
            <a:lvl8pPr>
              <a:defRPr sz="1650">
                <a:solidFill>
                  <a:srgbClr val="173C32"/>
                </a:solidFill>
                <a:latin typeface="Arial"/>
                <a:ea typeface="Arial"/>
                <a:cs typeface="Arial"/>
              </a:defRPr>
            </a:lvl8pPr>
            <a:lvl9pPr>
              <a:defRPr sz="1650">
                <a:solidFill>
                  <a:srgbClr val="173C32"/>
                </a:solidFill>
                <a:latin typeface="Arial"/>
                <a:ea typeface="Arial"/>
                <a:cs typeface="Arial"/>
              </a:defRPr>
            </a:lvl9pPr>
          </a:lstStyle>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Governed Delta evidence</a:t>
            </a:r>
          </a:p>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Lineage + quality + audit</a:t>
            </a:r>
          </a:p>
        </p:txBody>
      </p:sp>
      <p:sp>
        <p:nvSpPr>
          <p:cNvPr id="16" name="">
            <a:extLst xmlns:a="http://schemas.openxmlformats.org/drawingml/2006/main">
              <a:ext uri="{FF2B5EF4-FFF2-40B4-BE49-F238E27FC236}">
                <a16:creationId xmlns:a16="http://schemas.microsoft.com/office/drawing/2014/main" id="{1522975F-3C99-47FD-849E-44112BF7B010}"/>
              </a:ext>
            </a:extLst>
          </p:cNvPr>
          <p:cNvSpPr>
            <a:spLocks xmlns:a="http://schemas.openxmlformats.org/drawingml/2006/main" noGrp="1"/>
          </p:cNvSpPr>
          <p:nvPr/>
        </p:nvSpPr>
        <p:spPr>
          <a:xfrm xmlns:a="http://schemas.openxmlformats.org/drawingml/2006/main">
            <a:off x="4572000" y="4286250"/>
            <a:ext cx="2857500" cy="1047750"/>
          </a:xfrm>
          <a:prstGeom xmlns:a="http://schemas.openxmlformats.org/drawingml/2006/main" prst="roundRect">
            <a:avLst>
              <a:gd name="adj" fmla="val 12727"/>
            </a:avLst>
          </a:prstGeom>
          <a:solidFill xmlns:a="http://schemas.openxmlformats.org/drawingml/2006/main">
            <a:srgbClr val="E4EEE6"/>
          </a:solidFill>
          <a:ln xmlns:a="http://schemas.openxmlformats.org/drawingml/2006/main" w="13335">
            <a:solidFill>
              <a:srgbClr val="6D9A83"/>
            </a:solidFill>
          </a:ln>
        </p:spPr>
        <p:txBody>
          <a:bodyPr xmlns:a="http://schemas.openxmlformats.org/drawingml/2006/main"/>
          <a:lstStyle xmlns:a="http://schemas.openxmlformats.org/drawingml/2006/main">
            <a:defPPr>
              <a:defRPr sz="1650">
                <a:solidFill>
                  <a:srgbClr val="173C32"/>
                </a:solidFill>
                <a:latin typeface="Arial"/>
                <a:ea typeface="Arial"/>
                <a:cs typeface="Arial"/>
              </a:defRPr>
            </a:defPPr>
            <a:lvl1pPr>
              <a:defRPr sz="1650">
                <a:solidFill>
                  <a:srgbClr val="173C32"/>
                </a:solidFill>
                <a:latin typeface="Arial"/>
                <a:ea typeface="Arial"/>
                <a:cs typeface="Arial"/>
              </a:defRPr>
            </a:lvl1pPr>
            <a:lvl2pPr>
              <a:defRPr sz="1650">
                <a:solidFill>
                  <a:srgbClr val="173C32"/>
                </a:solidFill>
                <a:latin typeface="Arial"/>
                <a:ea typeface="Arial"/>
                <a:cs typeface="Arial"/>
              </a:defRPr>
            </a:lvl2pPr>
            <a:lvl3pPr>
              <a:defRPr sz="1650">
                <a:solidFill>
                  <a:srgbClr val="173C32"/>
                </a:solidFill>
                <a:latin typeface="Arial"/>
                <a:ea typeface="Arial"/>
                <a:cs typeface="Arial"/>
              </a:defRPr>
            </a:lvl3pPr>
            <a:lvl4pPr>
              <a:defRPr sz="1650">
                <a:solidFill>
                  <a:srgbClr val="173C32"/>
                </a:solidFill>
                <a:latin typeface="Arial"/>
                <a:ea typeface="Arial"/>
                <a:cs typeface="Arial"/>
              </a:defRPr>
            </a:lvl4pPr>
            <a:lvl5pPr>
              <a:defRPr sz="1650">
                <a:solidFill>
                  <a:srgbClr val="173C32"/>
                </a:solidFill>
                <a:latin typeface="Arial"/>
                <a:ea typeface="Arial"/>
                <a:cs typeface="Arial"/>
              </a:defRPr>
            </a:lvl5pPr>
            <a:lvl6pPr>
              <a:defRPr sz="1650">
                <a:solidFill>
                  <a:srgbClr val="173C32"/>
                </a:solidFill>
                <a:latin typeface="Arial"/>
                <a:ea typeface="Arial"/>
                <a:cs typeface="Arial"/>
              </a:defRPr>
            </a:lvl6pPr>
            <a:lvl7pPr>
              <a:defRPr sz="1650">
                <a:solidFill>
                  <a:srgbClr val="173C32"/>
                </a:solidFill>
                <a:latin typeface="Arial"/>
                <a:ea typeface="Arial"/>
                <a:cs typeface="Arial"/>
              </a:defRPr>
            </a:lvl7pPr>
            <a:lvl8pPr>
              <a:defRPr sz="1650">
                <a:solidFill>
                  <a:srgbClr val="173C32"/>
                </a:solidFill>
                <a:latin typeface="Arial"/>
                <a:ea typeface="Arial"/>
                <a:cs typeface="Arial"/>
              </a:defRPr>
            </a:lvl8pPr>
            <a:lvl9pPr>
              <a:defRPr sz="1650">
                <a:solidFill>
                  <a:srgbClr val="173C32"/>
                </a:solidFill>
                <a:latin typeface="Arial"/>
                <a:ea typeface="Arial"/>
                <a:cs typeface="Arial"/>
              </a:defRPr>
            </a:lvl9pPr>
          </a:lstStyle>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Transactional claim service</a:t>
            </a:r>
          </a:p>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Leases + fencing + execution</a:t>
            </a:r>
          </a:p>
        </p:txBody>
      </p:sp>
      <p:sp>
        <p:nvSpPr>
          <p:cNvPr id="17" name="">
            <a:extLst xmlns:a="http://schemas.openxmlformats.org/drawingml/2006/main">
              <a:ext uri="{FF2B5EF4-FFF2-40B4-BE49-F238E27FC236}">
                <a16:creationId xmlns:a16="http://schemas.microsoft.com/office/drawing/2014/main" id="{192C1743-20BE-4ABF-B154-02A0202960F1}"/>
              </a:ext>
            </a:extLst>
          </p:cNvPr>
          <p:cNvSpPr>
            <a:spLocks xmlns:a="http://schemas.openxmlformats.org/drawingml/2006/main" noGrp="1"/>
          </p:cNvSpPr>
          <p:nvPr/>
        </p:nvSpPr>
        <p:spPr>
          <a:xfrm xmlns:a="http://schemas.openxmlformats.org/drawingml/2006/main">
            <a:off x="8858250" y="4286250"/>
            <a:ext cx="2714625" cy="1047750"/>
          </a:xfrm>
          <a:prstGeom xmlns:a="http://schemas.openxmlformats.org/drawingml/2006/main" prst="roundRect">
            <a:avLst>
              <a:gd name="adj" fmla="val 12727"/>
            </a:avLst>
          </a:prstGeom>
          <a:solidFill xmlns:a="http://schemas.openxmlformats.org/drawingml/2006/main">
            <a:srgbClr val="E4EEE6"/>
          </a:solidFill>
          <a:ln xmlns:a="http://schemas.openxmlformats.org/drawingml/2006/main" w="13335">
            <a:solidFill>
              <a:srgbClr val="6D9A83"/>
            </a:solidFill>
          </a:ln>
        </p:spPr>
        <p:txBody>
          <a:bodyPr xmlns:a="http://schemas.openxmlformats.org/drawingml/2006/main"/>
          <a:lstStyle xmlns:a="http://schemas.openxmlformats.org/drawingml/2006/main">
            <a:defPPr>
              <a:defRPr sz="1650">
                <a:solidFill>
                  <a:srgbClr val="173C32"/>
                </a:solidFill>
                <a:latin typeface="Arial"/>
                <a:ea typeface="Arial"/>
                <a:cs typeface="Arial"/>
              </a:defRPr>
            </a:defPPr>
            <a:lvl1pPr>
              <a:defRPr sz="1650">
                <a:solidFill>
                  <a:srgbClr val="173C32"/>
                </a:solidFill>
                <a:latin typeface="Arial"/>
                <a:ea typeface="Arial"/>
                <a:cs typeface="Arial"/>
              </a:defRPr>
            </a:lvl1pPr>
            <a:lvl2pPr>
              <a:defRPr sz="1650">
                <a:solidFill>
                  <a:srgbClr val="173C32"/>
                </a:solidFill>
                <a:latin typeface="Arial"/>
                <a:ea typeface="Arial"/>
                <a:cs typeface="Arial"/>
              </a:defRPr>
            </a:lvl2pPr>
            <a:lvl3pPr>
              <a:defRPr sz="1650">
                <a:solidFill>
                  <a:srgbClr val="173C32"/>
                </a:solidFill>
                <a:latin typeface="Arial"/>
                <a:ea typeface="Arial"/>
                <a:cs typeface="Arial"/>
              </a:defRPr>
            </a:lvl3pPr>
            <a:lvl4pPr>
              <a:defRPr sz="1650">
                <a:solidFill>
                  <a:srgbClr val="173C32"/>
                </a:solidFill>
                <a:latin typeface="Arial"/>
                <a:ea typeface="Arial"/>
                <a:cs typeface="Arial"/>
              </a:defRPr>
            </a:lvl4pPr>
            <a:lvl5pPr>
              <a:defRPr sz="1650">
                <a:solidFill>
                  <a:srgbClr val="173C32"/>
                </a:solidFill>
                <a:latin typeface="Arial"/>
                <a:ea typeface="Arial"/>
                <a:cs typeface="Arial"/>
              </a:defRPr>
            </a:lvl5pPr>
            <a:lvl6pPr>
              <a:defRPr sz="1650">
                <a:solidFill>
                  <a:srgbClr val="173C32"/>
                </a:solidFill>
                <a:latin typeface="Arial"/>
                <a:ea typeface="Arial"/>
                <a:cs typeface="Arial"/>
              </a:defRPr>
            </a:lvl6pPr>
            <a:lvl7pPr>
              <a:defRPr sz="1650">
                <a:solidFill>
                  <a:srgbClr val="173C32"/>
                </a:solidFill>
                <a:latin typeface="Arial"/>
                <a:ea typeface="Arial"/>
                <a:cs typeface="Arial"/>
              </a:defRPr>
            </a:lvl7pPr>
            <a:lvl8pPr>
              <a:defRPr sz="1650">
                <a:solidFill>
                  <a:srgbClr val="173C32"/>
                </a:solidFill>
                <a:latin typeface="Arial"/>
                <a:ea typeface="Arial"/>
                <a:cs typeface="Arial"/>
              </a:defRPr>
            </a:lvl8pPr>
            <a:lvl9pPr>
              <a:defRPr sz="1650">
                <a:solidFill>
                  <a:srgbClr val="173C32"/>
                </a:solidFill>
                <a:latin typeface="Arial"/>
                <a:ea typeface="Arial"/>
                <a:cs typeface="Arial"/>
              </a:defRPr>
            </a:lvl9pPr>
          </a:lstStyle>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Approved adapters</a:t>
            </a:r>
          </a:p>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Kafka + MFTS receipts</a:t>
            </a:r>
          </a:p>
        </p:txBody>
      </p:sp>
      <p:sp>
        <p:nvSpPr>
          <p:cNvPr id="18" name="">
            <a:extLst xmlns:a="http://schemas.openxmlformats.org/drawingml/2006/main">
              <a:ext uri="{FF2B5EF4-FFF2-40B4-BE49-F238E27FC236}">
                <a16:creationId xmlns:a16="http://schemas.microsoft.com/office/drawing/2014/main" id="{7C45A3EE-FB1F-4E78-80A5-B162DF96DD5E}"/>
              </a:ext>
            </a:extLst>
          </p:cNvPr>
          <p:cNvSpPr>
            <a:spLocks xmlns:a="http://schemas.openxmlformats.org/drawingml/2006/main" noGrp="1"/>
          </p:cNvSpPr>
          <p:nvPr/>
        </p:nvSpPr>
        <p:spPr>
          <a:xfrm xmlns:a="http://schemas.openxmlformats.org/drawingml/2006/main">
            <a:off x="609600" y="59055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4"/>
                </a:solidFill>
                <a:latin typeface="Arial"/>
                <a:ea typeface="Arial"/>
                <a:cs typeface="Arial"/>
              </a:defRPr>
            </a:defPPr>
            <a:lvl1pPr>
              <a:defRPr sz="1875" b="0">
                <a:solidFill>
                  <a:srgbClr val="183D34"/>
                </a:solidFill>
                <a:latin typeface="Arial"/>
                <a:ea typeface="Arial"/>
                <a:cs typeface="Arial"/>
              </a:defRPr>
            </a:lvl1pPr>
            <a:lvl2pPr>
              <a:defRPr sz="1875" b="0">
                <a:solidFill>
                  <a:srgbClr val="183D34"/>
                </a:solidFill>
                <a:latin typeface="Arial"/>
                <a:ea typeface="Arial"/>
                <a:cs typeface="Arial"/>
              </a:defRPr>
            </a:lvl2pPr>
            <a:lvl3pPr>
              <a:defRPr sz="1875" b="0">
                <a:solidFill>
                  <a:srgbClr val="183D34"/>
                </a:solidFill>
                <a:latin typeface="Arial"/>
                <a:ea typeface="Arial"/>
                <a:cs typeface="Arial"/>
              </a:defRPr>
            </a:lvl3pPr>
            <a:lvl4pPr>
              <a:defRPr sz="1875" b="0">
                <a:solidFill>
                  <a:srgbClr val="183D34"/>
                </a:solidFill>
                <a:latin typeface="Arial"/>
                <a:ea typeface="Arial"/>
                <a:cs typeface="Arial"/>
              </a:defRPr>
            </a:lvl4pPr>
            <a:lvl5pPr>
              <a:defRPr sz="1875" b="0">
                <a:solidFill>
                  <a:srgbClr val="183D34"/>
                </a:solidFill>
                <a:latin typeface="Arial"/>
                <a:ea typeface="Arial"/>
                <a:cs typeface="Arial"/>
              </a:defRPr>
            </a:lvl5pPr>
            <a:lvl6pPr>
              <a:defRPr sz="1875" b="0">
                <a:solidFill>
                  <a:srgbClr val="183D34"/>
                </a:solidFill>
                <a:latin typeface="Arial"/>
                <a:ea typeface="Arial"/>
                <a:cs typeface="Arial"/>
              </a:defRPr>
            </a:lvl6pPr>
            <a:lvl7pPr>
              <a:defRPr sz="1875" b="0">
                <a:solidFill>
                  <a:srgbClr val="183D34"/>
                </a:solidFill>
                <a:latin typeface="Arial"/>
                <a:ea typeface="Arial"/>
                <a:cs typeface="Arial"/>
              </a:defRPr>
            </a:lvl7pPr>
            <a:lvl8pPr>
              <a:defRPr sz="1875" b="0">
                <a:solidFill>
                  <a:srgbClr val="183D34"/>
                </a:solidFill>
                <a:latin typeface="Arial"/>
                <a:ea typeface="Arial"/>
                <a:cs typeface="Arial"/>
              </a:defRPr>
            </a:lvl8pPr>
            <a:lvl9pPr>
              <a:defRPr sz="1875" b="0">
                <a:solidFill>
                  <a:srgbClr val="183D34"/>
                </a:solidFill>
                <a:latin typeface="Arial"/>
                <a:ea typeface="Arial"/>
                <a:cs typeface="Arial"/>
              </a:defRPr>
            </a:lvl9pPr>
          </a:lstStyle>
          <a:p xmlns:a="http://schemas.openxmlformats.org/drawingml/2006/main">
            <a:pPr>
              <a:defRPr sz="1875" b="0">
                <a:solidFill>
                  <a:srgbClr val="183D34"/>
                </a:solidFill>
                <a:latin typeface="Arial"/>
                <a:ea typeface="Arial"/>
                <a:cs typeface="Arial"/>
              </a:defRPr>
            </a:pPr>
            <a:r>
              <a:rPr sz="1875" b="0">
                <a:solidFill>
                  <a:srgbClr val="183D34"/>
                </a:solidFill>
                <a:latin typeface="Arial"/>
                <a:ea typeface="Arial"/>
                <a:cs typeface="Arial"/>
              </a:rPr>
              <a:t>Advisory reads stay separate from authorized execution. Operational ownership requires a proven claim protocol.</a:t>
            </a:r>
          </a:p>
        </p:txBody>
      </p:sp>
    </p:spTree>
    <p:extLst>
      <p:ext uri="{BB962C8B-B14F-4D97-AF65-F5344CB8AC3E}">
        <p14:creationId xmlns:p14="http://schemas.microsoft.com/office/powerpoint/2010/main" val="1589964089"/>
      </p:ext>
    </p:extLst>
  </p:cSld>
</p:sld>
</file>

<file path=ppt/slides/slide11.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1FB48D3-675A-4B38-8BF6-65223C3E9013}"/>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D34"/>
                </a:solidFill>
              </a:defRPr>
            </a:defPPr>
            <a:lvl1pPr>
              <a:defRPr sz="3000" b="1">
                <a:solidFill>
                  <a:srgbClr val="183D34"/>
                </a:solidFill>
              </a:defRPr>
            </a:lvl1pPr>
            <a:lvl2pPr>
              <a:defRPr sz="3000" b="1">
                <a:solidFill>
                  <a:srgbClr val="183D34"/>
                </a:solidFill>
              </a:defRPr>
            </a:lvl2pPr>
            <a:lvl3pPr>
              <a:defRPr sz="3000" b="1">
                <a:solidFill>
                  <a:srgbClr val="183D34"/>
                </a:solidFill>
              </a:defRPr>
            </a:lvl3pPr>
            <a:lvl4pPr>
              <a:defRPr sz="3000" b="1">
                <a:solidFill>
                  <a:srgbClr val="183D34"/>
                </a:solidFill>
              </a:defRPr>
            </a:lvl4pPr>
            <a:lvl5pPr>
              <a:defRPr sz="3000" b="1">
                <a:solidFill>
                  <a:srgbClr val="183D34"/>
                </a:solidFill>
              </a:defRPr>
            </a:lvl5pPr>
            <a:lvl6pPr>
              <a:defRPr sz="3000" b="1">
                <a:solidFill>
                  <a:srgbClr val="183D34"/>
                </a:solidFill>
              </a:defRPr>
            </a:lvl6pPr>
            <a:lvl7pPr>
              <a:defRPr sz="3000" b="1">
                <a:solidFill>
                  <a:srgbClr val="183D34"/>
                </a:solidFill>
              </a:defRPr>
            </a:lvl7pPr>
            <a:lvl8pPr>
              <a:defRPr sz="3000" b="1">
                <a:solidFill>
                  <a:srgbClr val="183D34"/>
                </a:solidFill>
              </a:defRPr>
            </a:lvl8pPr>
            <a:lvl9pPr>
              <a:defRPr sz="3000" b="1">
                <a:solidFill>
                  <a:srgbClr val="183D34"/>
                </a:solidFill>
              </a:defRPr>
            </a:lvl9pPr>
          </a:lstStyle>
          <a:p xmlns:a="http://schemas.openxmlformats.org/drawingml/2006/main">
            <a:pPr>
              <a:defRPr sz="3000" b="1">
                <a:solidFill>
                  <a:srgbClr val="183D34"/>
                </a:solidFill>
              </a:defRPr>
            </a:pPr>
            <a:r>
              <a:rPr sz="3000" b="1">
                <a:solidFill>
                  <a:srgbClr val="183D34"/>
                </a:solidFill>
              </a:rPr>
              <a:t>Pilot entry gates</a:t>
            </a:r>
          </a:p>
        </p:txBody>
      </p:sp>
      <p:sp>
        <p:nvSpPr>
          <p:cNvPr id="3" name="">
            <a:extLst xmlns:a="http://schemas.openxmlformats.org/drawingml/2006/main">
              <a:ext uri="{FF2B5EF4-FFF2-40B4-BE49-F238E27FC236}">
                <a16:creationId xmlns:a16="http://schemas.microsoft.com/office/drawing/2014/main" id="{3F9562CC-8DED-4790-B3CD-98A2D3DEBBA9}"/>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A62"/>
                </a:solidFill>
              </a:defRPr>
            </a:defPPr>
            <a:lvl1pPr>
              <a:defRPr sz="1200" b="0">
                <a:solidFill>
                  <a:srgbClr val="536A62"/>
                </a:solidFill>
              </a:defRPr>
            </a:lvl1pPr>
            <a:lvl2pPr>
              <a:defRPr sz="1200" b="0">
                <a:solidFill>
                  <a:srgbClr val="536A62"/>
                </a:solidFill>
              </a:defRPr>
            </a:lvl2pPr>
            <a:lvl3pPr>
              <a:defRPr sz="1200" b="0">
                <a:solidFill>
                  <a:srgbClr val="536A62"/>
                </a:solidFill>
              </a:defRPr>
            </a:lvl3pPr>
            <a:lvl4pPr>
              <a:defRPr sz="1200" b="0">
                <a:solidFill>
                  <a:srgbClr val="536A62"/>
                </a:solidFill>
              </a:defRPr>
            </a:lvl4pPr>
            <a:lvl5pPr>
              <a:defRPr sz="1200" b="0">
                <a:solidFill>
                  <a:srgbClr val="536A62"/>
                </a:solidFill>
              </a:defRPr>
            </a:lvl5pPr>
            <a:lvl6pPr>
              <a:defRPr sz="1200" b="0">
                <a:solidFill>
                  <a:srgbClr val="536A62"/>
                </a:solidFill>
              </a:defRPr>
            </a:lvl6pPr>
            <a:lvl7pPr>
              <a:defRPr sz="1200" b="0">
                <a:solidFill>
                  <a:srgbClr val="536A62"/>
                </a:solidFill>
              </a:defRPr>
            </a:lvl7pPr>
            <a:lvl8pPr>
              <a:defRPr sz="1200" b="0">
                <a:solidFill>
                  <a:srgbClr val="536A62"/>
                </a:solidFill>
              </a:defRPr>
            </a:lvl8pPr>
            <a:lvl9pPr>
              <a:defRPr sz="1200" b="0">
                <a:solidFill>
                  <a:srgbClr val="536A62"/>
                </a:solidFill>
              </a:defRPr>
            </a:lvl9pPr>
          </a:lstStyle>
          <a:p xmlns:a="http://schemas.openxmlformats.org/drawingml/2006/main">
            <a:pPr>
              <a:defRPr sz="1200" b="0">
                <a:solidFill>
                  <a:srgbClr val="536A62"/>
                </a:solidFill>
              </a:defRPr>
            </a:pPr>
            <a:r>
              <a:rPr sz="1200" b="0">
                <a:solidFill>
                  <a:srgbClr val="536A62"/>
                </a:solidFill>
              </a:rPr>
              <a:t>11</a:t>
            </a:r>
          </a:p>
        </p:txBody>
      </p:sp>
      <p:graphicFrame>
        <p:nvGraphicFramePr>
          <p:cNvPr id="4" name="">
            <a:extLst xmlns:a="http://schemas.openxmlformats.org/drawingml/2006/main">
              <a:ext uri="{FF2B5EF4-FFF2-40B4-BE49-F238E27FC236}">
                <a16:creationId xmlns:a16="http://schemas.microsoft.com/office/drawing/2014/main" id="{0A887224-2D54-417A-920A-5A70DD3E88DC}"/>
              </a:ext>
            </a:extLst>
          </p:cNvPr>
          <p:cNvGraphicFramePr/>
          <p:nvPr/>
        </p:nvGraphicFramePr>
        <p:xfrm>
          <a:off xmlns:a="http://schemas.openxmlformats.org/drawingml/2006/main" x="609600" y="1476375"/>
          <a:ext xmlns:a="http://schemas.openxmlformats.org/drawingml/2006/main" cx="10972800" cy="4238625"/>
        </p:xfrm>
        <a:graphic xmlns:a="http://schemas.openxmlformats.org/drawingml/2006/main">
          <a:graphicData uri="http://schemas.openxmlformats.org/drawingml/2006/table">
            <a:tbl>
              <a:tblPr/>
              <a:tblGrid>
                <a:gridCol w="2714625"/>
                <a:gridCol w="5048250"/>
                <a:gridCol w="3209925"/>
              </a:tblGrid>
              <a:tr h="706438">
                <a:tc>
                  <a:txBody>
                    <a:bodyPr/>
                    <a:lstStyle/>
                    <a:p>
                      <a:r>
                        <a:rPr sz="1650" b="1">
                          <a:solidFill>
                            <a:srgbClr val="FFFFFF"/>
                          </a:solidFill>
                        </a:rPr>
                        <a:t>Gate and owner</a:t>
                      </a:r>
                    </a:p>
                  </a:txBody>
                  <a:tcPr marL="91440" marR="91440" marT="45720" marB="45720">
                    <a:lnL w="9525">
                      <a:solidFill>
                        <a:srgbClr val="C6D6CB"/>
                      </a:solidFill>
                      <a:prstDash val="solid"/>
                    </a:lnL>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c>
                  <a:txBody>
                    <a:bodyPr/>
                    <a:lstStyle/>
                    <a:p>
                      <a:r>
                        <a:rPr sz="1650" b="1">
                          <a:solidFill>
                            <a:srgbClr val="FFFFFF"/>
                          </a:solidFill>
                        </a:rPr>
                        <a:t>Acceptance evidence</a:t>
                      </a:r>
                    </a:p>
                  </a:txBody>
                  <a:tcPr marL="91440" marR="91440" marT="45720" marB="45720">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c>
                  <a:txBody>
                    <a:bodyPr/>
                    <a:lstStyle/>
                    <a:p>
                      <a:r>
                        <a:rPr sz="1650" b="1">
                          <a:solidFill>
                            <a:srgbClr val="FFFFFF"/>
                          </a:solidFill>
                        </a:rPr>
                        <a:t>Current position</a:t>
                      </a:r>
                    </a:p>
                  </a:txBody>
                  <a:tcPr marL="91440" marR="91440" marT="45720" marB="45720">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r>
              <a:tr h="706438">
                <a:tc>
                  <a:txBody>
                    <a:bodyPr/>
                    <a:lstStyle/>
                    <a:p>
                      <a:r>
                        <a:rPr sz="1650" b="0">
                          <a:solidFill>
                            <a:srgbClr val="183D34"/>
                          </a:solidFill>
                        </a:rPr>
                        <a:t>Scope / architect</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FFFFFF"/>
                    </a:solidFill>
                  </a:tcPr>
                </a:tc>
                <a:tc>
                  <a:txBody>
                    <a:bodyPr/>
                    <a:lstStyle/>
                    <a:p>
                      <a:r>
                        <a:rPr sz="1650" b="0">
                          <a:solidFill>
                            <a:srgbClr val="183D34"/>
                          </a:solidFill>
                        </a:rPr>
                        <a:t>One isolated workspace, dataset and named owner</a:t>
                      </a:r>
                    </a:p>
                  </a:txBody>
                  <a:tcPr marL="91440" marR="91440" marT="45720" marB="45720">
                    <a:lnR w="9525">
                      <a:solidFill>
                        <a:srgbClr val="C6D6CB"/>
                      </a:solidFill>
                      <a:prstDash val="solid"/>
                    </a:lnR>
                    <a:lnB w="9525">
                      <a:solidFill>
                        <a:srgbClr val="C6D6CB"/>
                      </a:solidFill>
                      <a:prstDash val="solid"/>
                    </a:lnB>
                    <a:solidFill>
                      <a:srgbClr val="FFFFFF"/>
                    </a:solidFill>
                  </a:tcPr>
                </a:tc>
                <a:tc>
                  <a:txBody>
                    <a:bodyPr/>
                    <a:lstStyle/>
                    <a:p>
                      <a:r>
                        <a:rPr sz="1650" b="0">
                          <a:solidFill>
                            <a:srgbClr val="183D34"/>
                          </a:solidFill>
                        </a:rPr>
                        <a:t>Decision requested</a:t>
                      </a:r>
                    </a:p>
                  </a:txBody>
                  <a:tcPr marL="91440" marR="91440" marT="45720" marB="45720">
                    <a:lnR w="9525">
                      <a:solidFill>
                        <a:srgbClr val="C6D6CB"/>
                      </a:solidFill>
                      <a:prstDash val="solid"/>
                    </a:lnR>
                    <a:lnB w="9525">
                      <a:solidFill>
                        <a:srgbClr val="C6D6CB"/>
                      </a:solidFill>
                      <a:prstDash val="solid"/>
                    </a:lnB>
                    <a:solidFill>
                      <a:srgbClr val="FFFFFF"/>
                    </a:solidFill>
                  </a:tcPr>
                </a:tc>
              </a:tr>
              <a:tr h="706438">
                <a:tc>
                  <a:txBody>
                    <a:bodyPr/>
                    <a:lstStyle/>
                    <a:p>
                      <a:r>
                        <a:rPr sz="1650" b="0">
                          <a:solidFill>
                            <a:srgbClr val="183D34"/>
                          </a:solidFill>
                        </a:rPr>
                        <a:t>Deployment / platform</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E2EDE3"/>
                    </a:solidFill>
                  </a:tcPr>
                </a:tc>
                <a:tc>
                  <a:txBody>
                    <a:bodyPr/>
                    <a:lstStyle/>
                    <a:p>
                      <a:r>
                        <a:rPr sz="1650" b="0">
                          <a:solidFill>
                            <a:srgbClr val="183D34"/>
                          </a:solidFill>
                        </a:rPr>
                        <a:t>Bundle validates and App + synthetic Job run successfully</a:t>
                      </a:r>
                    </a:p>
                  </a:txBody>
                  <a:tcPr marL="91440" marR="91440" marT="45720" marB="45720">
                    <a:lnR w="9525">
                      <a:solidFill>
                        <a:srgbClr val="C6D6CB"/>
                      </a:solidFill>
                      <a:prstDash val="solid"/>
                    </a:lnR>
                    <a:lnB w="9525">
                      <a:solidFill>
                        <a:srgbClr val="C6D6CB"/>
                      </a:solidFill>
                      <a:prstDash val="solid"/>
                    </a:lnB>
                    <a:solidFill>
                      <a:srgbClr val="E2EDE3"/>
                    </a:solidFill>
                  </a:tcPr>
                </a:tc>
                <a:tc>
                  <a:txBody>
                    <a:bodyPr/>
                    <a:lstStyle/>
                    <a:p>
                      <a:r>
                        <a:rPr sz="1650" b="0">
                          <a:solidFill>
                            <a:srgbClr val="183D34"/>
                          </a:solidFill>
                        </a:rPr>
                        <a:t>Generated config only</a:t>
                      </a:r>
                    </a:p>
                  </a:txBody>
                  <a:tcPr marL="91440" marR="91440" marT="45720" marB="45720">
                    <a:lnR w="9525">
                      <a:solidFill>
                        <a:srgbClr val="C6D6CB"/>
                      </a:solidFill>
                      <a:prstDash val="solid"/>
                    </a:lnR>
                    <a:lnB w="9525">
                      <a:solidFill>
                        <a:srgbClr val="C6D6CB"/>
                      </a:solidFill>
                      <a:prstDash val="solid"/>
                    </a:lnB>
                    <a:solidFill>
                      <a:srgbClr val="E2EDE3"/>
                    </a:solidFill>
                  </a:tcPr>
                </a:tc>
              </a:tr>
              <a:tr h="706438">
                <a:tc>
                  <a:txBody>
                    <a:bodyPr/>
                    <a:lstStyle/>
                    <a:p>
                      <a:r>
                        <a:rPr sz="1650" b="0">
                          <a:solidFill>
                            <a:srgbClr val="183D34"/>
                          </a:solidFill>
                        </a:rPr>
                        <a:t>Access / security</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FFFFFF"/>
                    </a:solidFill>
                  </a:tcPr>
                </a:tc>
                <a:tc>
                  <a:txBody>
                    <a:bodyPr/>
                    <a:lstStyle/>
                    <a:p>
                      <a:r>
                        <a:rPr sz="1650" b="0">
                          <a:solidFill>
                            <a:srgbClr val="183D34"/>
                          </a:solidFill>
                        </a:rPr>
                        <a:t>Least-privilege grants and agreed per-user visibility</a:t>
                      </a:r>
                    </a:p>
                  </a:txBody>
                  <a:tcPr marL="91440" marR="91440" marT="45720" marB="45720">
                    <a:lnR w="9525">
                      <a:solidFill>
                        <a:srgbClr val="C6D6CB"/>
                      </a:solidFill>
                      <a:prstDash val="solid"/>
                    </a:lnR>
                    <a:lnB w="9525">
                      <a:solidFill>
                        <a:srgbClr val="C6D6CB"/>
                      </a:solidFill>
                      <a:prstDash val="solid"/>
                    </a:lnB>
                    <a:solidFill>
                      <a:srgbClr val="FFFFFF"/>
                    </a:solidFill>
                  </a:tcPr>
                </a:tc>
                <a:tc>
                  <a:txBody>
                    <a:bodyPr/>
                    <a:lstStyle/>
                    <a:p>
                      <a:r>
                        <a:rPr sz="1650" b="0">
                          <a:solidFill>
                            <a:srgbClr val="183D34"/>
                          </a:solidFill>
                        </a:rPr>
                        <a:t>Design and tests required</a:t>
                      </a:r>
                    </a:p>
                  </a:txBody>
                  <a:tcPr marL="91440" marR="91440" marT="45720" marB="45720">
                    <a:lnR w="9525">
                      <a:solidFill>
                        <a:srgbClr val="C6D6CB"/>
                      </a:solidFill>
                      <a:prstDash val="solid"/>
                    </a:lnR>
                    <a:lnB w="9525">
                      <a:solidFill>
                        <a:srgbClr val="C6D6CB"/>
                      </a:solidFill>
                      <a:prstDash val="solid"/>
                    </a:lnB>
                    <a:solidFill>
                      <a:srgbClr val="FFFFFF"/>
                    </a:solidFill>
                  </a:tcPr>
                </a:tc>
              </a:tr>
              <a:tr h="706438">
                <a:tc>
                  <a:txBody>
                    <a:bodyPr/>
                    <a:lstStyle/>
                    <a:p>
                      <a:r>
                        <a:rPr sz="1650" b="0">
                          <a:solidFill>
                            <a:srgbClr val="183D34"/>
                          </a:solidFill>
                        </a:rPr>
                        <a:t>Identity / application team</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E2EDE3"/>
                    </a:solidFill>
                  </a:tcPr>
                </a:tc>
                <a:tc>
                  <a:txBody>
                    <a:bodyPr/>
                    <a:lstStyle/>
                    <a:p>
                      <a:r>
                        <a:rPr sz="1650" b="0">
                          <a:solidFill>
                            <a:srgbClr val="183D34"/>
                          </a:solidFill>
                        </a:rPr>
                        <a:t>Server-enforced roles, distinct approver and expiry</a:t>
                      </a:r>
                    </a:p>
                  </a:txBody>
                  <a:tcPr marL="91440" marR="91440" marT="45720" marB="45720">
                    <a:lnR w="9525">
                      <a:solidFill>
                        <a:srgbClr val="C6D6CB"/>
                      </a:solidFill>
                      <a:prstDash val="solid"/>
                    </a:lnR>
                    <a:lnB w="9525">
                      <a:solidFill>
                        <a:srgbClr val="C6D6CB"/>
                      </a:solidFill>
                      <a:prstDash val="solid"/>
                    </a:lnB>
                    <a:solidFill>
                      <a:srgbClr val="E2EDE3"/>
                    </a:solidFill>
                  </a:tcPr>
                </a:tc>
                <a:tc>
                  <a:txBody>
                    <a:bodyPr/>
                    <a:lstStyle/>
                    <a:p>
                      <a:r>
                        <a:rPr sz="1650" b="0">
                          <a:solidFill>
                            <a:srgbClr val="183D34"/>
                          </a:solidFill>
                        </a:rPr>
                        <a:t>Local simulated actors only</a:t>
                      </a:r>
                    </a:p>
                  </a:txBody>
                  <a:tcPr marL="91440" marR="91440" marT="45720" marB="45720">
                    <a:lnR w="9525">
                      <a:solidFill>
                        <a:srgbClr val="C6D6CB"/>
                      </a:solidFill>
                      <a:prstDash val="solid"/>
                    </a:lnR>
                    <a:lnB w="9525">
                      <a:solidFill>
                        <a:srgbClr val="C6D6CB"/>
                      </a:solidFill>
                      <a:prstDash val="solid"/>
                    </a:lnB>
                    <a:solidFill>
                      <a:srgbClr val="E2EDE3"/>
                    </a:solidFill>
                  </a:tcPr>
                </a:tc>
              </a:tr>
              <a:tr h="706438">
                <a:tc>
                  <a:txBody>
                    <a:bodyPr/>
                    <a:lstStyle/>
                    <a:p>
                      <a:r>
                        <a:rPr sz="1650" b="0">
                          <a:solidFill>
                            <a:srgbClr val="183D34"/>
                          </a:solidFill>
                        </a:rPr>
                        <a:t>Data / data owner</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FFFFFF"/>
                    </a:solidFill>
                  </a:tcPr>
                </a:tc>
                <a:tc>
                  <a:txBody>
                    <a:bodyPr/>
                    <a:lstStyle/>
                    <a:p>
                      <a:r>
                        <a:rPr sz="1650" b="0">
                          <a:solidFill>
                            <a:srgbClr val="183D34"/>
                          </a:solidFill>
                        </a:rPr>
                        <a:t>Approved synthetic fixtures and retention policy</a:t>
                      </a:r>
                    </a:p>
                  </a:txBody>
                  <a:tcPr marL="91440" marR="91440" marT="45720" marB="45720">
                    <a:lnR w="9525">
                      <a:solidFill>
                        <a:srgbClr val="C6D6CB"/>
                      </a:solidFill>
                      <a:prstDash val="solid"/>
                    </a:lnR>
                    <a:lnB w="9525">
                      <a:solidFill>
                        <a:srgbClr val="C6D6CB"/>
                      </a:solidFill>
                      <a:prstDash val="solid"/>
                    </a:lnB>
                    <a:solidFill>
                      <a:srgbClr val="FFFFFF"/>
                    </a:solidFill>
                  </a:tcPr>
                </a:tc>
                <a:tc>
                  <a:txBody>
                    <a:bodyPr/>
                    <a:lstStyle/>
                    <a:p>
                      <a:r>
                        <a:rPr sz="1650" b="0">
                          <a:solidFill>
                            <a:srgbClr val="183D34"/>
                          </a:solidFill>
                        </a:rPr>
                        <a:t>Fixtures available</a:t>
                      </a:r>
                    </a:p>
                  </a:txBody>
                  <a:tcPr marL="91440" marR="91440" marT="45720" marB="45720">
                    <a:lnR w="9525">
                      <a:solidFill>
                        <a:srgbClr val="C6D6CB"/>
                      </a:solidFill>
                      <a:prstDash val="solid"/>
                    </a:lnR>
                    <a:lnB w="9525">
                      <a:solidFill>
                        <a:srgbClr val="C6D6CB"/>
                      </a:solidFill>
                      <a:prstDash val="solid"/>
                    </a:lnB>
                    <a:solidFill>
                      <a:srgbClr val="FFFFFF"/>
                    </a:solidFill>
                  </a:tcPr>
                </a:tc>
              </a:tr>
            </a:tbl>
          </a:graphicData>
        </a:graphic>
      </p:graphicFrame>
    </p:spTree>
    <p:extLst>
      <p:ext uri="{BB962C8B-B14F-4D97-AF65-F5344CB8AC3E}">
        <p14:creationId xmlns:p14="http://schemas.microsoft.com/office/powerpoint/2010/main" val="1624975826"/>
      </p:ext>
    </p:extLst>
  </p:cSld>
</p:sld>
</file>

<file path=ppt/slides/slide12.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15B7AD1-846F-440D-89A2-D04C8016FB39}"/>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D34"/>
                </a:solidFill>
              </a:defRPr>
            </a:defPPr>
            <a:lvl1pPr>
              <a:defRPr sz="3000" b="1">
                <a:solidFill>
                  <a:srgbClr val="183D34"/>
                </a:solidFill>
              </a:defRPr>
            </a:lvl1pPr>
            <a:lvl2pPr>
              <a:defRPr sz="3000" b="1">
                <a:solidFill>
                  <a:srgbClr val="183D34"/>
                </a:solidFill>
              </a:defRPr>
            </a:lvl2pPr>
            <a:lvl3pPr>
              <a:defRPr sz="3000" b="1">
                <a:solidFill>
                  <a:srgbClr val="183D34"/>
                </a:solidFill>
              </a:defRPr>
            </a:lvl3pPr>
            <a:lvl4pPr>
              <a:defRPr sz="3000" b="1">
                <a:solidFill>
                  <a:srgbClr val="183D34"/>
                </a:solidFill>
              </a:defRPr>
            </a:lvl4pPr>
            <a:lvl5pPr>
              <a:defRPr sz="3000" b="1">
                <a:solidFill>
                  <a:srgbClr val="183D34"/>
                </a:solidFill>
              </a:defRPr>
            </a:lvl5pPr>
            <a:lvl6pPr>
              <a:defRPr sz="3000" b="1">
                <a:solidFill>
                  <a:srgbClr val="183D34"/>
                </a:solidFill>
              </a:defRPr>
            </a:lvl6pPr>
            <a:lvl7pPr>
              <a:defRPr sz="3000" b="1">
                <a:solidFill>
                  <a:srgbClr val="183D34"/>
                </a:solidFill>
              </a:defRPr>
            </a:lvl7pPr>
            <a:lvl8pPr>
              <a:defRPr sz="3000" b="1">
                <a:solidFill>
                  <a:srgbClr val="183D34"/>
                </a:solidFill>
              </a:defRPr>
            </a:lvl8pPr>
            <a:lvl9pPr>
              <a:defRPr sz="3000" b="1">
                <a:solidFill>
                  <a:srgbClr val="183D34"/>
                </a:solidFill>
              </a:defRPr>
            </a:lvl9pPr>
          </a:lstStyle>
          <a:p xmlns:a="http://schemas.openxmlformats.org/drawingml/2006/main">
            <a:pPr>
              <a:defRPr sz="3000" b="1">
                <a:solidFill>
                  <a:srgbClr val="183D34"/>
                </a:solidFill>
              </a:defRPr>
            </a:pPr>
            <a:r>
              <a:rPr sz="3000" b="1">
                <a:solidFill>
                  <a:srgbClr val="183D34"/>
                </a:solidFill>
              </a:rPr>
              <a:t>Pilot exit criteria</a:t>
            </a:r>
          </a:p>
        </p:txBody>
      </p:sp>
      <p:sp>
        <p:nvSpPr>
          <p:cNvPr id="3" name="">
            <a:extLst xmlns:a="http://schemas.openxmlformats.org/drawingml/2006/main">
              <a:ext uri="{FF2B5EF4-FFF2-40B4-BE49-F238E27FC236}">
                <a16:creationId xmlns:a16="http://schemas.microsoft.com/office/drawing/2014/main" id="{32D68EF9-EF34-4C5A-803A-4F9DFB560F31}"/>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A62"/>
                </a:solidFill>
              </a:defRPr>
            </a:defPPr>
            <a:lvl1pPr>
              <a:defRPr sz="1200" b="0">
                <a:solidFill>
                  <a:srgbClr val="536A62"/>
                </a:solidFill>
              </a:defRPr>
            </a:lvl1pPr>
            <a:lvl2pPr>
              <a:defRPr sz="1200" b="0">
                <a:solidFill>
                  <a:srgbClr val="536A62"/>
                </a:solidFill>
              </a:defRPr>
            </a:lvl2pPr>
            <a:lvl3pPr>
              <a:defRPr sz="1200" b="0">
                <a:solidFill>
                  <a:srgbClr val="536A62"/>
                </a:solidFill>
              </a:defRPr>
            </a:lvl3pPr>
            <a:lvl4pPr>
              <a:defRPr sz="1200" b="0">
                <a:solidFill>
                  <a:srgbClr val="536A62"/>
                </a:solidFill>
              </a:defRPr>
            </a:lvl4pPr>
            <a:lvl5pPr>
              <a:defRPr sz="1200" b="0">
                <a:solidFill>
                  <a:srgbClr val="536A62"/>
                </a:solidFill>
              </a:defRPr>
            </a:lvl5pPr>
            <a:lvl6pPr>
              <a:defRPr sz="1200" b="0">
                <a:solidFill>
                  <a:srgbClr val="536A62"/>
                </a:solidFill>
              </a:defRPr>
            </a:lvl6pPr>
            <a:lvl7pPr>
              <a:defRPr sz="1200" b="0">
                <a:solidFill>
                  <a:srgbClr val="536A62"/>
                </a:solidFill>
              </a:defRPr>
            </a:lvl7pPr>
            <a:lvl8pPr>
              <a:defRPr sz="1200" b="0">
                <a:solidFill>
                  <a:srgbClr val="536A62"/>
                </a:solidFill>
              </a:defRPr>
            </a:lvl8pPr>
            <a:lvl9pPr>
              <a:defRPr sz="1200" b="0">
                <a:solidFill>
                  <a:srgbClr val="536A62"/>
                </a:solidFill>
              </a:defRPr>
            </a:lvl9pPr>
          </a:lstStyle>
          <a:p xmlns:a="http://schemas.openxmlformats.org/drawingml/2006/main">
            <a:pPr>
              <a:defRPr sz="1200" b="0">
                <a:solidFill>
                  <a:srgbClr val="536A62"/>
                </a:solidFill>
              </a:defRPr>
            </a:pPr>
            <a:r>
              <a:rPr sz="1200" b="0">
                <a:solidFill>
                  <a:srgbClr val="536A62"/>
                </a:solidFill>
              </a:rPr>
              <a:t>12</a:t>
            </a:r>
          </a:p>
        </p:txBody>
      </p:sp>
      <p:graphicFrame>
        <p:nvGraphicFramePr>
          <p:cNvPr id="4" name="">
            <a:extLst xmlns:a="http://schemas.openxmlformats.org/drawingml/2006/main">
              <a:ext uri="{FF2B5EF4-FFF2-40B4-BE49-F238E27FC236}">
                <a16:creationId xmlns:a16="http://schemas.microsoft.com/office/drawing/2014/main" id="{7642AF3D-42D0-4AF5-8C3D-EBC59333AF90}"/>
              </a:ext>
            </a:extLst>
          </p:cNvPr>
          <p:cNvGraphicFramePr/>
          <p:nvPr/>
        </p:nvGraphicFramePr>
        <p:xfrm>
          <a:off xmlns:a="http://schemas.openxmlformats.org/drawingml/2006/main" x="609600" y="1476375"/>
          <a:ext xmlns:a="http://schemas.openxmlformats.org/drawingml/2006/main" cx="10972800" cy="4238625"/>
        </p:xfrm>
        <a:graphic xmlns:a="http://schemas.openxmlformats.org/drawingml/2006/main">
          <a:graphicData uri="http://schemas.openxmlformats.org/drawingml/2006/table">
            <a:tbl>
              <a:tblPr/>
              <a:tblGrid>
                <a:gridCol w="2524125"/>
                <a:gridCol w="5238750"/>
                <a:gridCol w="3209925"/>
              </a:tblGrid>
              <a:tr h="706438">
                <a:tc>
                  <a:txBody>
                    <a:bodyPr/>
                    <a:lstStyle/>
                    <a:p>
                      <a:r>
                        <a:rPr sz="1650" b="1">
                          <a:solidFill>
                            <a:srgbClr val="FFFFFF"/>
                          </a:solidFill>
                        </a:rPr>
                        <a:t>Gate</a:t>
                      </a:r>
                    </a:p>
                  </a:txBody>
                  <a:tcPr marL="91440" marR="91440" marT="45720" marB="45720">
                    <a:lnL w="9525">
                      <a:solidFill>
                        <a:srgbClr val="C6D6CB"/>
                      </a:solidFill>
                      <a:prstDash val="solid"/>
                    </a:lnL>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c>
                  <a:txBody>
                    <a:bodyPr/>
                    <a:lstStyle/>
                    <a:p>
                      <a:r>
                        <a:rPr sz="1650" b="1">
                          <a:solidFill>
                            <a:srgbClr val="FFFFFF"/>
                          </a:solidFill>
                        </a:rPr>
                        <a:t>Pass condition</a:t>
                      </a:r>
                    </a:p>
                  </a:txBody>
                  <a:tcPr marL="91440" marR="91440" marT="45720" marB="45720">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c>
                  <a:txBody>
                    <a:bodyPr/>
                    <a:lstStyle/>
                    <a:p>
                      <a:r>
                        <a:rPr sz="1650" b="1">
                          <a:solidFill>
                            <a:srgbClr val="FFFFFF"/>
                          </a:solidFill>
                        </a:rPr>
                        <a:t>Evidence and owner</a:t>
                      </a:r>
                    </a:p>
                  </a:txBody>
                  <a:tcPr marL="91440" marR="91440" marT="45720" marB="45720">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r>
              <a:tr h="706438">
                <a:tc>
                  <a:txBody>
                    <a:bodyPr/>
                    <a:lstStyle/>
                    <a:p>
                      <a:r>
                        <a:rPr sz="1650" b="0">
                          <a:solidFill>
                            <a:srgbClr val="183D34"/>
                          </a:solidFill>
                        </a:rPr>
                        <a:t>Failure and recovery</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FFFFFF"/>
                    </a:solidFill>
                  </a:tcPr>
                </a:tc>
                <a:tc>
                  <a:txBody>
                    <a:bodyPr/>
                    <a:lstStyle/>
                    <a:p>
                      <a:r>
                        <a:rPr sz="1650" b="0">
                          <a:solidFill>
                            <a:srgbClr val="183D34"/>
                          </a:solidFill>
                        </a:rPr>
                        <a:t>Injected failures detect correctly and preserve acknowledged writes</a:t>
                      </a:r>
                    </a:p>
                  </a:txBody>
                  <a:tcPr marL="91440" marR="91440" marT="45720" marB="45720">
                    <a:lnR w="9525">
                      <a:solidFill>
                        <a:srgbClr val="C6D6CB"/>
                      </a:solidFill>
                      <a:prstDash val="solid"/>
                    </a:lnR>
                    <a:lnB w="9525">
                      <a:solidFill>
                        <a:srgbClr val="C6D6CB"/>
                      </a:solidFill>
                      <a:prstDash val="solid"/>
                    </a:lnB>
                    <a:solidFill>
                      <a:srgbClr val="FFFFFF"/>
                    </a:solidFill>
                  </a:tcPr>
                </a:tc>
                <a:tc>
                  <a:txBody>
                    <a:bodyPr/>
                    <a:lstStyle/>
                    <a:p>
                      <a:r>
                        <a:rPr sz="1650" b="0">
                          <a:solidFill>
                            <a:srgbClr val="183D34"/>
                          </a:solidFill>
                        </a:rPr>
                        <a:t>Scenario results / engineering</a:t>
                      </a:r>
                    </a:p>
                  </a:txBody>
                  <a:tcPr marL="91440" marR="91440" marT="45720" marB="45720">
                    <a:lnR w="9525">
                      <a:solidFill>
                        <a:srgbClr val="C6D6CB"/>
                      </a:solidFill>
                      <a:prstDash val="solid"/>
                    </a:lnR>
                    <a:lnB w="9525">
                      <a:solidFill>
                        <a:srgbClr val="C6D6CB"/>
                      </a:solidFill>
                      <a:prstDash val="solid"/>
                    </a:lnB>
                    <a:solidFill>
                      <a:srgbClr val="FFFFFF"/>
                    </a:solidFill>
                  </a:tcPr>
                </a:tc>
              </a:tr>
              <a:tr h="706438">
                <a:tc>
                  <a:txBody>
                    <a:bodyPr/>
                    <a:lstStyle/>
                    <a:p>
                      <a:r>
                        <a:rPr sz="1650" b="0">
                          <a:solidFill>
                            <a:srgbClr val="183D34"/>
                          </a:solidFill>
                        </a:rPr>
                        <a:t>Approvals</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E2EDE3"/>
                    </a:solidFill>
                  </a:tcPr>
                </a:tc>
                <a:tc>
                  <a:txBody>
                    <a:bodyPr/>
                    <a:lstStyle/>
                    <a:p>
                      <a:r>
                        <a:rPr sz="1650" b="0">
                          <a:solidFill>
                            <a:srgbClr val="183D34"/>
                          </a:solidFill>
                        </a:rPr>
                        <a:t>Unauthorized, expired and stale actions fail server-side</a:t>
                      </a:r>
                    </a:p>
                  </a:txBody>
                  <a:tcPr marL="91440" marR="91440" marT="45720" marB="45720">
                    <a:lnR w="9525">
                      <a:solidFill>
                        <a:srgbClr val="C6D6CB"/>
                      </a:solidFill>
                      <a:prstDash val="solid"/>
                    </a:lnR>
                    <a:lnB w="9525">
                      <a:solidFill>
                        <a:srgbClr val="C6D6CB"/>
                      </a:solidFill>
                      <a:prstDash val="solid"/>
                    </a:lnB>
                    <a:solidFill>
                      <a:srgbClr val="E2EDE3"/>
                    </a:solidFill>
                  </a:tcPr>
                </a:tc>
                <a:tc>
                  <a:txBody>
                    <a:bodyPr/>
                    <a:lstStyle/>
                    <a:p>
                      <a:r>
                        <a:rPr sz="1650" b="0">
                          <a:solidFill>
                            <a:srgbClr val="183D34"/>
                          </a:solidFill>
                        </a:rPr>
                        <a:t>Negative tests / security</a:t>
                      </a:r>
                    </a:p>
                  </a:txBody>
                  <a:tcPr marL="91440" marR="91440" marT="45720" marB="45720">
                    <a:lnR w="9525">
                      <a:solidFill>
                        <a:srgbClr val="C6D6CB"/>
                      </a:solidFill>
                      <a:prstDash val="solid"/>
                    </a:lnR>
                    <a:lnB w="9525">
                      <a:solidFill>
                        <a:srgbClr val="C6D6CB"/>
                      </a:solidFill>
                      <a:prstDash val="solid"/>
                    </a:lnB>
                    <a:solidFill>
                      <a:srgbClr val="E2EDE3"/>
                    </a:solidFill>
                  </a:tcPr>
                </a:tc>
              </a:tr>
              <a:tr h="706438">
                <a:tc>
                  <a:txBody>
                    <a:bodyPr/>
                    <a:lstStyle/>
                    <a:p>
                      <a:r>
                        <a:rPr sz="1650" b="0">
                          <a:solidFill>
                            <a:srgbClr val="183D34"/>
                          </a:solidFill>
                        </a:rPr>
                        <a:t>Restart and concurrency</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FFFFFF"/>
                    </a:solidFill>
                  </a:tcPr>
                </a:tc>
                <a:tc>
                  <a:txBody>
                    <a:bodyPr/>
                    <a:lstStyle/>
                    <a:p>
                      <a:r>
                        <a:rPr sz="1650" b="0">
                          <a:solidFill>
                            <a:srgbClr val="183D34"/>
                          </a:solidFill>
                        </a:rPr>
                        <a:t>No double claim or lost evidence across agreed crash windows</a:t>
                      </a:r>
                    </a:p>
                  </a:txBody>
                  <a:tcPr marL="91440" marR="91440" marT="45720" marB="45720">
                    <a:lnR w="9525">
                      <a:solidFill>
                        <a:srgbClr val="C6D6CB"/>
                      </a:solidFill>
                      <a:prstDash val="solid"/>
                    </a:lnR>
                    <a:lnB w="9525">
                      <a:solidFill>
                        <a:srgbClr val="C6D6CB"/>
                      </a:solidFill>
                      <a:prstDash val="solid"/>
                    </a:lnB>
                    <a:solidFill>
                      <a:srgbClr val="FFFFFF"/>
                    </a:solidFill>
                  </a:tcPr>
                </a:tc>
                <a:tc>
                  <a:txBody>
                    <a:bodyPr/>
                    <a:lstStyle/>
                    <a:p>
                      <a:r>
                        <a:rPr sz="1650" b="0">
                          <a:solidFill>
                            <a:srgbClr val="183D34"/>
                          </a:solidFill>
                        </a:rPr>
                        <a:t>Restart and contention tests / platform</a:t>
                      </a:r>
                    </a:p>
                  </a:txBody>
                  <a:tcPr marL="91440" marR="91440" marT="45720" marB="45720">
                    <a:lnR w="9525">
                      <a:solidFill>
                        <a:srgbClr val="C6D6CB"/>
                      </a:solidFill>
                      <a:prstDash val="solid"/>
                    </a:lnR>
                    <a:lnB w="9525">
                      <a:solidFill>
                        <a:srgbClr val="C6D6CB"/>
                      </a:solidFill>
                      <a:prstDash val="solid"/>
                    </a:lnB>
                    <a:solidFill>
                      <a:srgbClr val="FFFFFF"/>
                    </a:solidFill>
                  </a:tcPr>
                </a:tc>
              </a:tr>
              <a:tr h="706438">
                <a:tc>
                  <a:txBody>
                    <a:bodyPr/>
                    <a:lstStyle/>
                    <a:p>
                      <a:r>
                        <a:rPr sz="1650" b="0">
                          <a:solidFill>
                            <a:srgbClr val="183D34"/>
                          </a:solidFill>
                        </a:rPr>
                        <a:t>Consumer verification</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E2EDE3"/>
                    </a:solidFill>
                  </a:tcPr>
                </a:tc>
                <a:tc>
                  <a:txBody>
                    <a:bodyPr/>
                    <a:lstStyle/>
                    <a:p>
                      <a:r>
                        <a:rPr sz="1650" b="0">
                          <a:solidFill>
                            <a:srgbClr val="183D34"/>
                          </a:solidFill>
                        </a:rPr>
                        <a:t>Receipts and payload checks gate completion</a:t>
                      </a:r>
                    </a:p>
                  </a:txBody>
                  <a:tcPr marL="91440" marR="91440" marT="45720" marB="45720">
                    <a:lnR w="9525">
                      <a:solidFill>
                        <a:srgbClr val="C6D6CB"/>
                      </a:solidFill>
                      <a:prstDash val="solid"/>
                    </a:lnR>
                    <a:lnB w="9525">
                      <a:solidFill>
                        <a:srgbClr val="C6D6CB"/>
                      </a:solidFill>
                      <a:prstDash val="solid"/>
                    </a:lnB>
                    <a:solidFill>
                      <a:srgbClr val="E2EDE3"/>
                    </a:solidFill>
                  </a:tcPr>
                </a:tc>
                <a:tc>
                  <a:txBody>
                    <a:bodyPr/>
                    <a:lstStyle/>
                    <a:p>
                      <a:r>
                        <a:rPr sz="1650" b="0">
                          <a:solidFill>
                            <a:srgbClr val="183D34"/>
                          </a:solidFill>
                        </a:rPr>
                        <a:t>Reconciliation results / data owner</a:t>
                      </a:r>
                    </a:p>
                  </a:txBody>
                  <a:tcPr marL="91440" marR="91440" marT="45720" marB="45720">
                    <a:lnR w="9525">
                      <a:solidFill>
                        <a:srgbClr val="C6D6CB"/>
                      </a:solidFill>
                      <a:prstDash val="solid"/>
                    </a:lnR>
                    <a:lnB w="9525">
                      <a:solidFill>
                        <a:srgbClr val="C6D6CB"/>
                      </a:solidFill>
                      <a:prstDash val="solid"/>
                    </a:lnB>
                    <a:solidFill>
                      <a:srgbClr val="E2EDE3"/>
                    </a:solidFill>
                  </a:tcPr>
                </a:tc>
              </a:tr>
              <a:tr h="706438">
                <a:tc>
                  <a:txBody>
                    <a:bodyPr/>
                    <a:lstStyle/>
                    <a:p>
                      <a:r>
                        <a:rPr sz="1650" b="0">
                          <a:solidFill>
                            <a:srgbClr val="183D34"/>
                          </a:solidFill>
                        </a:rPr>
                        <a:t>Operations and value</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FFFFFF"/>
                    </a:solidFill>
                  </a:tcPr>
                </a:tc>
                <a:tc>
                  <a:txBody>
                    <a:bodyPr/>
                    <a:lstStyle/>
                    <a:p>
                      <a:r>
                        <a:rPr sz="1650" b="0">
                          <a:solidFill>
                            <a:srgbClr val="183D34"/>
                          </a:solidFill>
                        </a:rPr>
                        <a:t>Agreed alerting, cost cap and measured triage baseline</a:t>
                      </a:r>
                    </a:p>
                  </a:txBody>
                  <a:tcPr marL="91440" marR="91440" marT="45720" marB="45720">
                    <a:lnR w="9525">
                      <a:solidFill>
                        <a:srgbClr val="C6D6CB"/>
                      </a:solidFill>
                      <a:prstDash val="solid"/>
                    </a:lnR>
                    <a:lnB w="9525">
                      <a:solidFill>
                        <a:srgbClr val="C6D6CB"/>
                      </a:solidFill>
                      <a:prstDash val="solid"/>
                    </a:lnB>
                    <a:solidFill>
                      <a:srgbClr val="FFFFFF"/>
                    </a:solidFill>
                  </a:tcPr>
                </a:tc>
                <a:tc>
                  <a:txBody>
                    <a:bodyPr/>
                    <a:lstStyle/>
                    <a:p>
                      <a:r>
                        <a:rPr sz="1650" b="0">
                          <a:solidFill>
                            <a:srgbClr val="183D34"/>
                          </a:solidFill>
                        </a:rPr>
                        <a:t>Runbook + study / operations</a:t>
                      </a:r>
                    </a:p>
                  </a:txBody>
                  <a:tcPr marL="91440" marR="91440" marT="45720" marB="45720">
                    <a:lnR w="9525">
                      <a:solidFill>
                        <a:srgbClr val="C6D6CB"/>
                      </a:solidFill>
                      <a:prstDash val="solid"/>
                    </a:lnR>
                    <a:lnB w="9525">
                      <a:solidFill>
                        <a:srgbClr val="C6D6CB"/>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31287B2-700C-4350-B1C1-F0172276E83D}"/>
              </a:ext>
            </a:extLst>
          </p:cNvPr>
          <p:cNvSpPr>
            <a:spLocks xmlns:a="http://schemas.openxmlformats.org/drawingml/2006/main" noGrp="1"/>
          </p:cNvSpPr>
          <p:nvPr/>
        </p:nvSpPr>
        <p:spPr>
          <a:xfrm xmlns:a="http://schemas.openxmlformats.org/drawingml/2006/main">
            <a:off x="609600" y="59626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8A4D16"/>
                </a:solidFill>
              </a:defRPr>
            </a:defPPr>
            <a:lvl1pPr>
              <a:defRPr sz="1800" b="1">
                <a:solidFill>
                  <a:srgbClr val="8A4D16"/>
                </a:solidFill>
              </a:defRPr>
            </a:lvl1pPr>
            <a:lvl2pPr>
              <a:defRPr sz="1800" b="1">
                <a:solidFill>
                  <a:srgbClr val="8A4D16"/>
                </a:solidFill>
              </a:defRPr>
            </a:lvl2pPr>
            <a:lvl3pPr>
              <a:defRPr sz="1800" b="1">
                <a:solidFill>
                  <a:srgbClr val="8A4D16"/>
                </a:solidFill>
              </a:defRPr>
            </a:lvl3pPr>
            <a:lvl4pPr>
              <a:defRPr sz="1800" b="1">
                <a:solidFill>
                  <a:srgbClr val="8A4D16"/>
                </a:solidFill>
              </a:defRPr>
            </a:lvl4pPr>
            <a:lvl5pPr>
              <a:defRPr sz="1800" b="1">
                <a:solidFill>
                  <a:srgbClr val="8A4D16"/>
                </a:solidFill>
              </a:defRPr>
            </a:lvl5pPr>
            <a:lvl6pPr>
              <a:defRPr sz="1800" b="1">
                <a:solidFill>
                  <a:srgbClr val="8A4D16"/>
                </a:solidFill>
              </a:defRPr>
            </a:lvl6pPr>
            <a:lvl7pPr>
              <a:defRPr sz="1800" b="1">
                <a:solidFill>
                  <a:srgbClr val="8A4D16"/>
                </a:solidFill>
              </a:defRPr>
            </a:lvl7pPr>
            <a:lvl8pPr>
              <a:defRPr sz="1800" b="1">
                <a:solidFill>
                  <a:srgbClr val="8A4D16"/>
                </a:solidFill>
              </a:defRPr>
            </a:lvl8pPr>
            <a:lvl9pPr>
              <a:defRPr sz="1800" b="1">
                <a:solidFill>
                  <a:srgbClr val="8A4D16"/>
                </a:solidFill>
              </a:defRPr>
            </a:lvl9pPr>
          </a:lstStyle>
          <a:p xmlns:a="http://schemas.openxmlformats.org/drawingml/2006/main">
            <a:pPr>
              <a:defRPr sz="1800" b="1">
                <a:solidFill>
                  <a:srgbClr val="8A4D16"/>
                </a:solidFill>
              </a:defRPr>
            </a:pPr>
            <a:r>
              <a:rPr sz="1800" b="1">
                <a:solidFill>
                  <a:srgbClr val="8A4D16"/>
                </a:solidFill>
              </a:rPr>
              <a:t>Any unresolved safety or access-control failure blocks expansion to live endpoints.</a:t>
            </a:r>
          </a:p>
        </p:txBody>
      </p:sp>
    </p:spTree>
    <p:extLst>
      <p:ext uri="{BB962C8B-B14F-4D97-AF65-F5344CB8AC3E}">
        <p14:creationId xmlns:p14="http://schemas.microsoft.com/office/powerpoint/2010/main" val="181302889"/>
      </p:ext>
    </p:extLst>
  </p:cSld>
</p:sld>
</file>

<file path=ppt/slides/slide13.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2D7543D-F61A-445E-9BEA-B77BFB21AB3E}"/>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D34"/>
                </a:solidFill>
              </a:defRPr>
            </a:defPPr>
            <a:lvl1pPr>
              <a:defRPr sz="3000" b="1">
                <a:solidFill>
                  <a:srgbClr val="183D34"/>
                </a:solidFill>
              </a:defRPr>
            </a:lvl1pPr>
            <a:lvl2pPr>
              <a:defRPr sz="3000" b="1">
                <a:solidFill>
                  <a:srgbClr val="183D34"/>
                </a:solidFill>
              </a:defRPr>
            </a:lvl2pPr>
            <a:lvl3pPr>
              <a:defRPr sz="3000" b="1">
                <a:solidFill>
                  <a:srgbClr val="183D34"/>
                </a:solidFill>
              </a:defRPr>
            </a:lvl3pPr>
            <a:lvl4pPr>
              <a:defRPr sz="3000" b="1">
                <a:solidFill>
                  <a:srgbClr val="183D34"/>
                </a:solidFill>
              </a:defRPr>
            </a:lvl4pPr>
            <a:lvl5pPr>
              <a:defRPr sz="3000" b="1">
                <a:solidFill>
                  <a:srgbClr val="183D34"/>
                </a:solidFill>
              </a:defRPr>
            </a:lvl5pPr>
            <a:lvl6pPr>
              <a:defRPr sz="3000" b="1">
                <a:solidFill>
                  <a:srgbClr val="183D34"/>
                </a:solidFill>
              </a:defRPr>
            </a:lvl6pPr>
            <a:lvl7pPr>
              <a:defRPr sz="3000" b="1">
                <a:solidFill>
                  <a:srgbClr val="183D34"/>
                </a:solidFill>
              </a:defRPr>
            </a:lvl7pPr>
            <a:lvl8pPr>
              <a:defRPr sz="3000" b="1">
                <a:solidFill>
                  <a:srgbClr val="183D34"/>
                </a:solidFill>
              </a:defRPr>
            </a:lvl8pPr>
            <a:lvl9pPr>
              <a:defRPr sz="3000" b="1">
                <a:solidFill>
                  <a:srgbClr val="183D34"/>
                </a:solidFill>
              </a:defRPr>
            </a:lvl9pPr>
          </a:lstStyle>
          <a:p xmlns:a="http://schemas.openxmlformats.org/drawingml/2006/main">
            <a:pPr>
              <a:defRPr sz="3000" b="1">
                <a:solidFill>
                  <a:srgbClr val="183D34"/>
                </a:solidFill>
              </a:defRPr>
            </a:pPr>
            <a:r>
              <a:rPr sz="3000" b="1">
                <a:solidFill>
                  <a:srgbClr val="183D34"/>
                </a:solidFill>
              </a:rPr>
              <a:t>DeliveryGuard pilot sequence</a:t>
            </a:r>
          </a:p>
        </p:txBody>
      </p:sp>
      <p:sp>
        <p:nvSpPr>
          <p:cNvPr id="3" name="">
            <a:extLst xmlns:a="http://schemas.openxmlformats.org/drawingml/2006/main">
              <a:ext uri="{FF2B5EF4-FFF2-40B4-BE49-F238E27FC236}">
                <a16:creationId xmlns:a16="http://schemas.microsoft.com/office/drawing/2014/main" id="{5AF9BACB-D898-49B4-B7AF-3C8FFE33432D}"/>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A62"/>
                </a:solidFill>
              </a:defRPr>
            </a:defPPr>
            <a:lvl1pPr>
              <a:defRPr sz="1200" b="0">
                <a:solidFill>
                  <a:srgbClr val="536A62"/>
                </a:solidFill>
              </a:defRPr>
            </a:lvl1pPr>
            <a:lvl2pPr>
              <a:defRPr sz="1200" b="0">
                <a:solidFill>
                  <a:srgbClr val="536A62"/>
                </a:solidFill>
              </a:defRPr>
            </a:lvl2pPr>
            <a:lvl3pPr>
              <a:defRPr sz="1200" b="0">
                <a:solidFill>
                  <a:srgbClr val="536A62"/>
                </a:solidFill>
              </a:defRPr>
            </a:lvl3pPr>
            <a:lvl4pPr>
              <a:defRPr sz="1200" b="0">
                <a:solidFill>
                  <a:srgbClr val="536A62"/>
                </a:solidFill>
              </a:defRPr>
            </a:lvl4pPr>
            <a:lvl5pPr>
              <a:defRPr sz="1200" b="0">
                <a:solidFill>
                  <a:srgbClr val="536A62"/>
                </a:solidFill>
              </a:defRPr>
            </a:lvl5pPr>
            <a:lvl6pPr>
              <a:defRPr sz="1200" b="0">
                <a:solidFill>
                  <a:srgbClr val="536A62"/>
                </a:solidFill>
              </a:defRPr>
            </a:lvl6pPr>
            <a:lvl7pPr>
              <a:defRPr sz="1200" b="0">
                <a:solidFill>
                  <a:srgbClr val="536A62"/>
                </a:solidFill>
              </a:defRPr>
            </a:lvl7pPr>
            <a:lvl8pPr>
              <a:defRPr sz="1200" b="0">
                <a:solidFill>
                  <a:srgbClr val="536A62"/>
                </a:solidFill>
              </a:defRPr>
            </a:lvl8pPr>
            <a:lvl9pPr>
              <a:defRPr sz="1200" b="0">
                <a:solidFill>
                  <a:srgbClr val="536A62"/>
                </a:solidFill>
              </a:defRPr>
            </a:lvl9pPr>
          </a:lstStyle>
          <a:p xmlns:a="http://schemas.openxmlformats.org/drawingml/2006/main">
            <a:pPr>
              <a:defRPr sz="1200" b="0">
                <a:solidFill>
                  <a:srgbClr val="536A62"/>
                </a:solidFill>
              </a:defRPr>
            </a:pPr>
            <a:r>
              <a:rPr sz="1200" b="0">
                <a:solidFill>
                  <a:srgbClr val="536A62"/>
                </a:solidFill>
              </a:rPr>
              <a:t>13</a:t>
            </a:r>
          </a:p>
        </p:txBody>
      </p:sp>
      <p:graphicFrame>
        <p:nvGraphicFramePr>
          <p:cNvPr id="4" name="">
            <a:extLst xmlns:a="http://schemas.openxmlformats.org/drawingml/2006/main">
              <a:ext uri="{FF2B5EF4-FFF2-40B4-BE49-F238E27FC236}">
                <a16:creationId xmlns:a16="http://schemas.microsoft.com/office/drawing/2014/main" id="{2B8CB978-5D6E-4D03-8C0E-4DCBFFB61B37}"/>
              </a:ext>
            </a:extLst>
          </p:cNvPr>
          <p:cNvGraphicFramePr/>
          <p:nvPr/>
        </p:nvGraphicFramePr>
        <p:xfrm>
          <a:off xmlns:a="http://schemas.openxmlformats.org/drawingml/2006/main" x="609600" y="1476375"/>
          <a:ext xmlns:a="http://schemas.openxmlformats.org/drawingml/2006/main" cx="10972800" cy="3429000"/>
        </p:xfrm>
        <a:graphic xmlns:a="http://schemas.openxmlformats.org/drawingml/2006/main">
          <a:graphicData uri="http://schemas.openxmlformats.org/drawingml/2006/table">
            <a:tbl>
              <a:tblPr/>
              <a:tblGrid>
                <a:gridCol w="3143250"/>
                <a:gridCol w="4762500"/>
                <a:gridCol w="3067050"/>
              </a:tblGrid>
              <a:tr h="685800">
                <a:tc>
                  <a:txBody>
                    <a:bodyPr/>
                    <a:lstStyle/>
                    <a:p>
                      <a:r>
                        <a:rPr sz="1725" b="1">
                          <a:solidFill>
                            <a:srgbClr val="FFFFFF"/>
                          </a:solidFill>
                        </a:rPr>
                        <a:t>Phase</a:t>
                      </a:r>
                    </a:p>
                  </a:txBody>
                  <a:tcPr marL="91440" marR="91440" marT="45720" marB="45720">
                    <a:lnL w="9525">
                      <a:solidFill>
                        <a:srgbClr val="C6D6CB"/>
                      </a:solidFill>
                      <a:prstDash val="solid"/>
                    </a:lnL>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c>
                  <a:txBody>
                    <a:bodyPr/>
                    <a:lstStyle/>
                    <a:p>
                      <a:r>
                        <a:rPr sz="1725" b="1">
                          <a:solidFill>
                            <a:srgbClr val="FFFFFF"/>
                          </a:solidFill>
                        </a:rPr>
                        <a:t>Deliverable</a:t>
                      </a:r>
                    </a:p>
                  </a:txBody>
                  <a:tcPr marL="91440" marR="91440" marT="45720" marB="45720">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c>
                  <a:txBody>
                    <a:bodyPr/>
                    <a:lstStyle/>
                    <a:p>
                      <a:r>
                        <a:rPr sz="1725" b="1">
                          <a:solidFill>
                            <a:srgbClr val="FFFFFF"/>
                          </a:solidFill>
                        </a:rPr>
                        <a:t>Decision</a:t>
                      </a:r>
                    </a:p>
                  </a:txBody>
                  <a:tcPr marL="91440" marR="91440" marT="45720" marB="45720">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r>
              <a:tr h="685800">
                <a:tc>
                  <a:txBody>
                    <a:bodyPr/>
                    <a:lstStyle/>
                    <a:p>
                      <a:r>
                        <a:rPr sz="1725" b="0">
                          <a:solidFill>
                            <a:srgbClr val="183D34"/>
                          </a:solidFill>
                        </a:rPr>
                        <a:t>1. Architecture review</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Contracts, identity model and ownership</a:t>
                      </a:r>
                    </a:p>
                  </a:txBody>
                  <a:tcPr marL="91440" marR="91440" marT="45720" marB="45720">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Accept bounded design direction</a:t>
                      </a:r>
                    </a:p>
                  </a:txBody>
                  <a:tcPr marL="91440" marR="91440" marT="45720" marB="45720">
                    <a:lnR w="9525">
                      <a:solidFill>
                        <a:srgbClr val="C6D6CB"/>
                      </a:solidFill>
                      <a:prstDash val="solid"/>
                    </a:lnR>
                    <a:lnB w="9525">
                      <a:solidFill>
                        <a:srgbClr val="C6D6CB"/>
                      </a:solidFill>
                      <a:prstDash val="solid"/>
                    </a:lnB>
                    <a:solidFill>
                      <a:srgbClr val="FFFFFF"/>
                    </a:solidFill>
                  </a:tcPr>
                </a:tc>
              </a:tr>
              <a:tr h="685800">
                <a:tc>
                  <a:txBody>
                    <a:bodyPr/>
                    <a:lstStyle/>
                    <a:p>
                      <a:r>
                        <a:rPr sz="1725" b="0">
                          <a:solidFill>
                            <a:srgbClr val="183D34"/>
                          </a:solidFill>
                        </a:rPr>
                        <a:t>2. Synthetic Databricks pilot</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E2EDE3"/>
                    </a:solidFill>
                  </a:tcPr>
                </a:tc>
                <a:tc>
                  <a:txBody>
                    <a:bodyPr/>
                    <a:lstStyle/>
                    <a:p>
                      <a:r>
                        <a:rPr sz="1725" b="0">
                          <a:solidFill>
                            <a:srgbClr val="183D34"/>
                          </a:solidFill>
                        </a:rPr>
                        <a:t>App, jobs, governed evidence and negative tests</a:t>
                      </a:r>
                    </a:p>
                  </a:txBody>
                  <a:tcPr marL="91440" marR="91440" marT="45720" marB="45720">
                    <a:lnR w="9525">
                      <a:solidFill>
                        <a:srgbClr val="C6D6CB"/>
                      </a:solidFill>
                      <a:prstDash val="solid"/>
                    </a:lnR>
                    <a:lnB w="9525">
                      <a:solidFill>
                        <a:srgbClr val="C6D6CB"/>
                      </a:solidFill>
                      <a:prstDash val="solid"/>
                    </a:lnB>
                    <a:solidFill>
                      <a:srgbClr val="E2EDE3"/>
                    </a:solidFill>
                  </a:tcPr>
                </a:tc>
                <a:tc>
                  <a:txBody>
                    <a:bodyPr/>
                    <a:lstStyle/>
                    <a:p>
                      <a:r>
                        <a:rPr sz="1725" b="0">
                          <a:solidFill>
                            <a:srgbClr val="183D34"/>
                          </a:solidFill>
                        </a:rPr>
                        <a:t>Confirm entry and exit gates</a:t>
                      </a:r>
                    </a:p>
                  </a:txBody>
                  <a:tcPr marL="91440" marR="91440" marT="45720" marB="45720">
                    <a:lnR w="9525">
                      <a:solidFill>
                        <a:srgbClr val="C6D6CB"/>
                      </a:solidFill>
                      <a:prstDash val="solid"/>
                    </a:lnR>
                    <a:lnB w="9525">
                      <a:solidFill>
                        <a:srgbClr val="C6D6CB"/>
                      </a:solidFill>
                      <a:prstDash val="solid"/>
                    </a:lnB>
                    <a:solidFill>
                      <a:srgbClr val="E2EDE3"/>
                    </a:solidFill>
                  </a:tcPr>
                </a:tc>
              </a:tr>
              <a:tr h="685800">
                <a:tc>
                  <a:txBody>
                    <a:bodyPr/>
                    <a:lstStyle/>
                    <a:p>
                      <a:r>
                        <a:rPr sz="1725" b="0">
                          <a:solidFill>
                            <a:srgbClr val="183D34"/>
                          </a:solidFill>
                        </a:rPr>
                        <a:t>3. Approved adapter validation</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Kafka/MFTS receipts and crash recovery evidence</a:t>
                      </a:r>
                    </a:p>
                  </a:txBody>
                  <a:tcPr marL="91440" marR="91440" marT="45720" marB="45720">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Authorize limited endpoint access</a:t>
                      </a:r>
                    </a:p>
                  </a:txBody>
                  <a:tcPr marL="91440" marR="91440" marT="45720" marB="45720">
                    <a:lnR w="9525">
                      <a:solidFill>
                        <a:srgbClr val="C6D6CB"/>
                      </a:solidFill>
                      <a:prstDash val="solid"/>
                    </a:lnR>
                    <a:lnB w="9525">
                      <a:solidFill>
                        <a:srgbClr val="C6D6CB"/>
                      </a:solidFill>
                      <a:prstDash val="solid"/>
                    </a:lnB>
                    <a:solidFill>
                      <a:srgbClr val="FFFFFF"/>
                    </a:solidFill>
                  </a:tcPr>
                </a:tc>
              </a:tr>
              <a:tr h="685800">
                <a:tc>
                  <a:txBody>
                    <a:bodyPr/>
                    <a:lstStyle/>
                    <a:p>
                      <a:r>
                        <a:rPr sz="1725" b="0">
                          <a:solidFill>
                            <a:srgbClr val="183D34"/>
                          </a:solidFill>
                        </a:rPr>
                        <a:t>4. Operator evaluation</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E2EDE3"/>
                    </a:solidFill>
                  </a:tcPr>
                </a:tc>
                <a:tc>
                  <a:txBody>
                    <a:bodyPr/>
                    <a:lstStyle/>
                    <a:p>
                      <a:r>
                        <a:rPr sz="1725" b="0">
                          <a:solidFill>
                            <a:srgbClr val="183D34"/>
                          </a:solidFill>
                        </a:rPr>
                        <a:t>Triage baseline, measured value and support model</a:t>
                      </a:r>
                    </a:p>
                  </a:txBody>
                  <a:tcPr marL="91440" marR="91440" marT="45720" marB="45720">
                    <a:lnR w="9525">
                      <a:solidFill>
                        <a:srgbClr val="C6D6CB"/>
                      </a:solidFill>
                      <a:prstDash val="solid"/>
                    </a:lnR>
                    <a:lnB w="9525">
                      <a:solidFill>
                        <a:srgbClr val="C6D6CB"/>
                      </a:solidFill>
                      <a:prstDash val="solid"/>
                    </a:lnB>
                    <a:solidFill>
                      <a:srgbClr val="E2EDE3"/>
                    </a:solidFill>
                  </a:tcPr>
                </a:tc>
                <a:tc>
                  <a:txBody>
                    <a:bodyPr/>
                    <a:lstStyle/>
                    <a:p>
                      <a:r>
                        <a:rPr sz="1725" b="0">
                          <a:solidFill>
                            <a:srgbClr val="183D34"/>
                          </a:solidFill>
                        </a:rPr>
                        <a:t>Decide whether to expand</a:t>
                      </a:r>
                    </a:p>
                  </a:txBody>
                  <a:tcPr marL="91440" marR="91440" marT="45720" marB="45720">
                    <a:lnR w="9525">
                      <a:solidFill>
                        <a:srgbClr val="C6D6CB"/>
                      </a:solidFill>
                      <a:prstDash val="solid"/>
                    </a:lnR>
                    <a:lnB w="9525">
                      <a:solidFill>
                        <a:srgbClr val="C6D6CB"/>
                      </a:solidFill>
                      <a:prstDash val="solid"/>
                    </a:lnB>
                    <a:solidFill>
                      <a:srgbClr val="E2EDE3"/>
                    </a:solidFill>
                  </a:tcPr>
                </a:tc>
              </a:tr>
            </a:tbl>
          </a:graphicData>
        </a:graphic>
      </p:graphicFrame>
      <p:sp>
        <p:nvSpPr>
          <p:cNvPr id="5" name="">
            <a:extLst xmlns:a="http://schemas.openxmlformats.org/drawingml/2006/main">
              <a:ext uri="{FF2B5EF4-FFF2-40B4-BE49-F238E27FC236}">
                <a16:creationId xmlns:a16="http://schemas.microsoft.com/office/drawing/2014/main" id="{0E304114-0A88-4C65-AC25-20E70269EA41}"/>
              </a:ext>
            </a:extLst>
          </p:cNvPr>
          <p:cNvSpPr>
            <a:spLocks xmlns:a="http://schemas.openxmlformats.org/drawingml/2006/main" noGrp="1"/>
          </p:cNvSpPr>
          <p:nvPr/>
        </p:nvSpPr>
        <p:spPr>
          <a:xfrm xmlns:a="http://schemas.openxmlformats.org/drawingml/2006/main">
            <a:off x="609600" y="5238750"/>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A6B4D"/>
                </a:solidFill>
              </a:defRPr>
            </a:defPPr>
            <a:lvl1pPr>
              <a:defRPr sz="2250" b="1">
                <a:solidFill>
                  <a:srgbClr val="2A6B4D"/>
                </a:solidFill>
              </a:defRPr>
            </a:lvl1pPr>
            <a:lvl2pPr>
              <a:defRPr sz="2250" b="1">
                <a:solidFill>
                  <a:srgbClr val="2A6B4D"/>
                </a:solidFill>
              </a:defRPr>
            </a:lvl2pPr>
            <a:lvl3pPr>
              <a:defRPr sz="2250" b="1">
                <a:solidFill>
                  <a:srgbClr val="2A6B4D"/>
                </a:solidFill>
              </a:defRPr>
            </a:lvl3pPr>
            <a:lvl4pPr>
              <a:defRPr sz="2250" b="1">
                <a:solidFill>
                  <a:srgbClr val="2A6B4D"/>
                </a:solidFill>
              </a:defRPr>
            </a:lvl4pPr>
            <a:lvl5pPr>
              <a:defRPr sz="2250" b="1">
                <a:solidFill>
                  <a:srgbClr val="2A6B4D"/>
                </a:solidFill>
              </a:defRPr>
            </a:lvl5pPr>
            <a:lvl6pPr>
              <a:defRPr sz="2250" b="1">
                <a:solidFill>
                  <a:srgbClr val="2A6B4D"/>
                </a:solidFill>
              </a:defRPr>
            </a:lvl6pPr>
            <a:lvl7pPr>
              <a:defRPr sz="2250" b="1">
                <a:solidFill>
                  <a:srgbClr val="2A6B4D"/>
                </a:solidFill>
              </a:defRPr>
            </a:lvl7pPr>
            <a:lvl8pPr>
              <a:defRPr sz="2250" b="1">
                <a:solidFill>
                  <a:srgbClr val="2A6B4D"/>
                </a:solidFill>
              </a:defRPr>
            </a:lvl8pPr>
            <a:lvl9pPr>
              <a:defRPr sz="2250" b="1">
                <a:solidFill>
                  <a:srgbClr val="2A6B4D"/>
                </a:solidFill>
              </a:defRPr>
            </a:lvl9pPr>
          </a:lstStyle>
          <a:p xmlns:a="http://schemas.openxmlformats.org/drawingml/2006/main">
            <a:pPr>
              <a:defRPr sz="2250" b="1">
                <a:solidFill>
                  <a:srgbClr val="2A6B4D"/>
                </a:solidFill>
              </a:defRPr>
            </a:pPr>
            <a:r>
              <a:rPr sz="2250" b="1">
                <a:solidFill>
                  <a:srgbClr val="2A6B4D"/>
                </a:solidFill>
              </a:rPr>
              <a:t>Requested today</a:t>
            </a:r>
          </a:p>
        </p:txBody>
      </p:sp>
      <p:sp>
        <p:nvSpPr>
          <p:cNvPr id="6" name="">
            <a:extLst xmlns:a="http://schemas.openxmlformats.org/drawingml/2006/main">
              <a:ext uri="{FF2B5EF4-FFF2-40B4-BE49-F238E27FC236}">
                <a16:creationId xmlns:a16="http://schemas.microsoft.com/office/drawing/2014/main" id="{56CA7F8B-A49A-4F43-B229-BA4E22278CA3}"/>
              </a:ext>
            </a:extLst>
          </p:cNvPr>
          <p:cNvSpPr>
            <a:spLocks xmlns:a="http://schemas.openxmlformats.org/drawingml/2006/main" noGrp="1"/>
          </p:cNvSpPr>
          <p:nvPr/>
        </p:nvSpPr>
        <p:spPr>
          <a:xfrm xmlns:a="http://schemas.openxmlformats.org/drawingml/2006/main">
            <a:off x="609600" y="58102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D34"/>
                </a:solidFill>
              </a:defRPr>
            </a:defPPr>
            <a:lvl1pPr>
              <a:defRPr sz="2250" b="0">
                <a:solidFill>
                  <a:srgbClr val="183D34"/>
                </a:solidFill>
              </a:defRPr>
            </a:lvl1pPr>
            <a:lvl2pPr>
              <a:defRPr sz="2250" b="0">
                <a:solidFill>
                  <a:srgbClr val="183D34"/>
                </a:solidFill>
              </a:defRPr>
            </a:lvl2pPr>
            <a:lvl3pPr>
              <a:defRPr sz="2250" b="0">
                <a:solidFill>
                  <a:srgbClr val="183D34"/>
                </a:solidFill>
              </a:defRPr>
            </a:lvl3pPr>
            <a:lvl4pPr>
              <a:defRPr sz="2250" b="0">
                <a:solidFill>
                  <a:srgbClr val="183D34"/>
                </a:solidFill>
              </a:defRPr>
            </a:lvl4pPr>
            <a:lvl5pPr>
              <a:defRPr sz="2250" b="0">
                <a:solidFill>
                  <a:srgbClr val="183D34"/>
                </a:solidFill>
              </a:defRPr>
            </a:lvl5pPr>
            <a:lvl6pPr>
              <a:defRPr sz="2250" b="0">
                <a:solidFill>
                  <a:srgbClr val="183D34"/>
                </a:solidFill>
              </a:defRPr>
            </a:lvl6pPr>
            <a:lvl7pPr>
              <a:defRPr sz="2250" b="0">
                <a:solidFill>
                  <a:srgbClr val="183D34"/>
                </a:solidFill>
              </a:defRPr>
            </a:lvl7pPr>
            <a:lvl8pPr>
              <a:defRPr sz="2250" b="0">
                <a:solidFill>
                  <a:srgbClr val="183D34"/>
                </a:solidFill>
              </a:defRPr>
            </a:lvl8pPr>
            <a:lvl9pPr>
              <a:defRPr sz="2250" b="0">
                <a:solidFill>
                  <a:srgbClr val="183D34"/>
                </a:solidFill>
              </a:defRPr>
            </a:lvl9pPr>
          </a:lstStyle>
          <a:p xmlns:a="http://schemas.openxmlformats.org/drawingml/2006/main">
            <a:pPr>
              <a:defRPr sz="2250" b="0">
                <a:solidFill>
                  <a:srgbClr val="183D34"/>
                </a:solidFill>
              </a:defRPr>
            </a:pPr>
            <a:r>
              <a:rPr sz="2250" b="0">
                <a:solidFill>
                  <a:srgbClr val="183D34"/>
                </a:solidFill>
              </a:rPr>
              <a:t>Sponsor the sandbox pilot, nominate accountable owners and record acceptance conditions.</a:t>
            </a:r>
          </a:p>
        </p:txBody>
      </p:sp>
    </p:spTree>
    <p:extLst>
      <p:ext uri="{BB962C8B-B14F-4D97-AF65-F5344CB8AC3E}">
        <p14:creationId xmlns:p14="http://schemas.microsoft.com/office/powerpoint/2010/main" val="1103552087"/>
      </p:ext>
    </p:extLst>
  </p:cSld>
</p:sld>
</file>

<file path=ppt/slides/slide14.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42FB274A-62E2-4F2B-B9C3-4087DED002AF}"/>
              </a:ext>
            </a:extLst>
          </p:cNvPr>
          <p:cNvCxnSpPr>
            <a:stCxn xmlns:a="http://schemas.openxmlformats.org/drawingml/2006/main" id="16" idx="1"/>
            <a:endCxn xmlns:a="http://schemas.openxmlformats.org/drawingml/2006/main" id="18" idx="3"/>
          </p:cNvCxnSpPr>
          <p:nvPr/>
        </p:nvCxnSpPr>
        <p:spPr>
          <a:xfrm xmlns:a="http://schemas.openxmlformats.org/drawingml/2006/main" flipH="1">
            <a:off x="5372100" y="4643438"/>
            <a:ext cx="866775" cy="0"/>
          </a:xfrm>
          <a:prstGeom xmlns:a="http://schemas.openxmlformats.org/drawingml/2006/main" prst="straightConnector1">
            <a:avLst/>
          </a:prstGeom>
          <a:ln xmlns:a="http://schemas.openxmlformats.org/drawingml/2006/main" w="19050">
            <a:solidFill>
              <a:srgbClr val="2A6B4D"/>
            </a:solidFill>
            <a:prstDash val="solid"/>
            <a:tailEnd type="arrow" w="med" len="med"/>
          </a:ln>
        </p:spPr>
      </p:cxnSp>
      <p:cxnSp>
        <p:nvCxnSpPr>
          <p:cNvPr id="3" name="">
            <a:extLst xmlns:a="http://schemas.openxmlformats.org/drawingml/2006/main">
              <a:ext uri="{FF2B5EF4-FFF2-40B4-BE49-F238E27FC236}">
                <a16:creationId xmlns:a16="http://schemas.microsoft.com/office/drawing/2014/main" id="{C3799B36-BFDC-47EA-9E54-AC6D32EE5016}"/>
              </a:ext>
            </a:extLst>
          </p:cNvPr>
          <p:cNvCxnSpPr>
            <a:stCxn xmlns:a="http://schemas.openxmlformats.org/drawingml/2006/main" id="15" idx="2"/>
            <a:endCxn xmlns:a="http://schemas.openxmlformats.org/drawingml/2006/main" id="17" idx="0"/>
          </p:cNvCxnSpPr>
          <p:nvPr/>
        </p:nvCxnSpPr>
        <p:spPr>
          <a:xfrm xmlns:a="http://schemas.openxmlformats.org/drawingml/2006/main">
            <a:off x="10310813" y="3000375"/>
            <a:ext cx="0" cy="1143000"/>
          </a:xfrm>
          <a:prstGeom xmlns:a="http://schemas.openxmlformats.org/drawingml/2006/main" prst="straightConnector1">
            <a:avLst/>
          </a:prstGeom>
          <a:ln xmlns:a="http://schemas.openxmlformats.org/drawingml/2006/main" w="19050">
            <a:solidFill>
              <a:srgbClr val="2A6B4D"/>
            </a:solidFill>
            <a:prstDash val="solid"/>
            <a:tailEnd type="arrow" w="med" len="med"/>
          </a:ln>
        </p:spPr>
      </p:cxnSp>
      <p:cxnSp>
        <p:nvCxnSpPr>
          <p:cNvPr id="4" name="">
            <a:extLst xmlns:a="http://schemas.openxmlformats.org/drawingml/2006/main">
              <a:ext uri="{FF2B5EF4-FFF2-40B4-BE49-F238E27FC236}">
                <a16:creationId xmlns:a16="http://schemas.microsoft.com/office/drawing/2014/main" id="{03AC06E1-2EC6-4B7F-A653-D03A61D1E558}"/>
              </a:ext>
            </a:extLst>
          </p:cNvPr>
          <p:cNvCxnSpPr>
            <a:stCxn xmlns:a="http://schemas.openxmlformats.org/drawingml/2006/main" id="16" idx="3"/>
            <a:endCxn xmlns:a="http://schemas.openxmlformats.org/drawingml/2006/main" id="15" idx="2"/>
          </p:cNvCxnSpPr>
          <p:nvPr/>
        </p:nvCxnSpPr>
        <p:spPr>
          <a:xfrm xmlns:a="http://schemas.openxmlformats.org/drawingml/2006/main" flipV="1">
            <a:off x="8477250" y="3000375"/>
            <a:ext cx="1833563" cy="1643063"/>
          </a:xfrm>
          <a:prstGeom xmlns:a="http://schemas.openxmlformats.org/drawingml/2006/main" prst="bentConnector4">
            <a:avLst>
              <a:gd name="adj1" fmla="val 12468"/>
              <a:gd name="adj2" fmla="val 86087"/>
            </a:avLst>
          </a:prstGeom>
          <a:ln xmlns:a="http://schemas.openxmlformats.org/drawingml/2006/main" w="19050">
            <a:solidFill>
              <a:srgbClr val="2A6B4D"/>
            </a:solidFill>
            <a:prstDash val="dash"/>
            <a:tailEnd type="arrow" w="med" len="med"/>
          </a:ln>
        </p:spPr>
      </p:cxnSp>
      <p:cxnSp>
        <p:nvCxnSpPr>
          <p:cNvPr id="5" name="">
            <a:extLst xmlns:a="http://schemas.openxmlformats.org/drawingml/2006/main">
              <a:ext uri="{FF2B5EF4-FFF2-40B4-BE49-F238E27FC236}">
                <a16:creationId xmlns:a16="http://schemas.microsoft.com/office/drawing/2014/main" id="{744E2A5C-D7AE-4DEB-9B3E-E9A372E60263}"/>
              </a:ext>
            </a:extLst>
          </p:cNvPr>
          <p:cNvCxnSpPr>
            <a:stCxn xmlns:a="http://schemas.openxmlformats.org/drawingml/2006/main" id="14" idx="2"/>
            <a:endCxn xmlns:a="http://schemas.openxmlformats.org/drawingml/2006/main" id="16" idx="0"/>
          </p:cNvCxnSpPr>
          <p:nvPr/>
        </p:nvCxnSpPr>
        <p:spPr>
          <a:xfrm xmlns:a="http://schemas.openxmlformats.org/drawingml/2006/main">
            <a:off x="7358063" y="3000375"/>
            <a:ext cx="0" cy="1143000"/>
          </a:xfrm>
          <a:prstGeom xmlns:a="http://schemas.openxmlformats.org/drawingml/2006/main" prst="straightConnector1">
            <a:avLst/>
          </a:prstGeom>
          <a:ln xmlns:a="http://schemas.openxmlformats.org/drawingml/2006/main" w="19050">
            <a:solidFill>
              <a:srgbClr val="2A6B4D"/>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61E8325D-E373-44E9-885A-874AF99FD7F2}"/>
              </a:ext>
            </a:extLst>
          </p:cNvPr>
          <p:cNvCxnSpPr>
            <a:stCxn xmlns:a="http://schemas.openxmlformats.org/drawingml/2006/main" id="14" idx="3"/>
            <a:endCxn xmlns:a="http://schemas.openxmlformats.org/drawingml/2006/main" id="15" idx="1"/>
          </p:cNvCxnSpPr>
          <p:nvPr/>
        </p:nvCxnSpPr>
        <p:spPr>
          <a:xfrm xmlns:a="http://schemas.openxmlformats.org/drawingml/2006/main">
            <a:off x="8477250" y="2547938"/>
            <a:ext cx="571500" cy="0"/>
          </a:xfrm>
          <a:prstGeom xmlns:a="http://schemas.openxmlformats.org/drawingml/2006/main" prst="straightConnector1">
            <a:avLst/>
          </a:prstGeom>
          <a:ln xmlns:a="http://schemas.openxmlformats.org/drawingml/2006/main" w="19050">
            <a:solidFill>
              <a:srgbClr val="2A6B4D"/>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4330446F-90BD-4371-A3B9-C412B9E9646D}"/>
              </a:ext>
            </a:extLst>
          </p:cNvPr>
          <p:cNvCxnSpPr>
            <a:stCxn xmlns:a="http://schemas.openxmlformats.org/drawingml/2006/main" id="13" idx="3"/>
            <a:endCxn xmlns:a="http://schemas.openxmlformats.org/drawingml/2006/main" id="14" idx="1"/>
          </p:cNvCxnSpPr>
          <p:nvPr/>
        </p:nvCxnSpPr>
        <p:spPr>
          <a:xfrm xmlns:a="http://schemas.openxmlformats.org/drawingml/2006/main">
            <a:off x="5667375" y="2547938"/>
            <a:ext cx="571500" cy="0"/>
          </a:xfrm>
          <a:prstGeom xmlns:a="http://schemas.openxmlformats.org/drawingml/2006/main" prst="straightConnector1">
            <a:avLst/>
          </a:prstGeom>
          <a:ln xmlns:a="http://schemas.openxmlformats.org/drawingml/2006/main" w="19050">
            <a:solidFill>
              <a:srgbClr val="2A6B4D"/>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8F873D9A-FD30-4DCF-AA10-DB36AF1B68E8}"/>
              </a:ext>
            </a:extLst>
          </p:cNvPr>
          <p:cNvCxnSpPr>
            <a:stCxn xmlns:a="http://schemas.openxmlformats.org/drawingml/2006/main" id="12" idx="3"/>
            <a:endCxn xmlns:a="http://schemas.openxmlformats.org/drawingml/2006/main" id="13" idx="1"/>
          </p:cNvCxnSpPr>
          <p:nvPr/>
        </p:nvCxnSpPr>
        <p:spPr>
          <a:xfrm xmlns:a="http://schemas.openxmlformats.org/drawingml/2006/main">
            <a:off x="2847975" y="2547938"/>
            <a:ext cx="581025" cy="0"/>
          </a:xfrm>
          <a:prstGeom xmlns:a="http://schemas.openxmlformats.org/drawingml/2006/main" prst="straightConnector1">
            <a:avLst/>
          </a:prstGeom>
          <a:ln xmlns:a="http://schemas.openxmlformats.org/drawingml/2006/main" w="19050">
            <a:solidFill>
              <a:srgbClr val="2A6B4D"/>
            </a:solidFill>
            <a:prstDash val="solid"/>
            <a:tailEnd type="arrow" w="med" len="med"/>
          </a:ln>
        </p:spPr>
      </p:cxnSp>
      <p:sp>
        <p:nvSpPr>
          <p:cNvPr id="9" name="">
            <a:extLst xmlns:a="http://schemas.openxmlformats.org/drawingml/2006/main">
              <a:ext uri="{FF2B5EF4-FFF2-40B4-BE49-F238E27FC236}">
                <a16:creationId xmlns:a16="http://schemas.microsoft.com/office/drawing/2014/main" id="{16A2B7E7-D500-4A70-A7DF-42380C842B03}"/>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D34"/>
                </a:solidFill>
                <a:latin typeface="Arial"/>
                <a:ea typeface="Arial"/>
                <a:cs typeface="Arial"/>
              </a:defRPr>
            </a:defPPr>
            <a:lvl1pPr>
              <a:defRPr sz="3000" b="1">
                <a:solidFill>
                  <a:srgbClr val="183D34"/>
                </a:solidFill>
                <a:latin typeface="Arial"/>
                <a:ea typeface="Arial"/>
                <a:cs typeface="Arial"/>
              </a:defRPr>
            </a:lvl1pPr>
            <a:lvl2pPr>
              <a:defRPr sz="3000" b="1">
                <a:solidFill>
                  <a:srgbClr val="183D34"/>
                </a:solidFill>
                <a:latin typeface="Arial"/>
                <a:ea typeface="Arial"/>
                <a:cs typeface="Arial"/>
              </a:defRPr>
            </a:lvl2pPr>
            <a:lvl3pPr>
              <a:defRPr sz="3000" b="1">
                <a:solidFill>
                  <a:srgbClr val="183D34"/>
                </a:solidFill>
                <a:latin typeface="Arial"/>
                <a:ea typeface="Arial"/>
                <a:cs typeface="Arial"/>
              </a:defRPr>
            </a:lvl3pPr>
            <a:lvl4pPr>
              <a:defRPr sz="3000" b="1">
                <a:solidFill>
                  <a:srgbClr val="183D34"/>
                </a:solidFill>
                <a:latin typeface="Arial"/>
                <a:ea typeface="Arial"/>
                <a:cs typeface="Arial"/>
              </a:defRPr>
            </a:lvl4pPr>
            <a:lvl5pPr>
              <a:defRPr sz="3000" b="1">
                <a:solidFill>
                  <a:srgbClr val="183D34"/>
                </a:solidFill>
                <a:latin typeface="Arial"/>
                <a:ea typeface="Arial"/>
                <a:cs typeface="Arial"/>
              </a:defRPr>
            </a:lvl5pPr>
            <a:lvl6pPr>
              <a:defRPr sz="3000" b="1">
                <a:solidFill>
                  <a:srgbClr val="183D34"/>
                </a:solidFill>
                <a:latin typeface="Arial"/>
                <a:ea typeface="Arial"/>
                <a:cs typeface="Arial"/>
              </a:defRPr>
            </a:lvl6pPr>
            <a:lvl7pPr>
              <a:defRPr sz="3000" b="1">
                <a:solidFill>
                  <a:srgbClr val="183D34"/>
                </a:solidFill>
                <a:latin typeface="Arial"/>
                <a:ea typeface="Arial"/>
                <a:cs typeface="Arial"/>
              </a:defRPr>
            </a:lvl7pPr>
            <a:lvl8pPr>
              <a:defRPr sz="3000" b="1">
                <a:solidFill>
                  <a:srgbClr val="183D34"/>
                </a:solidFill>
                <a:latin typeface="Arial"/>
                <a:ea typeface="Arial"/>
                <a:cs typeface="Arial"/>
              </a:defRPr>
            </a:lvl8pPr>
            <a:lvl9pPr>
              <a:defRPr sz="3000" b="1">
                <a:solidFill>
                  <a:srgbClr val="183D34"/>
                </a:solidFill>
                <a:latin typeface="Arial"/>
                <a:ea typeface="Arial"/>
                <a:cs typeface="Arial"/>
              </a:defRPr>
            </a:lvl9pPr>
          </a:lstStyle>
          <a:p xmlns:a="http://schemas.openxmlformats.org/drawingml/2006/main">
            <a:pPr>
              <a:defRPr sz="3000" b="1">
                <a:solidFill>
                  <a:srgbClr val="183D34"/>
                </a:solidFill>
                <a:latin typeface="Arial"/>
                <a:ea typeface="Arial"/>
                <a:cs typeface="Arial"/>
              </a:defRPr>
            </a:pPr>
            <a:r>
              <a:rPr sz="3000" b="1">
                <a:solidFill>
                  <a:srgbClr val="183D34"/>
                </a:solidFill>
                <a:latin typeface="Arial"/>
                <a:ea typeface="Arial"/>
                <a:cs typeface="Arial"/>
              </a:rPr>
              <a:t>Fraud Guard architecture</a:t>
            </a:r>
          </a:p>
        </p:txBody>
      </p:sp>
      <p:sp>
        <p:nvSpPr>
          <p:cNvPr id="10" name="">
            <a:extLst xmlns:a="http://schemas.openxmlformats.org/drawingml/2006/main">
              <a:ext uri="{FF2B5EF4-FFF2-40B4-BE49-F238E27FC236}">
                <a16:creationId xmlns:a16="http://schemas.microsoft.com/office/drawing/2014/main" id="{96DBA3C5-7542-4A24-9EEE-65FEDA495D56}"/>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83D34"/>
                </a:solidFill>
                <a:latin typeface="Arial"/>
                <a:ea typeface="Arial"/>
                <a:cs typeface="Arial"/>
              </a:defRPr>
            </a:defPPr>
            <a:lvl1pPr>
              <a:defRPr sz="1200" b="0">
                <a:solidFill>
                  <a:srgbClr val="183D34"/>
                </a:solidFill>
                <a:latin typeface="Arial"/>
                <a:ea typeface="Arial"/>
                <a:cs typeface="Arial"/>
              </a:defRPr>
            </a:lvl1pPr>
            <a:lvl2pPr>
              <a:defRPr sz="1200" b="0">
                <a:solidFill>
                  <a:srgbClr val="183D34"/>
                </a:solidFill>
                <a:latin typeface="Arial"/>
                <a:ea typeface="Arial"/>
                <a:cs typeface="Arial"/>
              </a:defRPr>
            </a:lvl2pPr>
            <a:lvl3pPr>
              <a:defRPr sz="1200" b="0">
                <a:solidFill>
                  <a:srgbClr val="183D34"/>
                </a:solidFill>
                <a:latin typeface="Arial"/>
                <a:ea typeface="Arial"/>
                <a:cs typeface="Arial"/>
              </a:defRPr>
            </a:lvl3pPr>
            <a:lvl4pPr>
              <a:defRPr sz="1200" b="0">
                <a:solidFill>
                  <a:srgbClr val="183D34"/>
                </a:solidFill>
                <a:latin typeface="Arial"/>
                <a:ea typeface="Arial"/>
                <a:cs typeface="Arial"/>
              </a:defRPr>
            </a:lvl4pPr>
            <a:lvl5pPr>
              <a:defRPr sz="1200" b="0">
                <a:solidFill>
                  <a:srgbClr val="183D34"/>
                </a:solidFill>
                <a:latin typeface="Arial"/>
                <a:ea typeface="Arial"/>
                <a:cs typeface="Arial"/>
              </a:defRPr>
            </a:lvl5pPr>
            <a:lvl6pPr>
              <a:defRPr sz="1200" b="0">
                <a:solidFill>
                  <a:srgbClr val="183D34"/>
                </a:solidFill>
                <a:latin typeface="Arial"/>
                <a:ea typeface="Arial"/>
                <a:cs typeface="Arial"/>
              </a:defRPr>
            </a:lvl6pPr>
            <a:lvl7pPr>
              <a:defRPr sz="1200" b="0">
                <a:solidFill>
                  <a:srgbClr val="183D34"/>
                </a:solidFill>
                <a:latin typeface="Arial"/>
                <a:ea typeface="Arial"/>
                <a:cs typeface="Arial"/>
              </a:defRPr>
            </a:lvl7pPr>
            <a:lvl8pPr>
              <a:defRPr sz="1200" b="0">
                <a:solidFill>
                  <a:srgbClr val="183D34"/>
                </a:solidFill>
                <a:latin typeface="Arial"/>
                <a:ea typeface="Arial"/>
                <a:cs typeface="Arial"/>
              </a:defRPr>
            </a:lvl8pPr>
            <a:lvl9pPr>
              <a:defRPr sz="1200" b="0">
                <a:solidFill>
                  <a:srgbClr val="183D34"/>
                </a:solidFill>
                <a:latin typeface="Arial"/>
                <a:ea typeface="Arial"/>
                <a:cs typeface="Arial"/>
              </a:defRPr>
            </a:lvl9pPr>
          </a:lstStyle>
          <a:p xmlns:a="http://schemas.openxmlformats.org/drawingml/2006/main">
            <a:pPr>
              <a:defRPr sz="1200" b="0">
                <a:solidFill>
                  <a:srgbClr val="183D34"/>
                </a:solidFill>
                <a:latin typeface="Arial"/>
                <a:ea typeface="Arial"/>
                <a:cs typeface="Arial"/>
              </a:defRPr>
            </a:pPr>
            <a:r>
              <a:rPr sz="1200" b="0">
                <a:solidFill>
                  <a:srgbClr val="183D34"/>
                </a:solidFill>
                <a:latin typeface="Arial"/>
                <a:ea typeface="Arial"/>
                <a:cs typeface="Arial"/>
              </a:rPr>
              <a:t>14</a:t>
            </a:r>
          </a:p>
        </p:txBody>
      </p:sp>
      <p:sp>
        <p:nvSpPr>
          <p:cNvPr id="11" name="">
            <a:extLst xmlns:a="http://schemas.openxmlformats.org/drawingml/2006/main">
              <a:ext uri="{FF2B5EF4-FFF2-40B4-BE49-F238E27FC236}">
                <a16:creationId xmlns:a16="http://schemas.microsoft.com/office/drawing/2014/main" id="{804BEEF0-5CA7-4AA5-AB67-474A505135A5}"/>
              </a:ext>
            </a:extLst>
          </p:cNvPr>
          <p:cNvSpPr>
            <a:spLocks xmlns:a="http://schemas.openxmlformats.org/drawingml/2006/main" noGrp="1"/>
          </p:cNvSpPr>
          <p:nvPr/>
        </p:nvSpPr>
        <p:spPr>
          <a:xfrm xmlns:a="http://schemas.openxmlformats.org/drawingml/2006/main">
            <a:off x="609600" y="12858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83D34"/>
                </a:solidFill>
                <a:latin typeface="Arial"/>
                <a:ea typeface="Arial"/>
                <a:cs typeface="Arial"/>
              </a:defRPr>
            </a:defPPr>
            <a:lvl1pPr>
              <a:defRPr sz="1875" b="1">
                <a:solidFill>
                  <a:srgbClr val="183D34"/>
                </a:solidFill>
                <a:latin typeface="Arial"/>
                <a:ea typeface="Arial"/>
                <a:cs typeface="Arial"/>
              </a:defRPr>
            </a:lvl1pPr>
            <a:lvl2pPr>
              <a:defRPr sz="1875" b="1">
                <a:solidFill>
                  <a:srgbClr val="183D34"/>
                </a:solidFill>
                <a:latin typeface="Arial"/>
                <a:ea typeface="Arial"/>
                <a:cs typeface="Arial"/>
              </a:defRPr>
            </a:lvl2pPr>
            <a:lvl3pPr>
              <a:defRPr sz="1875" b="1">
                <a:solidFill>
                  <a:srgbClr val="183D34"/>
                </a:solidFill>
                <a:latin typeface="Arial"/>
                <a:ea typeface="Arial"/>
                <a:cs typeface="Arial"/>
              </a:defRPr>
            </a:lvl3pPr>
            <a:lvl4pPr>
              <a:defRPr sz="1875" b="1">
                <a:solidFill>
                  <a:srgbClr val="183D34"/>
                </a:solidFill>
                <a:latin typeface="Arial"/>
                <a:ea typeface="Arial"/>
                <a:cs typeface="Arial"/>
              </a:defRPr>
            </a:lvl4pPr>
            <a:lvl5pPr>
              <a:defRPr sz="1875" b="1">
                <a:solidFill>
                  <a:srgbClr val="183D34"/>
                </a:solidFill>
                <a:latin typeface="Arial"/>
                <a:ea typeface="Arial"/>
                <a:cs typeface="Arial"/>
              </a:defRPr>
            </a:lvl5pPr>
            <a:lvl6pPr>
              <a:defRPr sz="1875" b="1">
                <a:solidFill>
                  <a:srgbClr val="183D34"/>
                </a:solidFill>
                <a:latin typeface="Arial"/>
                <a:ea typeface="Arial"/>
                <a:cs typeface="Arial"/>
              </a:defRPr>
            </a:lvl6pPr>
            <a:lvl7pPr>
              <a:defRPr sz="1875" b="1">
                <a:solidFill>
                  <a:srgbClr val="183D34"/>
                </a:solidFill>
                <a:latin typeface="Arial"/>
                <a:ea typeface="Arial"/>
                <a:cs typeface="Arial"/>
              </a:defRPr>
            </a:lvl7pPr>
            <a:lvl8pPr>
              <a:defRPr sz="1875" b="1">
                <a:solidFill>
                  <a:srgbClr val="183D34"/>
                </a:solidFill>
                <a:latin typeface="Arial"/>
                <a:ea typeface="Arial"/>
                <a:cs typeface="Arial"/>
              </a:defRPr>
            </a:lvl8pPr>
            <a:lvl9pPr>
              <a:defRPr sz="1875" b="1">
                <a:solidFill>
                  <a:srgbClr val="183D34"/>
                </a:solidFill>
                <a:latin typeface="Arial"/>
                <a:ea typeface="Arial"/>
                <a:cs typeface="Arial"/>
              </a:defRPr>
            </a:lvl9pPr>
          </a:lstStyle>
          <a:p xmlns:a="http://schemas.openxmlformats.org/drawingml/2006/main">
            <a:pPr>
              <a:defRPr sz="1875" b="1">
                <a:solidFill>
                  <a:srgbClr val="183D34"/>
                </a:solidFill>
                <a:latin typeface="Arial"/>
                <a:ea typeface="Arial"/>
                <a:cs typeface="Arial"/>
              </a:defRPr>
            </a:pPr>
            <a:r>
              <a:rPr sz="1875" b="1">
                <a:solidFill>
                  <a:srgbClr val="183D34"/>
                </a:solidFill>
                <a:latin typeface="Arial"/>
                <a:ea typeface="Arial"/>
                <a:cs typeface="Arial"/>
              </a:rPr>
              <a:t>Implemented local payment path with merchant-side screening</a:t>
            </a:r>
          </a:p>
        </p:txBody>
      </p:sp>
      <p:sp>
        <p:nvSpPr>
          <p:cNvPr id="12" name="">
            <a:extLst xmlns:a="http://schemas.openxmlformats.org/drawingml/2006/main">
              <a:ext uri="{FF2B5EF4-FFF2-40B4-BE49-F238E27FC236}">
                <a16:creationId xmlns:a16="http://schemas.microsoft.com/office/drawing/2014/main" id="{2ABCC5F4-0355-400C-A939-891017EE05BB}"/>
              </a:ext>
            </a:extLst>
          </p:cNvPr>
          <p:cNvSpPr>
            <a:spLocks xmlns:a="http://schemas.openxmlformats.org/drawingml/2006/main" noGrp="1"/>
          </p:cNvSpPr>
          <p:nvPr/>
        </p:nvSpPr>
        <p:spPr>
          <a:xfrm xmlns:a="http://schemas.openxmlformats.org/drawingml/2006/main">
            <a:off x="609600" y="2095500"/>
            <a:ext cx="2238375" cy="904875"/>
          </a:xfrm>
          <a:prstGeom xmlns:a="http://schemas.openxmlformats.org/drawingml/2006/main" prst="roundRect">
            <a:avLst>
              <a:gd name="adj" fmla="val 14737"/>
            </a:avLst>
          </a:prstGeom>
          <a:solidFill xmlns:a="http://schemas.openxmlformats.org/drawingml/2006/main">
            <a:srgbClr val="E4EEE6"/>
          </a:solidFill>
          <a:ln xmlns:a="http://schemas.openxmlformats.org/drawingml/2006/main" w="13335">
            <a:solidFill>
              <a:srgbClr val="6D9A83"/>
            </a:solidFill>
          </a:ln>
        </p:spPr>
        <p:txBody>
          <a:bodyPr xmlns:a="http://schemas.openxmlformats.org/drawingml/2006/main"/>
          <a:lstStyle xmlns:a="http://schemas.openxmlformats.org/drawingml/2006/main">
            <a:defPPr>
              <a:defRPr sz="1650">
                <a:solidFill>
                  <a:srgbClr val="173C32"/>
                </a:solidFill>
                <a:latin typeface="Arial"/>
                <a:ea typeface="Arial"/>
                <a:cs typeface="Arial"/>
              </a:defRPr>
            </a:defPPr>
            <a:lvl1pPr>
              <a:defRPr sz="1650">
                <a:solidFill>
                  <a:srgbClr val="173C32"/>
                </a:solidFill>
                <a:latin typeface="Arial"/>
                <a:ea typeface="Arial"/>
                <a:cs typeface="Arial"/>
              </a:defRPr>
            </a:lvl1pPr>
            <a:lvl2pPr>
              <a:defRPr sz="1650">
                <a:solidFill>
                  <a:srgbClr val="173C32"/>
                </a:solidFill>
                <a:latin typeface="Arial"/>
                <a:ea typeface="Arial"/>
                <a:cs typeface="Arial"/>
              </a:defRPr>
            </a:lvl2pPr>
            <a:lvl3pPr>
              <a:defRPr sz="1650">
                <a:solidFill>
                  <a:srgbClr val="173C32"/>
                </a:solidFill>
                <a:latin typeface="Arial"/>
                <a:ea typeface="Arial"/>
                <a:cs typeface="Arial"/>
              </a:defRPr>
            </a:lvl3pPr>
            <a:lvl4pPr>
              <a:defRPr sz="1650">
                <a:solidFill>
                  <a:srgbClr val="173C32"/>
                </a:solidFill>
                <a:latin typeface="Arial"/>
                <a:ea typeface="Arial"/>
                <a:cs typeface="Arial"/>
              </a:defRPr>
            </a:lvl4pPr>
            <a:lvl5pPr>
              <a:defRPr sz="1650">
                <a:solidFill>
                  <a:srgbClr val="173C32"/>
                </a:solidFill>
                <a:latin typeface="Arial"/>
                <a:ea typeface="Arial"/>
                <a:cs typeface="Arial"/>
              </a:defRPr>
            </a:lvl5pPr>
            <a:lvl6pPr>
              <a:defRPr sz="1650">
                <a:solidFill>
                  <a:srgbClr val="173C32"/>
                </a:solidFill>
                <a:latin typeface="Arial"/>
                <a:ea typeface="Arial"/>
                <a:cs typeface="Arial"/>
              </a:defRPr>
            </a:lvl6pPr>
            <a:lvl7pPr>
              <a:defRPr sz="1650">
                <a:solidFill>
                  <a:srgbClr val="173C32"/>
                </a:solidFill>
                <a:latin typeface="Arial"/>
                <a:ea typeface="Arial"/>
                <a:cs typeface="Arial"/>
              </a:defRPr>
            </a:lvl7pPr>
            <a:lvl8pPr>
              <a:defRPr sz="1650">
                <a:solidFill>
                  <a:srgbClr val="173C32"/>
                </a:solidFill>
                <a:latin typeface="Arial"/>
                <a:ea typeface="Arial"/>
                <a:cs typeface="Arial"/>
              </a:defRPr>
            </a:lvl8pPr>
            <a:lvl9pPr>
              <a:defRPr sz="1650">
                <a:solidFill>
                  <a:srgbClr val="173C32"/>
                </a:solidFill>
                <a:latin typeface="Arial"/>
                <a:ea typeface="Arial"/>
                <a:cs typeface="Arial"/>
              </a:defRPr>
            </a:lvl9pPr>
          </a:lstStyle>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Synthetic requests</a:t>
            </a:r>
          </a:p>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Tokens + USD amounts</a:t>
            </a:r>
          </a:p>
        </p:txBody>
      </p:sp>
      <p:sp>
        <p:nvSpPr>
          <p:cNvPr id="13" name="">
            <a:extLst xmlns:a="http://schemas.openxmlformats.org/drawingml/2006/main">
              <a:ext uri="{FF2B5EF4-FFF2-40B4-BE49-F238E27FC236}">
                <a16:creationId xmlns:a16="http://schemas.microsoft.com/office/drawing/2014/main" id="{61FB369E-6683-40EE-AC19-2AB252542181}"/>
              </a:ext>
            </a:extLst>
          </p:cNvPr>
          <p:cNvSpPr>
            <a:spLocks xmlns:a="http://schemas.openxmlformats.org/drawingml/2006/main" noGrp="1"/>
          </p:cNvSpPr>
          <p:nvPr/>
        </p:nvSpPr>
        <p:spPr>
          <a:xfrm xmlns:a="http://schemas.openxmlformats.org/drawingml/2006/main">
            <a:off x="3429000" y="2095500"/>
            <a:ext cx="2238375" cy="904875"/>
          </a:xfrm>
          <a:prstGeom xmlns:a="http://schemas.openxmlformats.org/drawingml/2006/main" prst="roundRect">
            <a:avLst>
              <a:gd name="adj" fmla="val 14737"/>
            </a:avLst>
          </a:prstGeom>
          <a:solidFill xmlns:a="http://schemas.openxmlformats.org/drawingml/2006/main">
            <a:srgbClr val="E4EEE6"/>
          </a:solidFill>
          <a:ln xmlns:a="http://schemas.openxmlformats.org/drawingml/2006/main" w="13335">
            <a:solidFill>
              <a:srgbClr val="6D9A83"/>
            </a:solidFill>
          </a:ln>
        </p:spPr>
        <p:txBody>
          <a:bodyPr xmlns:a="http://schemas.openxmlformats.org/drawingml/2006/main"/>
          <a:lstStyle xmlns:a="http://schemas.openxmlformats.org/drawingml/2006/main">
            <a:defPPr>
              <a:defRPr sz="1650">
                <a:solidFill>
                  <a:srgbClr val="173C32"/>
                </a:solidFill>
                <a:latin typeface="Arial"/>
                <a:ea typeface="Arial"/>
                <a:cs typeface="Arial"/>
              </a:defRPr>
            </a:defPPr>
            <a:lvl1pPr>
              <a:defRPr sz="1650">
                <a:solidFill>
                  <a:srgbClr val="173C32"/>
                </a:solidFill>
                <a:latin typeface="Arial"/>
                <a:ea typeface="Arial"/>
                <a:cs typeface="Arial"/>
              </a:defRPr>
            </a:lvl1pPr>
            <a:lvl2pPr>
              <a:defRPr sz="1650">
                <a:solidFill>
                  <a:srgbClr val="173C32"/>
                </a:solidFill>
                <a:latin typeface="Arial"/>
                <a:ea typeface="Arial"/>
                <a:cs typeface="Arial"/>
              </a:defRPr>
            </a:lvl2pPr>
            <a:lvl3pPr>
              <a:defRPr sz="1650">
                <a:solidFill>
                  <a:srgbClr val="173C32"/>
                </a:solidFill>
                <a:latin typeface="Arial"/>
                <a:ea typeface="Arial"/>
                <a:cs typeface="Arial"/>
              </a:defRPr>
            </a:lvl3pPr>
            <a:lvl4pPr>
              <a:defRPr sz="1650">
                <a:solidFill>
                  <a:srgbClr val="173C32"/>
                </a:solidFill>
                <a:latin typeface="Arial"/>
                <a:ea typeface="Arial"/>
                <a:cs typeface="Arial"/>
              </a:defRPr>
            </a:lvl4pPr>
            <a:lvl5pPr>
              <a:defRPr sz="1650">
                <a:solidFill>
                  <a:srgbClr val="173C32"/>
                </a:solidFill>
                <a:latin typeface="Arial"/>
                <a:ea typeface="Arial"/>
                <a:cs typeface="Arial"/>
              </a:defRPr>
            </a:lvl5pPr>
            <a:lvl6pPr>
              <a:defRPr sz="1650">
                <a:solidFill>
                  <a:srgbClr val="173C32"/>
                </a:solidFill>
                <a:latin typeface="Arial"/>
                <a:ea typeface="Arial"/>
                <a:cs typeface="Arial"/>
              </a:defRPr>
            </a:lvl6pPr>
            <a:lvl7pPr>
              <a:defRPr sz="1650">
                <a:solidFill>
                  <a:srgbClr val="173C32"/>
                </a:solidFill>
                <a:latin typeface="Arial"/>
                <a:ea typeface="Arial"/>
                <a:cs typeface="Arial"/>
              </a:defRPr>
            </a:lvl7pPr>
            <a:lvl8pPr>
              <a:defRPr sz="1650">
                <a:solidFill>
                  <a:srgbClr val="173C32"/>
                </a:solidFill>
                <a:latin typeface="Arial"/>
                <a:ea typeface="Arial"/>
                <a:cs typeface="Arial"/>
              </a:defRPr>
            </a:lvl8pPr>
            <a:lvl9pPr>
              <a:defRPr sz="1650">
                <a:solidFill>
                  <a:srgbClr val="173C32"/>
                </a:solidFill>
                <a:latin typeface="Arial"/>
                <a:ea typeface="Arial"/>
                <a:cs typeface="Arial"/>
              </a:defRPr>
            </a:lvl9pPr>
          </a:lstStyle>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Feature computation</a:t>
            </a:r>
          </a:p>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Velocity + device history</a:t>
            </a:r>
          </a:p>
        </p:txBody>
      </p:sp>
      <p:sp>
        <p:nvSpPr>
          <p:cNvPr id="14" name="">
            <a:extLst xmlns:a="http://schemas.openxmlformats.org/drawingml/2006/main">
              <a:ext uri="{FF2B5EF4-FFF2-40B4-BE49-F238E27FC236}">
                <a16:creationId xmlns:a16="http://schemas.microsoft.com/office/drawing/2014/main" id="{A477D3DB-63C2-4349-BCDB-FE3DCFCE05F3}"/>
              </a:ext>
            </a:extLst>
          </p:cNvPr>
          <p:cNvSpPr>
            <a:spLocks xmlns:a="http://schemas.openxmlformats.org/drawingml/2006/main" noGrp="1"/>
          </p:cNvSpPr>
          <p:nvPr/>
        </p:nvSpPr>
        <p:spPr>
          <a:xfrm xmlns:a="http://schemas.openxmlformats.org/drawingml/2006/main">
            <a:off x="6238875" y="2095500"/>
            <a:ext cx="2238375" cy="904875"/>
          </a:xfrm>
          <a:prstGeom xmlns:a="http://schemas.openxmlformats.org/drawingml/2006/main" prst="roundRect">
            <a:avLst>
              <a:gd name="adj" fmla="val 14737"/>
            </a:avLst>
          </a:prstGeom>
          <a:solidFill xmlns:a="http://schemas.openxmlformats.org/drawingml/2006/main">
            <a:srgbClr val="183D34"/>
          </a:solidFill>
          <a:ln xmlns:a="http://schemas.openxmlformats.org/drawingml/2006/main" w="13335">
            <a:solidFill>
              <a:srgbClr val="6D9A83"/>
            </a:solidFill>
          </a:ln>
        </p:spPr>
        <p:txBody>
          <a:bodyPr xmlns:a="http://schemas.openxmlformats.org/drawingml/2006/main"/>
          <a:lstStyle xmlns:a="http://schemas.openxmlformats.org/drawingml/2006/main">
            <a:defPPr>
              <a:defRPr sz="1650" b="1">
                <a:solidFill>
                  <a:srgbClr val="FFFFFF"/>
                </a:solidFill>
                <a:latin typeface="Arial"/>
                <a:ea typeface="Arial"/>
                <a:cs typeface="Arial"/>
              </a:defRPr>
            </a:defPPr>
            <a:lvl1pPr>
              <a:defRPr sz="1650" b="1">
                <a:solidFill>
                  <a:srgbClr val="FFFFFF"/>
                </a:solidFill>
                <a:latin typeface="Arial"/>
                <a:ea typeface="Arial"/>
                <a:cs typeface="Arial"/>
              </a:defRPr>
            </a:lvl1pPr>
            <a:lvl2pPr>
              <a:defRPr sz="1650" b="1">
                <a:solidFill>
                  <a:srgbClr val="FFFFFF"/>
                </a:solidFill>
                <a:latin typeface="Arial"/>
                <a:ea typeface="Arial"/>
                <a:cs typeface="Arial"/>
              </a:defRPr>
            </a:lvl2pPr>
            <a:lvl3pPr>
              <a:defRPr sz="1650" b="1">
                <a:solidFill>
                  <a:srgbClr val="FFFFFF"/>
                </a:solidFill>
                <a:latin typeface="Arial"/>
                <a:ea typeface="Arial"/>
                <a:cs typeface="Arial"/>
              </a:defRPr>
            </a:lvl3pPr>
            <a:lvl4pPr>
              <a:defRPr sz="1650" b="1">
                <a:solidFill>
                  <a:srgbClr val="FFFFFF"/>
                </a:solidFill>
                <a:latin typeface="Arial"/>
                <a:ea typeface="Arial"/>
                <a:cs typeface="Arial"/>
              </a:defRPr>
            </a:lvl4pPr>
            <a:lvl5pPr>
              <a:defRPr sz="1650" b="1">
                <a:solidFill>
                  <a:srgbClr val="FFFFFF"/>
                </a:solidFill>
                <a:latin typeface="Arial"/>
                <a:ea typeface="Arial"/>
                <a:cs typeface="Arial"/>
              </a:defRPr>
            </a:lvl5pPr>
            <a:lvl6pPr>
              <a:defRPr sz="1650" b="1">
                <a:solidFill>
                  <a:srgbClr val="FFFFFF"/>
                </a:solidFill>
                <a:latin typeface="Arial"/>
                <a:ea typeface="Arial"/>
                <a:cs typeface="Arial"/>
              </a:defRPr>
            </a:lvl6pPr>
            <a:lvl7pPr>
              <a:defRPr sz="1650" b="1">
                <a:solidFill>
                  <a:srgbClr val="FFFFFF"/>
                </a:solidFill>
                <a:latin typeface="Arial"/>
                <a:ea typeface="Arial"/>
                <a:cs typeface="Arial"/>
              </a:defRPr>
            </a:lvl7pPr>
            <a:lvl8pPr>
              <a:defRPr sz="1650" b="1">
                <a:solidFill>
                  <a:srgbClr val="FFFFFF"/>
                </a:solidFill>
                <a:latin typeface="Arial"/>
                <a:ea typeface="Arial"/>
                <a:cs typeface="Arial"/>
              </a:defRPr>
            </a:lvl8pPr>
            <a:lvl9pPr>
              <a:defRPr sz="1650" b="1">
                <a:solidFill>
                  <a:srgbClr val="FFFFFF"/>
                </a:solidFill>
                <a:latin typeface="Arial"/>
                <a:ea typeface="Arial"/>
                <a:cs typeface="Arial"/>
              </a:defRPr>
            </a:lvl9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Versioned fraud rules</a:t>
            </a:r>
          </a:p>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Policy decision</a:t>
            </a:r>
          </a:p>
        </p:txBody>
      </p:sp>
      <p:sp>
        <p:nvSpPr>
          <p:cNvPr id="15" name="">
            <a:extLst xmlns:a="http://schemas.openxmlformats.org/drawingml/2006/main">
              <a:ext uri="{FF2B5EF4-FFF2-40B4-BE49-F238E27FC236}">
                <a16:creationId xmlns:a16="http://schemas.microsoft.com/office/drawing/2014/main" id="{6FEF2364-93E9-4E1C-AB61-65B08466C612}"/>
              </a:ext>
            </a:extLst>
          </p:cNvPr>
          <p:cNvSpPr>
            <a:spLocks xmlns:a="http://schemas.openxmlformats.org/drawingml/2006/main" noGrp="1"/>
          </p:cNvSpPr>
          <p:nvPr/>
        </p:nvSpPr>
        <p:spPr>
          <a:xfrm xmlns:a="http://schemas.openxmlformats.org/drawingml/2006/main">
            <a:off x="9048750" y="2095500"/>
            <a:ext cx="2524125" cy="904875"/>
          </a:xfrm>
          <a:prstGeom xmlns:a="http://schemas.openxmlformats.org/drawingml/2006/main" prst="roundRect">
            <a:avLst>
              <a:gd name="adj" fmla="val 14737"/>
            </a:avLst>
          </a:prstGeom>
          <a:solidFill xmlns:a="http://schemas.openxmlformats.org/drawingml/2006/main">
            <a:srgbClr val="E4EEE6"/>
          </a:solidFill>
          <a:ln xmlns:a="http://schemas.openxmlformats.org/drawingml/2006/main" w="13335">
            <a:solidFill>
              <a:srgbClr val="6D9A83"/>
            </a:solidFill>
          </a:ln>
        </p:spPr>
        <p:txBody>
          <a:bodyPr xmlns:a="http://schemas.openxmlformats.org/drawingml/2006/main"/>
          <a:lstStyle xmlns:a="http://schemas.openxmlformats.org/drawingml/2006/main">
            <a:defPPr>
              <a:defRPr sz="1650">
                <a:solidFill>
                  <a:srgbClr val="173C32"/>
                </a:solidFill>
                <a:latin typeface="Arial"/>
                <a:ea typeface="Arial"/>
                <a:cs typeface="Arial"/>
              </a:defRPr>
            </a:defPPr>
            <a:lvl1pPr>
              <a:defRPr sz="1650">
                <a:solidFill>
                  <a:srgbClr val="173C32"/>
                </a:solidFill>
                <a:latin typeface="Arial"/>
                <a:ea typeface="Arial"/>
                <a:cs typeface="Arial"/>
              </a:defRPr>
            </a:lvl1pPr>
            <a:lvl2pPr>
              <a:defRPr sz="1650">
                <a:solidFill>
                  <a:srgbClr val="173C32"/>
                </a:solidFill>
                <a:latin typeface="Arial"/>
                <a:ea typeface="Arial"/>
                <a:cs typeface="Arial"/>
              </a:defRPr>
            </a:lvl2pPr>
            <a:lvl3pPr>
              <a:defRPr sz="1650">
                <a:solidFill>
                  <a:srgbClr val="173C32"/>
                </a:solidFill>
                <a:latin typeface="Arial"/>
                <a:ea typeface="Arial"/>
                <a:cs typeface="Arial"/>
              </a:defRPr>
            </a:lvl3pPr>
            <a:lvl4pPr>
              <a:defRPr sz="1650">
                <a:solidFill>
                  <a:srgbClr val="173C32"/>
                </a:solidFill>
                <a:latin typeface="Arial"/>
                <a:ea typeface="Arial"/>
                <a:cs typeface="Arial"/>
              </a:defRPr>
            </a:lvl4pPr>
            <a:lvl5pPr>
              <a:defRPr sz="1650">
                <a:solidFill>
                  <a:srgbClr val="173C32"/>
                </a:solidFill>
                <a:latin typeface="Arial"/>
                <a:ea typeface="Arial"/>
                <a:cs typeface="Arial"/>
              </a:defRPr>
            </a:lvl5pPr>
            <a:lvl6pPr>
              <a:defRPr sz="1650">
                <a:solidFill>
                  <a:srgbClr val="173C32"/>
                </a:solidFill>
                <a:latin typeface="Arial"/>
                <a:ea typeface="Arial"/>
                <a:cs typeface="Arial"/>
              </a:defRPr>
            </a:lvl6pPr>
            <a:lvl7pPr>
              <a:defRPr sz="1650">
                <a:solidFill>
                  <a:srgbClr val="173C32"/>
                </a:solidFill>
                <a:latin typeface="Arial"/>
                <a:ea typeface="Arial"/>
                <a:cs typeface="Arial"/>
              </a:defRPr>
            </a:lvl7pPr>
            <a:lvl8pPr>
              <a:defRPr sz="1650">
                <a:solidFill>
                  <a:srgbClr val="173C32"/>
                </a:solidFill>
                <a:latin typeface="Arial"/>
                <a:ea typeface="Arial"/>
                <a:cs typeface="Arial"/>
              </a:defRPr>
            </a:lvl8pPr>
            <a:lvl9pPr>
              <a:defRPr sz="1650">
                <a:solidFill>
                  <a:srgbClr val="173C32"/>
                </a:solidFill>
                <a:latin typeface="Arial"/>
                <a:ea typeface="Arial"/>
                <a:cs typeface="Arial"/>
              </a:defRPr>
            </a:lvl9pPr>
          </a:lstStyle>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Gateway simulator</a:t>
            </a:r>
          </a:p>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Authorization request</a:t>
            </a:r>
          </a:p>
        </p:txBody>
      </p:sp>
      <p:sp>
        <p:nvSpPr>
          <p:cNvPr id="16" name="">
            <a:extLst xmlns:a="http://schemas.openxmlformats.org/drawingml/2006/main">
              <a:ext uri="{FF2B5EF4-FFF2-40B4-BE49-F238E27FC236}">
                <a16:creationId xmlns:a16="http://schemas.microsoft.com/office/drawing/2014/main" id="{205785BF-B004-4932-8F27-9979F1433893}"/>
              </a:ext>
            </a:extLst>
          </p:cNvPr>
          <p:cNvSpPr>
            <a:spLocks xmlns:a="http://schemas.openxmlformats.org/drawingml/2006/main" noGrp="1"/>
          </p:cNvSpPr>
          <p:nvPr/>
        </p:nvSpPr>
        <p:spPr>
          <a:xfrm xmlns:a="http://schemas.openxmlformats.org/drawingml/2006/main">
            <a:off x="6238875" y="4143375"/>
            <a:ext cx="2238375" cy="1000125"/>
          </a:xfrm>
          <a:prstGeom xmlns:a="http://schemas.openxmlformats.org/drawingml/2006/main" prst="roundRect">
            <a:avLst>
              <a:gd name="adj" fmla="val 13333"/>
            </a:avLst>
          </a:prstGeom>
          <a:solidFill xmlns:a="http://schemas.openxmlformats.org/drawingml/2006/main">
            <a:srgbClr val="E4EEE6"/>
          </a:solidFill>
          <a:ln xmlns:a="http://schemas.openxmlformats.org/drawingml/2006/main" w="13335">
            <a:solidFill>
              <a:srgbClr val="6D9A83"/>
            </a:solidFill>
          </a:ln>
        </p:spPr>
        <p:txBody>
          <a:bodyPr xmlns:a="http://schemas.openxmlformats.org/drawingml/2006/main"/>
          <a:lstStyle xmlns:a="http://schemas.openxmlformats.org/drawingml/2006/main">
            <a:defPPr>
              <a:defRPr sz="1650">
                <a:solidFill>
                  <a:srgbClr val="173C32"/>
                </a:solidFill>
                <a:latin typeface="Arial"/>
                <a:ea typeface="Arial"/>
                <a:cs typeface="Arial"/>
              </a:defRPr>
            </a:defPPr>
            <a:lvl1pPr>
              <a:defRPr sz="1650">
                <a:solidFill>
                  <a:srgbClr val="173C32"/>
                </a:solidFill>
                <a:latin typeface="Arial"/>
                <a:ea typeface="Arial"/>
                <a:cs typeface="Arial"/>
              </a:defRPr>
            </a:lvl1pPr>
            <a:lvl2pPr>
              <a:defRPr sz="1650">
                <a:solidFill>
                  <a:srgbClr val="173C32"/>
                </a:solidFill>
                <a:latin typeface="Arial"/>
                <a:ea typeface="Arial"/>
                <a:cs typeface="Arial"/>
              </a:defRPr>
            </a:lvl2pPr>
            <a:lvl3pPr>
              <a:defRPr sz="1650">
                <a:solidFill>
                  <a:srgbClr val="173C32"/>
                </a:solidFill>
                <a:latin typeface="Arial"/>
                <a:ea typeface="Arial"/>
                <a:cs typeface="Arial"/>
              </a:defRPr>
            </a:lvl3pPr>
            <a:lvl4pPr>
              <a:defRPr sz="1650">
                <a:solidFill>
                  <a:srgbClr val="173C32"/>
                </a:solidFill>
                <a:latin typeface="Arial"/>
                <a:ea typeface="Arial"/>
                <a:cs typeface="Arial"/>
              </a:defRPr>
            </a:lvl4pPr>
            <a:lvl5pPr>
              <a:defRPr sz="1650">
                <a:solidFill>
                  <a:srgbClr val="173C32"/>
                </a:solidFill>
                <a:latin typeface="Arial"/>
                <a:ea typeface="Arial"/>
                <a:cs typeface="Arial"/>
              </a:defRPr>
            </a:lvl5pPr>
            <a:lvl6pPr>
              <a:defRPr sz="1650">
                <a:solidFill>
                  <a:srgbClr val="173C32"/>
                </a:solidFill>
                <a:latin typeface="Arial"/>
                <a:ea typeface="Arial"/>
                <a:cs typeface="Arial"/>
              </a:defRPr>
            </a:lvl6pPr>
            <a:lvl7pPr>
              <a:defRPr sz="1650">
                <a:solidFill>
                  <a:srgbClr val="173C32"/>
                </a:solidFill>
                <a:latin typeface="Arial"/>
                <a:ea typeface="Arial"/>
                <a:cs typeface="Arial"/>
              </a:defRPr>
            </a:lvl7pPr>
            <a:lvl8pPr>
              <a:defRPr sz="1650">
                <a:solidFill>
                  <a:srgbClr val="173C32"/>
                </a:solidFill>
                <a:latin typeface="Arial"/>
                <a:ea typeface="Arial"/>
                <a:cs typeface="Arial"/>
              </a:defRPr>
            </a:lvl8pPr>
            <a:lvl9pPr>
              <a:defRPr sz="1650">
                <a:solidFill>
                  <a:srgbClr val="173C32"/>
                </a:solidFill>
                <a:latin typeface="Arial"/>
                <a:ea typeface="Arial"/>
                <a:cs typeface="Arial"/>
              </a:defRPr>
            </a:lvl9pPr>
          </a:lstStyle>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Authentication or</a:t>
            </a:r>
          </a:p>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analyst release gate</a:t>
            </a:r>
          </a:p>
        </p:txBody>
      </p:sp>
      <p:sp>
        <p:nvSpPr>
          <p:cNvPr id="17" name="">
            <a:extLst xmlns:a="http://schemas.openxmlformats.org/drawingml/2006/main">
              <a:ext uri="{FF2B5EF4-FFF2-40B4-BE49-F238E27FC236}">
                <a16:creationId xmlns:a16="http://schemas.microsoft.com/office/drawing/2014/main" id="{344B85BE-96A6-4C37-BDA4-0017D0AC2D07}"/>
              </a:ext>
            </a:extLst>
          </p:cNvPr>
          <p:cNvSpPr>
            <a:spLocks xmlns:a="http://schemas.openxmlformats.org/drawingml/2006/main" noGrp="1"/>
          </p:cNvSpPr>
          <p:nvPr/>
        </p:nvSpPr>
        <p:spPr>
          <a:xfrm xmlns:a="http://schemas.openxmlformats.org/drawingml/2006/main">
            <a:off x="9048750" y="4143375"/>
            <a:ext cx="2524125" cy="1000125"/>
          </a:xfrm>
          <a:prstGeom xmlns:a="http://schemas.openxmlformats.org/drawingml/2006/main" prst="roundRect">
            <a:avLst>
              <a:gd name="adj" fmla="val 13333"/>
            </a:avLst>
          </a:prstGeom>
          <a:solidFill xmlns:a="http://schemas.openxmlformats.org/drawingml/2006/main">
            <a:srgbClr val="E4EEE6"/>
          </a:solidFill>
          <a:ln xmlns:a="http://schemas.openxmlformats.org/drawingml/2006/main" w="13335">
            <a:solidFill>
              <a:srgbClr val="6D9A83"/>
            </a:solidFill>
          </a:ln>
        </p:spPr>
        <p:txBody>
          <a:bodyPr xmlns:a="http://schemas.openxmlformats.org/drawingml/2006/main"/>
          <a:lstStyle xmlns:a="http://schemas.openxmlformats.org/drawingml/2006/main">
            <a:defPPr>
              <a:defRPr sz="1650">
                <a:solidFill>
                  <a:srgbClr val="173C32"/>
                </a:solidFill>
                <a:latin typeface="Arial"/>
                <a:ea typeface="Arial"/>
                <a:cs typeface="Arial"/>
              </a:defRPr>
            </a:defPPr>
            <a:lvl1pPr>
              <a:defRPr sz="1650">
                <a:solidFill>
                  <a:srgbClr val="173C32"/>
                </a:solidFill>
                <a:latin typeface="Arial"/>
                <a:ea typeface="Arial"/>
                <a:cs typeface="Arial"/>
              </a:defRPr>
            </a:lvl1pPr>
            <a:lvl2pPr>
              <a:defRPr sz="1650">
                <a:solidFill>
                  <a:srgbClr val="173C32"/>
                </a:solidFill>
                <a:latin typeface="Arial"/>
                <a:ea typeface="Arial"/>
                <a:cs typeface="Arial"/>
              </a:defRPr>
            </a:lvl2pPr>
            <a:lvl3pPr>
              <a:defRPr sz="1650">
                <a:solidFill>
                  <a:srgbClr val="173C32"/>
                </a:solidFill>
                <a:latin typeface="Arial"/>
                <a:ea typeface="Arial"/>
                <a:cs typeface="Arial"/>
              </a:defRPr>
            </a:lvl3pPr>
            <a:lvl4pPr>
              <a:defRPr sz="1650">
                <a:solidFill>
                  <a:srgbClr val="173C32"/>
                </a:solidFill>
                <a:latin typeface="Arial"/>
                <a:ea typeface="Arial"/>
                <a:cs typeface="Arial"/>
              </a:defRPr>
            </a:lvl4pPr>
            <a:lvl5pPr>
              <a:defRPr sz="1650">
                <a:solidFill>
                  <a:srgbClr val="173C32"/>
                </a:solidFill>
                <a:latin typeface="Arial"/>
                <a:ea typeface="Arial"/>
                <a:cs typeface="Arial"/>
              </a:defRPr>
            </a:lvl5pPr>
            <a:lvl6pPr>
              <a:defRPr sz="1650">
                <a:solidFill>
                  <a:srgbClr val="173C32"/>
                </a:solidFill>
                <a:latin typeface="Arial"/>
                <a:ea typeface="Arial"/>
                <a:cs typeface="Arial"/>
              </a:defRPr>
            </a:lvl6pPr>
            <a:lvl7pPr>
              <a:defRPr sz="1650">
                <a:solidFill>
                  <a:srgbClr val="173C32"/>
                </a:solidFill>
                <a:latin typeface="Arial"/>
                <a:ea typeface="Arial"/>
                <a:cs typeface="Arial"/>
              </a:defRPr>
            </a:lvl7pPr>
            <a:lvl8pPr>
              <a:defRPr sz="1650">
                <a:solidFill>
                  <a:srgbClr val="173C32"/>
                </a:solidFill>
                <a:latin typeface="Arial"/>
                <a:ea typeface="Arial"/>
                <a:cs typeface="Arial"/>
              </a:defRPr>
            </a:lvl8pPr>
            <a:lvl9pPr>
              <a:defRPr sz="1650">
                <a:solidFill>
                  <a:srgbClr val="173C32"/>
                </a:solidFill>
                <a:latin typeface="Arial"/>
                <a:ea typeface="Arial"/>
                <a:cs typeface="Arial"/>
              </a:defRPr>
            </a:lvl9pPr>
          </a:lstStyle>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Issuer simulator</a:t>
            </a:r>
          </a:p>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Receipt ledger</a:t>
            </a:r>
          </a:p>
        </p:txBody>
      </p:sp>
      <p:sp>
        <p:nvSpPr>
          <p:cNvPr id="18" name="">
            <a:extLst xmlns:a="http://schemas.openxmlformats.org/drawingml/2006/main">
              <a:ext uri="{FF2B5EF4-FFF2-40B4-BE49-F238E27FC236}">
                <a16:creationId xmlns:a16="http://schemas.microsoft.com/office/drawing/2014/main" id="{F4E95A55-300A-4AF1-B7F6-CBB20F8AA2AA}"/>
              </a:ext>
            </a:extLst>
          </p:cNvPr>
          <p:cNvSpPr>
            <a:spLocks xmlns:a="http://schemas.openxmlformats.org/drawingml/2006/main" noGrp="1"/>
          </p:cNvSpPr>
          <p:nvPr/>
        </p:nvSpPr>
        <p:spPr>
          <a:xfrm xmlns:a="http://schemas.openxmlformats.org/drawingml/2006/main">
            <a:off x="609600" y="4143375"/>
            <a:ext cx="4762500" cy="1000125"/>
          </a:xfrm>
          <a:prstGeom xmlns:a="http://schemas.openxmlformats.org/drawingml/2006/main" prst="roundRect">
            <a:avLst>
              <a:gd name="adj" fmla="val 13333"/>
            </a:avLst>
          </a:prstGeom>
          <a:solidFill xmlns:a="http://schemas.openxmlformats.org/drawingml/2006/main">
            <a:srgbClr val="E4EEE6"/>
          </a:solidFill>
          <a:ln xmlns:a="http://schemas.openxmlformats.org/drawingml/2006/main" w="13335">
            <a:solidFill>
              <a:srgbClr val="6D9A83"/>
            </a:solidFill>
          </a:ln>
        </p:spPr>
        <p:txBody>
          <a:bodyPr xmlns:a="http://schemas.openxmlformats.org/drawingml/2006/main"/>
          <a:lstStyle xmlns:a="http://schemas.openxmlformats.org/drawingml/2006/main">
            <a:defPPr>
              <a:defRPr sz="1650">
                <a:solidFill>
                  <a:srgbClr val="173C32"/>
                </a:solidFill>
                <a:latin typeface="Arial"/>
                <a:ea typeface="Arial"/>
                <a:cs typeface="Arial"/>
              </a:defRPr>
            </a:defPPr>
            <a:lvl1pPr>
              <a:defRPr sz="1650">
                <a:solidFill>
                  <a:srgbClr val="173C32"/>
                </a:solidFill>
                <a:latin typeface="Arial"/>
                <a:ea typeface="Arial"/>
                <a:cs typeface="Arial"/>
              </a:defRPr>
            </a:lvl1pPr>
            <a:lvl2pPr>
              <a:defRPr sz="1650">
                <a:solidFill>
                  <a:srgbClr val="173C32"/>
                </a:solidFill>
                <a:latin typeface="Arial"/>
                <a:ea typeface="Arial"/>
                <a:cs typeface="Arial"/>
              </a:defRPr>
            </a:lvl2pPr>
            <a:lvl3pPr>
              <a:defRPr sz="1650">
                <a:solidFill>
                  <a:srgbClr val="173C32"/>
                </a:solidFill>
                <a:latin typeface="Arial"/>
                <a:ea typeface="Arial"/>
                <a:cs typeface="Arial"/>
              </a:defRPr>
            </a:lvl3pPr>
            <a:lvl4pPr>
              <a:defRPr sz="1650">
                <a:solidFill>
                  <a:srgbClr val="173C32"/>
                </a:solidFill>
                <a:latin typeface="Arial"/>
                <a:ea typeface="Arial"/>
                <a:cs typeface="Arial"/>
              </a:defRPr>
            </a:lvl4pPr>
            <a:lvl5pPr>
              <a:defRPr sz="1650">
                <a:solidFill>
                  <a:srgbClr val="173C32"/>
                </a:solidFill>
                <a:latin typeface="Arial"/>
                <a:ea typeface="Arial"/>
                <a:cs typeface="Arial"/>
              </a:defRPr>
            </a:lvl5pPr>
            <a:lvl6pPr>
              <a:defRPr sz="1650">
                <a:solidFill>
                  <a:srgbClr val="173C32"/>
                </a:solidFill>
                <a:latin typeface="Arial"/>
                <a:ea typeface="Arial"/>
                <a:cs typeface="Arial"/>
              </a:defRPr>
            </a:lvl6pPr>
            <a:lvl7pPr>
              <a:defRPr sz="1650">
                <a:solidFill>
                  <a:srgbClr val="173C32"/>
                </a:solidFill>
                <a:latin typeface="Arial"/>
                <a:ea typeface="Arial"/>
                <a:cs typeface="Arial"/>
              </a:defRPr>
            </a:lvl7pPr>
            <a:lvl8pPr>
              <a:defRPr sz="1650">
                <a:solidFill>
                  <a:srgbClr val="173C32"/>
                </a:solidFill>
                <a:latin typeface="Arial"/>
                <a:ea typeface="Arial"/>
                <a:cs typeface="Arial"/>
              </a:defRPr>
            </a:lvl8pPr>
            <a:lvl9pPr>
              <a:defRPr sz="1650">
                <a:solidFill>
                  <a:srgbClr val="173C32"/>
                </a:solidFill>
                <a:latin typeface="Arial"/>
                <a:ea typeface="Arial"/>
                <a:cs typeface="Arial"/>
              </a:defRPr>
            </a:lvl9pPr>
          </a:lstStyle>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SQLite state and audit</a:t>
            </a:r>
          </a:p>
          <a:p xmlns:a="http://schemas.openxmlformats.org/drawingml/2006/main">
            <a:pPr>
              <a:defRPr sz="1650">
                <a:solidFill>
                  <a:srgbClr val="173C32"/>
                </a:solidFill>
                <a:latin typeface="Arial"/>
                <a:ea typeface="Arial"/>
                <a:cs typeface="Arial"/>
              </a:defRPr>
            </a:pPr>
            <a:r>
              <a:rPr sz="1650">
                <a:solidFill>
                  <a:srgbClr val="173C32"/>
                </a:solidFill>
                <a:latin typeface="Arial"/>
                <a:ea typeface="Arial"/>
                <a:cs typeface="Arial"/>
              </a:rPr>
              <a:t>Signal investigation + payment-flow lineage</a:t>
            </a:r>
          </a:p>
        </p:txBody>
      </p:sp>
      <p:sp>
        <p:nvSpPr>
          <p:cNvPr id="19" name="">
            <a:extLst xmlns:a="http://schemas.openxmlformats.org/drawingml/2006/main">
              <a:ext uri="{FF2B5EF4-FFF2-40B4-BE49-F238E27FC236}">
                <a16:creationId xmlns:a16="http://schemas.microsoft.com/office/drawing/2014/main" id="{7D8FDB91-018E-42D2-AEBE-62C1DA0945D0}"/>
              </a:ext>
            </a:extLst>
          </p:cNvPr>
          <p:cNvSpPr>
            <a:spLocks xmlns:a="http://schemas.openxmlformats.org/drawingml/2006/main" noGrp="1"/>
          </p:cNvSpPr>
          <p:nvPr/>
        </p:nvSpPr>
        <p:spPr>
          <a:xfrm xmlns:a="http://schemas.openxmlformats.org/drawingml/2006/main">
            <a:off x="609600" y="58102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4"/>
                </a:solidFill>
                <a:latin typeface="Arial"/>
                <a:ea typeface="Arial"/>
                <a:cs typeface="Arial"/>
              </a:defRPr>
            </a:defPPr>
            <a:lvl1pPr>
              <a:defRPr sz="1875" b="0">
                <a:solidFill>
                  <a:srgbClr val="183D34"/>
                </a:solidFill>
                <a:latin typeface="Arial"/>
                <a:ea typeface="Arial"/>
                <a:cs typeface="Arial"/>
              </a:defRPr>
            </a:lvl1pPr>
            <a:lvl2pPr>
              <a:defRPr sz="1875" b="0">
                <a:solidFill>
                  <a:srgbClr val="183D34"/>
                </a:solidFill>
                <a:latin typeface="Arial"/>
                <a:ea typeface="Arial"/>
                <a:cs typeface="Arial"/>
              </a:defRPr>
            </a:lvl2pPr>
            <a:lvl3pPr>
              <a:defRPr sz="1875" b="0">
                <a:solidFill>
                  <a:srgbClr val="183D34"/>
                </a:solidFill>
                <a:latin typeface="Arial"/>
                <a:ea typeface="Arial"/>
                <a:cs typeface="Arial"/>
              </a:defRPr>
            </a:lvl3pPr>
            <a:lvl4pPr>
              <a:defRPr sz="1875" b="0">
                <a:solidFill>
                  <a:srgbClr val="183D34"/>
                </a:solidFill>
                <a:latin typeface="Arial"/>
                <a:ea typeface="Arial"/>
                <a:cs typeface="Arial"/>
              </a:defRPr>
            </a:lvl4pPr>
            <a:lvl5pPr>
              <a:defRPr sz="1875" b="0">
                <a:solidFill>
                  <a:srgbClr val="183D34"/>
                </a:solidFill>
                <a:latin typeface="Arial"/>
                <a:ea typeface="Arial"/>
                <a:cs typeface="Arial"/>
              </a:defRPr>
            </a:lvl5pPr>
            <a:lvl6pPr>
              <a:defRPr sz="1875" b="0">
                <a:solidFill>
                  <a:srgbClr val="183D34"/>
                </a:solidFill>
                <a:latin typeface="Arial"/>
                <a:ea typeface="Arial"/>
                <a:cs typeface="Arial"/>
              </a:defRPr>
            </a:lvl6pPr>
            <a:lvl7pPr>
              <a:defRPr sz="1875" b="0">
                <a:solidFill>
                  <a:srgbClr val="183D34"/>
                </a:solidFill>
                <a:latin typeface="Arial"/>
                <a:ea typeface="Arial"/>
                <a:cs typeface="Arial"/>
              </a:defRPr>
            </a:lvl7pPr>
            <a:lvl8pPr>
              <a:defRPr sz="1875" b="0">
                <a:solidFill>
                  <a:srgbClr val="183D34"/>
                </a:solidFill>
                <a:latin typeface="Arial"/>
                <a:ea typeface="Arial"/>
                <a:cs typeface="Arial"/>
              </a:defRPr>
            </a:lvl8pPr>
            <a:lvl9pPr>
              <a:defRPr sz="1875" b="0">
                <a:solidFill>
                  <a:srgbClr val="183D34"/>
                </a:solidFill>
                <a:latin typeface="Arial"/>
                <a:ea typeface="Arial"/>
                <a:cs typeface="Arial"/>
              </a:defRPr>
            </a:lvl9pPr>
          </a:lstStyle>
          <a:p xmlns:a="http://schemas.openxmlformats.org/drawingml/2006/main">
            <a:pPr>
              <a:defRPr sz="1875" b="0">
                <a:solidFill>
                  <a:srgbClr val="183D34"/>
                </a:solidFill>
                <a:latin typeface="Arial"/>
                <a:ea typeface="Arial"/>
                <a:cs typeface="Arial"/>
              </a:defRPr>
            </a:pPr>
            <a:r>
              <a:rPr sz="1875" b="0">
                <a:solidFill>
                  <a:srgbClr val="183D34"/>
                </a:solidFill>
                <a:latin typeface="Arial"/>
                <a:ea typeface="Arial"/>
                <a:cs typeface="Arial"/>
              </a:rPr>
              <a:t>Only eligible transactions reach authorization. A local issuer receipt resolves uncertain gateway outcomes.</a:t>
            </a:r>
          </a:p>
        </p:txBody>
      </p:sp>
    </p:spTree>
    <p:extLst>
      <p:ext uri="{BB962C8B-B14F-4D97-AF65-F5344CB8AC3E}">
        <p14:creationId xmlns:p14="http://schemas.microsoft.com/office/powerpoint/2010/main" val="68609438"/>
      </p:ext>
    </p:extLst>
  </p:cSld>
</p:sld>
</file>

<file path=ppt/slides/slide15.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4D18D13-A06E-4566-A133-09BE221B78B0}"/>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D34"/>
                </a:solidFill>
              </a:defRPr>
            </a:defPPr>
            <a:lvl1pPr>
              <a:defRPr sz="3000" b="1">
                <a:solidFill>
                  <a:srgbClr val="183D34"/>
                </a:solidFill>
              </a:defRPr>
            </a:lvl1pPr>
            <a:lvl2pPr>
              <a:defRPr sz="3000" b="1">
                <a:solidFill>
                  <a:srgbClr val="183D34"/>
                </a:solidFill>
              </a:defRPr>
            </a:lvl2pPr>
            <a:lvl3pPr>
              <a:defRPr sz="3000" b="1">
                <a:solidFill>
                  <a:srgbClr val="183D34"/>
                </a:solidFill>
              </a:defRPr>
            </a:lvl3pPr>
            <a:lvl4pPr>
              <a:defRPr sz="3000" b="1">
                <a:solidFill>
                  <a:srgbClr val="183D34"/>
                </a:solidFill>
              </a:defRPr>
            </a:lvl4pPr>
            <a:lvl5pPr>
              <a:defRPr sz="3000" b="1">
                <a:solidFill>
                  <a:srgbClr val="183D34"/>
                </a:solidFill>
              </a:defRPr>
            </a:lvl5pPr>
            <a:lvl6pPr>
              <a:defRPr sz="3000" b="1">
                <a:solidFill>
                  <a:srgbClr val="183D34"/>
                </a:solidFill>
              </a:defRPr>
            </a:lvl6pPr>
            <a:lvl7pPr>
              <a:defRPr sz="3000" b="1">
                <a:solidFill>
                  <a:srgbClr val="183D34"/>
                </a:solidFill>
              </a:defRPr>
            </a:lvl7pPr>
            <a:lvl8pPr>
              <a:defRPr sz="3000" b="1">
                <a:solidFill>
                  <a:srgbClr val="183D34"/>
                </a:solidFill>
              </a:defRPr>
            </a:lvl8pPr>
            <a:lvl9pPr>
              <a:defRPr sz="3000" b="1">
                <a:solidFill>
                  <a:srgbClr val="183D34"/>
                </a:solidFill>
              </a:defRPr>
            </a:lvl9pPr>
          </a:lstStyle>
          <a:p xmlns:a="http://schemas.openxmlformats.org/drawingml/2006/main">
            <a:pPr>
              <a:defRPr sz="3000" b="1">
                <a:solidFill>
                  <a:srgbClr val="183D34"/>
                </a:solidFill>
              </a:defRPr>
            </a:pPr>
            <a:r>
              <a:rPr sz="3000" b="1">
                <a:solidFill>
                  <a:srgbClr val="183D34"/>
                </a:solidFill>
              </a:rPr>
              <a:t>Fraud, authentication and payment decisions</a:t>
            </a:r>
          </a:p>
        </p:txBody>
      </p:sp>
      <p:sp>
        <p:nvSpPr>
          <p:cNvPr id="3" name="">
            <a:extLst xmlns:a="http://schemas.openxmlformats.org/drawingml/2006/main">
              <a:ext uri="{FF2B5EF4-FFF2-40B4-BE49-F238E27FC236}">
                <a16:creationId xmlns:a16="http://schemas.microsoft.com/office/drawing/2014/main" id="{B2FB9E52-CAE9-4CCE-979E-21415E7D6519}"/>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A62"/>
                </a:solidFill>
              </a:defRPr>
            </a:defPPr>
            <a:lvl1pPr>
              <a:defRPr sz="1200" b="0">
                <a:solidFill>
                  <a:srgbClr val="536A62"/>
                </a:solidFill>
              </a:defRPr>
            </a:lvl1pPr>
            <a:lvl2pPr>
              <a:defRPr sz="1200" b="0">
                <a:solidFill>
                  <a:srgbClr val="536A62"/>
                </a:solidFill>
              </a:defRPr>
            </a:lvl2pPr>
            <a:lvl3pPr>
              <a:defRPr sz="1200" b="0">
                <a:solidFill>
                  <a:srgbClr val="536A62"/>
                </a:solidFill>
              </a:defRPr>
            </a:lvl3pPr>
            <a:lvl4pPr>
              <a:defRPr sz="1200" b="0">
                <a:solidFill>
                  <a:srgbClr val="536A62"/>
                </a:solidFill>
              </a:defRPr>
            </a:lvl4pPr>
            <a:lvl5pPr>
              <a:defRPr sz="1200" b="0">
                <a:solidFill>
                  <a:srgbClr val="536A62"/>
                </a:solidFill>
              </a:defRPr>
            </a:lvl5pPr>
            <a:lvl6pPr>
              <a:defRPr sz="1200" b="0">
                <a:solidFill>
                  <a:srgbClr val="536A62"/>
                </a:solidFill>
              </a:defRPr>
            </a:lvl6pPr>
            <a:lvl7pPr>
              <a:defRPr sz="1200" b="0">
                <a:solidFill>
                  <a:srgbClr val="536A62"/>
                </a:solidFill>
              </a:defRPr>
            </a:lvl7pPr>
            <a:lvl8pPr>
              <a:defRPr sz="1200" b="0">
                <a:solidFill>
                  <a:srgbClr val="536A62"/>
                </a:solidFill>
              </a:defRPr>
            </a:lvl8pPr>
            <a:lvl9pPr>
              <a:defRPr sz="1200" b="0">
                <a:solidFill>
                  <a:srgbClr val="536A62"/>
                </a:solidFill>
              </a:defRPr>
            </a:lvl9pPr>
          </a:lstStyle>
          <a:p xmlns:a="http://schemas.openxmlformats.org/drawingml/2006/main">
            <a:pPr>
              <a:defRPr sz="1200" b="0">
                <a:solidFill>
                  <a:srgbClr val="536A62"/>
                </a:solidFill>
              </a:defRPr>
            </a:pPr>
            <a:r>
              <a:rPr sz="1200" b="0">
                <a:solidFill>
                  <a:srgbClr val="536A62"/>
                </a:solidFill>
              </a:rPr>
              <a:t>15</a:t>
            </a:r>
          </a:p>
        </p:txBody>
      </p:sp>
      <p:graphicFrame>
        <p:nvGraphicFramePr>
          <p:cNvPr id="4" name="">
            <a:extLst xmlns:a="http://schemas.openxmlformats.org/drawingml/2006/main">
              <a:ext uri="{FF2B5EF4-FFF2-40B4-BE49-F238E27FC236}">
                <a16:creationId xmlns:a16="http://schemas.microsoft.com/office/drawing/2014/main" id="{747E8B0D-19C1-4CE5-846A-C844C8891FAF}"/>
              </a:ext>
            </a:extLst>
          </p:cNvPr>
          <p:cNvGraphicFramePr/>
          <p:nvPr/>
        </p:nvGraphicFramePr>
        <p:xfrm>
          <a:off xmlns:a="http://schemas.openxmlformats.org/drawingml/2006/main" x="609600" y="1476375"/>
          <a:ext xmlns:a="http://schemas.openxmlformats.org/drawingml/2006/main" cx="10972800" cy="4191000"/>
        </p:xfrm>
        <a:graphic xmlns:a="http://schemas.openxmlformats.org/drawingml/2006/main">
          <a:graphicData uri="http://schemas.openxmlformats.org/drawingml/2006/table">
            <a:tbl>
              <a:tblPr/>
              <a:tblGrid>
                <a:gridCol w="2857500"/>
                <a:gridCol w="3619500"/>
                <a:gridCol w="4495800"/>
              </a:tblGrid>
              <a:tr h="698500">
                <a:tc>
                  <a:txBody>
                    <a:bodyPr/>
                    <a:lstStyle/>
                    <a:p>
                      <a:r>
                        <a:rPr sz="1725" b="1">
                          <a:solidFill>
                            <a:srgbClr val="FFFFFF"/>
                          </a:solidFill>
                        </a:rPr>
                        <a:t>Decision</a:t>
                      </a:r>
                    </a:p>
                  </a:txBody>
                  <a:tcPr marL="91440" marR="91440" marT="45720" marB="45720">
                    <a:lnL w="9525">
                      <a:solidFill>
                        <a:srgbClr val="C6D6CB"/>
                      </a:solidFill>
                      <a:prstDash val="solid"/>
                    </a:lnL>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c>
                  <a:txBody>
                    <a:bodyPr/>
                    <a:lstStyle/>
                    <a:p>
                      <a:r>
                        <a:rPr sz="1725" b="1">
                          <a:solidFill>
                            <a:srgbClr val="FFFFFF"/>
                          </a:solidFill>
                        </a:rPr>
                        <a:t>Owner in the MVP</a:t>
                      </a:r>
                    </a:p>
                  </a:txBody>
                  <a:tcPr marL="91440" marR="91440" marT="45720" marB="45720">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c>
                  <a:txBody>
                    <a:bodyPr/>
                    <a:lstStyle/>
                    <a:p>
                      <a:r>
                        <a:rPr sz="1725" b="1">
                          <a:solidFill>
                            <a:srgbClr val="FFFFFF"/>
                          </a:solidFill>
                        </a:rPr>
                        <a:t>Guardrail</a:t>
                      </a:r>
                    </a:p>
                  </a:txBody>
                  <a:tcPr marL="91440" marR="91440" marT="45720" marB="45720">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r>
              <a:tr h="698500">
                <a:tc>
                  <a:txBody>
                    <a:bodyPr/>
                    <a:lstStyle/>
                    <a:p>
                      <a:r>
                        <a:rPr sz="1725" b="0">
                          <a:solidFill>
                            <a:srgbClr val="183D34"/>
                          </a:solidFill>
                        </a:rPr>
                        <a:t>Fraud clearance</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Deterministic rules</a:t>
                      </a:r>
                    </a:p>
                  </a:txBody>
                  <a:tcPr marL="91440" marR="91440" marT="45720" marB="45720">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ALLOW, CHALLENGE, REVIEW, BLOCK or UNAVAILABLE</a:t>
                      </a:r>
                    </a:p>
                  </a:txBody>
                  <a:tcPr marL="91440" marR="91440" marT="45720" marB="45720">
                    <a:lnR w="9525">
                      <a:solidFill>
                        <a:srgbClr val="C6D6CB"/>
                      </a:solidFill>
                      <a:prstDash val="solid"/>
                    </a:lnR>
                    <a:lnB w="9525">
                      <a:solidFill>
                        <a:srgbClr val="C6D6CB"/>
                      </a:solidFill>
                      <a:prstDash val="solid"/>
                    </a:lnB>
                    <a:solidFill>
                      <a:srgbClr val="FFFFFF"/>
                    </a:solidFill>
                  </a:tcPr>
                </a:tc>
              </a:tr>
              <a:tr h="698500">
                <a:tc>
                  <a:txBody>
                    <a:bodyPr/>
                    <a:lstStyle/>
                    <a:p>
                      <a:r>
                        <a:rPr sz="1725" b="0">
                          <a:solidFill>
                            <a:srgbClr val="183D34"/>
                          </a:solidFill>
                        </a:rPr>
                        <a:t>Customer authentication</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E2EDE3"/>
                    </a:solidFill>
                  </a:tcPr>
                </a:tc>
                <a:tc>
                  <a:txBody>
                    <a:bodyPr/>
                    <a:lstStyle/>
                    <a:p>
                      <a:r>
                        <a:rPr sz="1725" b="0">
                          <a:solidFill>
                            <a:srgbClr val="183D34"/>
                          </a:solidFill>
                        </a:rPr>
                        <a:t>Local challenge simulator</a:t>
                      </a:r>
                    </a:p>
                  </a:txBody>
                  <a:tcPr marL="91440" marR="91440" marT="45720" marB="45720">
                    <a:lnR w="9525">
                      <a:solidFill>
                        <a:srgbClr val="C6D6CB"/>
                      </a:solidFill>
                      <a:prstDash val="solid"/>
                    </a:lnR>
                    <a:lnB w="9525">
                      <a:solidFill>
                        <a:srgbClr val="C6D6CB"/>
                      </a:solidFill>
                      <a:prstDash val="solid"/>
                    </a:lnB>
                    <a:solidFill>
                      <a:srgbClr val="E2EDE3"/>
                    </a:solidFill>
                  </a:tcPr>
                </a:tc>
                <a:tc>
                  <a:txBody>
                    <a:bodyPr/>
                    <a:lstStyle/>
                    <a:p>
                      <a:r>
                        <a:rPr sz="1725" b="0">
                          <a:solidFill>
                            <a:srgbClr val="183D34"/>
                          </a:solidFill>
                        </a:rPr>
                        <a:t>Pass before expiry before proceeding</a:t>
                      </a:r>
                    </a:p>
                  </a:txBody>
                  <a:tcPr marL="91440" marR="91440" marT="45720" marB="45720">
                    <a:lnR w="9525">
                      <a:solidFill>
                        <a:srgbClr val="C6D6CB"/>
                      </a:solidFill>
                      <a:prstDash val="solid"/>
                    </a:lnR>
                    <a:lnB w="9525">
                      <a:solidFill>
                        <a:srgbClr val="C6D6CB"/>
                      </a:solidFill>
                      <a:prstDash val="solid"/>
                    </a:lnB>
                    <a:solidFill>
                      <a:srgbClr val="E2EDE3"/>
                    </a:solidFill>
                  </a:tcPr>
                </a:tc>
              </a:tr>
              <a:tr h="698500">
                <a:tc>
                  <a:txBody>
                    <a:bodyPr/>
                    <a:lstStyle/>
                    <a:p>
                      <a:r>
                        <a:rPr sz="1725" b="0">
                          <a:solidFill>
                            <a:srgbClr val="183D34"/>
                          </a:solidFill>
                        </a:rPr>
                        <a:t>Analyst release</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Simulated analyst and supervisor</a:t>
                      </a:r>
                    </a:p>
                  </a:txBody>
                  <a:tcPr marL="91440" marR="91440" marT="45720" marB="45720">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REVIEW only, fresh evidence and expiry</a:t>
                      </a:r>
                    </a:p>
                  </a:txBody>
                  <a:tcPr marL="91440" marR="91440" marT="45720" marB="45720">
                    <a:lnR w="9525">
                      <a:solidFill>
                        <a:srgbClr val="C6D6CB"/>
                      </a:solidFill>
                      <a:prstDash val="solid"/>
                    </a:lnR>
                    <a:lnB w="9525">
                      <a:solidFill>
                        <a:srgbClr val="C6D6CB"/>
                      </a:solidFill>
                      <a:prstDash val="solid"/>
                    </a:lnB>
                    <a:solidFill>
                      <a:srgbClr val="FFFFFF"/>
                    </a:solidFill>
                  </a:tcPr>
                </a:tc>
              </a:tr>
              <a:tr h="698500">
                <a:tc>
                  <a:txBody>
                    <a:bodyPr/>
                    <a:lstStyle/>
                    <a:p>
                      <a:r>
                        <a:rPr sz="1725" b="0">
                          <a:solidFill>
                            <a:srgbClr val="183D34"/>
                          </a:solidFill>
                        </a:rPr>
                        <a:t>Payment authorization</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E2EDE3"/>
                    </a:solidFill>
                  </a:tcPr>
                </a:tc>
                <a:tc>
                  <a:txBody>
                    <a:bodyPr/>
                    <a:lstStyle/>
                    <a:p>
                      <a:r>
                        <a:rPr sz="1725" b="0">
                          <a:solidFill>
                            <a:srgbClr val="183D34"/>
                          </a:solidFill>
                        </a:rPr>
                        <a:t>Gateway and issuer simulators</a:t>
                      </a:r>
                    </a:p>
                  </a:txBody>
                  <a:tcPr marL="91440" marR="91440" marT="45720" marB="45720">
                    <a:lnR w="9525">
                      <a:solidFill>
                        <a:srgbClr val="C6D6CB"/>
                      </a:solidFill>
                      <a:prstDash val="solid"/>
                    </a:lnR>
                    <a:lnB w="9525">
                      <a:solidFill>
                        <a:srgbClr val="C6D6CB"/>
                      </a:solidFill>
                      <a:prstDash val="solid"/>
                    </a:lnB>
                    <a:solidFill>
                      <a:srgbClr val="E2EDE3"/>
                    </a:solidFill>
                  </a:tcPr>
                </a:tc>
                <a:tc>
                  <a:txBody>
                    <a:bodyPr/>
                    <a:lstStyle/>
                    <a:p>
                      <a:r>
                        <a:rPr sz="1725" b="0">
                          <a:solidFill>
                            <a:srgbClr val="183D34"/>
                          </a:solidFill>
                        </a:rPr>
                        <a:t>Issuer may decline after fraud clearance</a:t>
                      </a:r>
                    </a:p>
                  </a:txBody>
                  <a:tcPr marL="91440" marR="91440" marT="45720" marB="45720">
                    <a:lnR w="9525">
                      <a:solidFill>
                        <a:srgbClr val="C6D6CB"/>
                      </a:solidFill>
                      <a:prstDash val="solid"/>
                    </a:lnR>
                    <a:lnB w="9525">
                      <a:solidFill>
                        <a:srgbClr val="C6D6CB"/>
                      </a:solidFill>
                      <a:prstDash val="solid"/>
                    </a:lnB>
                    <a:solidFill>
                      <a:srgbClr val="E2EDE3"/>
                    </a:solidFill>
                  </a:tcPr>
                </a:tc>
              </a:tr>
              <a:tr h="698500">
                <a:tc>
                  <a:txBody>
                    <a:bodyPr/>
                    <a:lstStyle/>
                    <a:p>
                      <a:r>
                        <a:rPr sz="1725" b="0">
                          <a:solidFill>
                            <a:srgbClr val="183D34"/>
                          </a:solidFill>
                        </a:rPr>
                        <a:t>Unknown authorization</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Receipt reconciliation</a:t>
                      </a:r>
                    </a:p>
                  </a:txBody>
                  <a:tcPr marL="91440" marR="91440" marT="45720" marB="45720">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No blind retry or duplicate authorization</a:t>
                      </a:r>
                    </a:p>
                  </a:txBody>
                  <a:tcPr marL="91440" marR="91440" marT="45720" marB="45720">
                    <a:lnR w="9525">
                      <a:solidFill>
                        <a:srgbClr val="C6D6CB"/>
                      </a:solidFill>
                      <a:prstDash val="solid"/>
                    </a:lnR>
                    <a:lnB w="9525">
                      <a:solidFill>
                        <a:srgbClr val="C6D6CB"/>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ADA182E-E7D0-4631-A1C6-8A9D44E48086}"/>
              </a:ext>
            </a:extLst>
          </p:cNvPr>
          <p:cNvSpPr>
            <a:spLocks xmlns:a="http://schemas.openxmlformats.org/drawingml/2006/main" noGrp="1"/>
          </p:cNvSpPr>
          <p:nvPr/>
        </p:nvSpPr>
        <p:spPr>
          <a:xfrm xmlns:a="http://schemas.openxmlformats.org/drawingml/2006/main">
            <a:off x="609600" y="5953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8A4D16"/>
                </a:solidFill>
              </a:defRPr>
            </a:defPPr>
            <a:lvl1pPr>
              <a:defRPr sz="1800" b="1">
                <a:solidFill>
                  <a:srgbClr val="8A4D16"/>
                </a:solidFill>
              </a:defRPr>
            </a:lvl1pPr>
            <a:lvl2pPr>
              <a:defRPr sz="1800" b="1">
                <a:solidFill>
                  <a:srgbClr val="8A4D16"/>
                </a:solidFill>
              </a:defRPr>
            </a:lvl2pPr>
            <a:lvl3pPr>
              <a:defRPr sz="1800" b="1">
                <a:solidFill>
                  <a:srgbClr val="8A4D16"/>
                </a:solidFill>
              </a:defRPr>
            </a:lvl3pPr>
            <a:lvl4pPr>
              <a:defRPr sz="1800" b="1">
                <a:solidFill>
                  <a:srgbClr val="8A4D16"/>
                </a:solidFill>
              </a:defRPr>
            </a:lvl4pPr>
            <a:lvl5pPr>
              <a:defRPr sz="1800" b="1">
                <a:solidFill>
                  <a:srgbClr val="8A4D16"/>
                </a:solidFill>
              </a:defRPr>
            </a:lvl5pPr>
            <a:lvl6pPr>
              <a:defRPr sz="1800" b="1">
                <a:solidFill>
                  <a:srgbClr val="8A4D16"/>
                </a:solidFill>
              </a:defRPr>
            </a:lvl6pPr>
            <a:lvl7pPr>
              <a:defRPr sz="1800" b="1">
                <a:solidFill>
                  <a:srgbClr val="8A4D16"/>
                </a:solidFill>
              </a:defRPr>
            </a:lvl7pPr>
            <a:lvl8pPr>
              <a:defRPr sz="1800" b="1">
                <a:solidFill>
                  <a:srgbClr val="8A4D16"/>
                </a:solidFill>
              </a:defRPr>
            </a:lvl8pPr>
            <a:lvl9pPr>
              <a:defRPr sz="1800" b="1">
                <a:solidFill>
                  <a:srgbClr val="8A4D16"/>
                </a:solidFill>
              </a:defRPr>
            </a:lvl9pPr>
          </a:lstStyle>
          <a:p xmlns:a="http://schemas.openxmlformats.org/drawingml/2006/main">
            <a:pPr>
              <a:defRPr sz="1800" b="1">
                <a:solidFill>
                  <a:srgbClr val="8A4D16"/>
                </a:solidFill>
              </a:defRPr>
            </a:pPr>
            <a:r>
              <a:rPr sz="1800" b="1">
                <a:solidFill>
                  <a:srgbClr val="8A4D16"/>
                </a:solidFill>
              </a:rPr>
              <a:t>An analyst release never overrides a block, failed authentication or an issuer decline.</a:t>
            </a:r>
          </a:p>
        </p:txBody>
      </p:sp>
    </p:spTree>
    <p:extLst>
      <p:ext uri="{BB962C8B-B14F-4D97-AF65-F5344CB8AC3E}">
        <p14:creationId xmlns:p14="http://schemas.microsoft.com/office/powerpoint/2010/main" val="1985884518"/>
      </p:ext>
    </p:extLst>
  </p:cSld>
</p:sld>
</file>

<file path=ppt/slides/slide16.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23FCE85-554C-4FEF-8D9B-3A58DF8B7465}"/>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D34"/>
                </a:solidFill>
              </a:defRPr>
            </a:defPPr>
            <a:lvl1pPr>
              <a:defRPr sz="3000" b="1">
                <a:solidFill>
                  <a:srgbClr val="183D34"/>
                </a:solidFill>
              </a:defRPr>
            </a:lvl1pPr>
            <a:lvl2pPr>
              <a:defRPr sz="3000" b="1">
                <a:solidFill>
                  <a:srgbClr val="183D34"/>
                </a:solidFill>
              </a:defRPr>
            </a:lvl2pPr>
            <a:lvl3pPr>
              <a:defRPr sz="3000" b="1">
                <a:solidFill>
                  <a:srgbClr val="183D34"/>
                </a:solidFill>
              </a:defRPr>
            </a:lvl3pPr>
            <a:lvl4pPr>
              <a:defRPr sz="3000" b="1">
                <a:solidFill>
                  <a:srgbClr val="183D34"/>
                </a:solidFill>
              </a:defRPr>
            </a:lvl4pPr>
            <a:lvl5pPr>
              <a:defRPr sz="3000" b="1">
                <a:solidFill>
                  <a:srgbClr val="183D34"/>
                </a:solidFill>
              </a:defRPr>
            </a:lvl5pPr>
            <a:lvl6pPr>
              <a:defRPr sz="3000" b="1">
                <a:solidFill>
                  <a:srgbClr val="183D34"/>
                </a:solidFill>
              </a:defRPr>
            </a:lvl6pPr>
            <a:lvl7pPr>
              <a:defRPr sz="3000" b="1">
                <a:solidFill>
                  <a:srgbClr val="183D34"/>
                </a:solidFill>
              </a:defRPr>
            </a:lvl7pPr>
            <a:lvl8pPr>
              <a:defRPr sz="3000" b="1">
                <a:solidFill>
                  <a:srgbClr val="183D34"/>
                </a:solidFill>
              </a:defRPr>
            </a:lvl8pPr>
            <a:lvl9pPr>
              <a:defRPr sz="3000" b="1">
                <a:solidFill>
                  <a:srgbClr val="183D34"/>
                </a:solidFill>
              </a:defRPr>
            </a:lvl9pPr>
          </a:lstStyle>
          <a:p xmlns:a="http://schemas.openxmlformats.org/drawingml/2006/main">
            <a:pPr>
              <a:defRPr sz="3000" b="1">
                <a:solidFill>
                  <a:srgbClr val="183D34"/>
                </a:solidFill>
              </a:defRPr>
            </a:pPr>
            <a:r>
              <a:rPr sz="3000" b="1">
                <a:solidFill>
                  <a:srgbClr val="183D34"/>
                </a:solidFill>
              </a:rPr>
              <a:t>Fraud Guard: real versus synthetic</a:t>
            </a:r>
          </a:p>
        </p:txBody>
      </p:sp>
      <p:sp>
        <p:nvSpPr>
          <p:cNvPr id="3" name="">
            <a:extLst xmlns:a="http://schemas.openxmlformats.org/drawingml/2006/main">
              <a:ext uri="{FF2B5EF4-FFF2-40B4-BE49-F238E27FC236}">
                <a16:creationId xmlns:a16="http://schemas.microsoft.com/office/drawing/2014/main" id="{C634F66D-F593-43D3-8079-AF731520A659}"/>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A62"/>
                </a:solidFill>
              </a:defRPr>
            </a:defPPr>
            <a:lvl1pPr>
              <a:defRPr sz="1200" b="0">
                <a:solidFill>
                  <a:srgbClr val="536A62"/>
                </a:solidFill>
              </a:defRPr>
            </a:lvl1pPr>
            <a:lvl2pPr>
              <a:defRPr sz="1200" b="0">
                <a:solidFill>
                  <a:srgbClr val="536A62"/>
                </a:solidFill>
              </a:defRPr>
            </a:lvl2pPr>
            <a:lvl3pPr>
              <a:defRPr sz="1200" b="0">
                <a:solidFill>
                  <a:srgbClr val="536A62"/>
                </a:solidFill>
              </a:defRPr>
            </a:lvl3pPr>
            <a:lvl4pPr>
              <a:defRPr sz="1200" b="0">
                <a:solidFill>
                  <a:srgbClr val="536A62"/>
                </a:solidFill>
              </a:defRPr>
            </a:lvl4pPr>
            <a:lvl5pPr>
              <a:defRPr sz="1200" b="0">
                <a:solidFill>
                  <a:srgbClr val="536A62"/>
                </a:solidFill>
              </a:defRPr>
            </a:lvl5pPr>
            <a:lvl6pPr>
              <a:defRPr sz="1200" b="0">
                <a:solidFill>
                  <a:srgbClr val="536A62"/>
                </a:solidFill>
              </a:defRPr>
            </a:lvl6pPr>
            <a:lvl7pPr>
              <a:defRPr sz="1200" b="0">
                <a:solidFill>
                  <a:srgbClr val="536A62"/>
                </a:solidFill>
              </a:defRPr>
            </a:lvl7pPr>
            <a:lvl8pPr>
              <a:defRPr sz="1200" b="0">
                <a:solidFill>
                  <a:srgbClr val="536A62"/>
                </a:solidFill>
              </a:defRPr>
            </a:lvl8pPr>
            <a:lvl9pPr>
              <a:defRPr sz="1200" b="0">
                <a:solidFill>
                  <a:srgbClr val="536A62"/>
                </a:solidFill>
              </a:defRPr>
            </a:lvl9pPr>
          </a:lstStyle>
          <a:p xmlns:a="http://schemas.openxmlformats.org/drawingml/2006/main">
            <a:pPr>
              <a:defRPr sz="1200" b="0">
                <a:solidFill>
                  <a:srgbClr val="536A62"/>
                </a:solidFill>
              </a:defRPr>
            </a:pPr>
            <a:r>
              <a:rPr sz="1200" b="0">
                <a:solidFill>
                  <a:srgbClr val="536A62"/>
                </a:solidFill>
              </a:rPr>
              <a:t>16</a:t>
            </a:r>
          </a:p>
        </p:txBody>
      </p:sp>
      <p:graphicFrame>
        <p:nvGraphicFramePr>
          <p:cNvPr id="4" name="">
            <a:extLst xmlns:a="http://schemas.openxmlformats.org/drawingml/2006/main">
              <a:ext uri="{FF2B5EF4-FFF2-40B4-BE49-F238E27FC236}">
                <a16:creationId xmlns:a16="http://schemas.microsoft.com/office/drawing/2014/main" id="{6219A6CE-409E-4DC1-B49A-DC166993494D}"/>
              </a:ext>
            </a:extLst>
          </p:cNvPr>
          <p:cNvGraphicFramePr/>
          <p:nvPr/>
        </p:nvGraphicFramePr>
        <p:xfrm>
          <a:off xmlns:a="http://schemas.openxmlformats.org/drawingml/2006/main" x="609600" y="1476375"/>
          <a:ext xmlns:a="http://schemas.openxmlformats.org/drawingml/2006/main" cx="10972800" cy="4238625"/>
        </p:xfrm>
        <a:graphic xmlns:a="http://schemas.openxmlformats.org/drawingml/2006/main">
          <a:graphicData uri="http://schemas.openxmlformats.org/drawingml/2006/table">
            <a:tbl>
              <a:tblPr/>
              <a:tblGrid>
                <a:gridCol w="2095500"/>
                <a:gridCol w="4333875"/>
                <a:gridCol w="4543425"/>
              </a:tblGrid>
              <a:tr h="706438">
                <a:tc>
                  <a:txBody>
                    <a:bodyPr/>
                    <a:lstStyle/>
                    <a:p>
                      <a:r>
                        <a:rPr sz="1725" b="1">
                          <a:solidFill>
                            <a:srgbClr val="FFFFFF"/>
                          </a:solidFill>
                        </a:rPr>
                        <a:t>Area</a:t>
                      </a:r>
                    </a:p>
                  </a:txBody>
                  <a:tcPr marL="91440" marR="91440" marT="45720" marB="45720">
                    <a:lnL w="9525">
                      <a:solidFill>
                        <a:srgbClr val="C6D6CB"/>
                      </a:solidFill>
                      <a:prstDash val="solid"/>
                    </a:lnL>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c>
                  <a:txBody>
                    <a:bodyPr/>
                    <a:lstStyle/>
                    <a:p>
                      <a:r>
                        <a:rPr sz="1725" b="1">
                          <a:solidFill>
                            <a:srgbClr val="FFFFFF"/>
                          </a:solidFill>
                        </a:rPr>
                        <a:t>Real implementation</a:t>
                      </a:r>
                    </a:p>
                  </a:txBody>
                  <a:tcPr marL="91440" marR="91440" marT="45720" marB="45720">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c>
                  <a:txBody>
                    <a:bodyPr/>
                    <a:lstStyle/>
                    <a:p>
                      <a:r>
                        <a:rPr sz="1725" b="1">
                          <a:solidFill>
                            <a:srgbClr val="FFFFFF"/>
                          </a:solidFill>
                        </a:rPr>
                        <a:t>Synthetic or pending</a:t>
                      </a:r>
                    </a:p>
                  </a:txBody>
                  <a:tcPr marL="91440" marR="91440" marT="45720" marB="45720">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r>
              <a:tr h="706438">
                <a:tc>
                  <a:txBody>
                    <a:bodyPr/>
                    <a:lstStyle/>
                    <a:p>
                      <a:r>
                        <a:rPr sz="1725" b="0">
                          <a:solidFill>
                            <a:srgbClr val="183D34"/>
                          </a:solidFill>
                        </a:rPr>
                        <a:t>Input and features</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Strict contract and rolling attempt counts</a:t>
                      </a:r>
                    </a:p>
                  </a:txBody>
                  <a:tcPr marL="91440" marR="91440" marT="45720" marB="45720">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SYN tokens, generated history, virtual clock</a:t>
                      </a:r>
                    </a:p>
                  </a:txBody>
                  <a:tcPr marL="91440" marR="91440" marT="45720" marB="45720">
                    <a:lnR w="9525">
                      <a:solidFill>
                        <a:srgbClr val="C6D6CB"/>
                      </a:solidFill>
                      <a:prstDash val="solid"/>
                    </a:lnR>
                    <a:lnB w="9525">
                      <a:solidFill>
                        <a:srgbClr val="C6D6CB"/>
                      </a:solidFill>
                      <a:prstDash val="solid"/>
                    </a:lnB>
                    <a:solidFill>
                      <a:srgbClr val="FFFFFF"/>
                    </a:solidFill>
                  </a:tcPr>
                </a:tc>
              </a:tr>
              <a:tr h="706438">
                <a:tc>
                  <a:txBody>
                    <a:bodyPr/>
                    <a:lstStyle/>
                    <a:p>
                      <a:r>
                        <a:rPr sz="1725" b="0">
                          <a:solidFill>
                            <a:srgbClr val="183D34"/>
                          </a:solidFill>
                        </a:rPr>
                        <a:t>Fraud checks</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E2EDE3"/>
                    </a:solidFill>
                  </a:tcPr>
                </a:tc>
                <a:tc>
                  <a:txBody>
                    <a:bodyPr/>
                    <a:lstStyle/>
                    <a:p>
                      <a:r>
                        <a:rPr sz="1725" b="0">
                          <a:solidFill>
                            <a:srgbClr val="183D34"/>
                          </a:solidFill>
                        </a:rPr>
                        <a:t>Versioned rules and reason codes</a:t>
                      </a:r>
                    </a:p>
                  </a:txBody>
                  <a:tcPr marL="91440" marR="91440" marT="45720" marB="45720">
                    <a:lnR w="9525">
                      <a:solidFill>
                        <a:srgbClr val="C6D6CB"/>
                      </a:solidFill>
                      <a:prstDash val="solid"/>
                    </a:lnR>
                    <a:lnB w="9525">
                      <a:solidFill>
                        <a:srgbClr val="C6D6CB"/>
                      </a:solidFill>
                      <a:prstDash val="solid"/>
                    </a:lnB>
                    <a:solidFill>
                      <a:srgbClr val="E2EDE3"/>
                    </a:solidFill>
                  </a:tcPr>
                </a:tc>
                <a:tc>
                  <a:txBody>
                    <a:bodyPr/>
                    <a:lstStyle/>
                    <a:p>
                      <a:r>
                        <a:rPr sz="1725" b="0">
                          <a:solidFill>
                            <a:srgbClr val="183D34"/>
                          </a:solidFill>
                        </a:rPr>
                        <a:t>Illustrative thresholds, no trained model</a:t>
                      </a:r>
                    </a:p>
                  </a:txBody>
                  <a:tcPr marL="91440" marR="91440" marT="45720" marB="45720">
                    <a:lnR w="9525">
                      <a:solidFill>
                        <a:srgbClr val="C6D6CB"/>
                      </a:solidFill>
                      <a:prstDash val="solid"/>
                    </a:lnR>
                    <a:lnB w="9525">
                      <a:solidFill>
                        <a:srgbClr val="C6D6CB"/>
                      </a:solidFill>
                      <a:prstDash val="solid"/>
                    </a:lnB>
                    <a:solidFill>
                      <a:srgbClr val="E2EDE3"/>
                    </a:solidFill>
                  </a:tcPr>
                </a:tc>
              </a:tr>
              <a:tr h="706438">
                <a:tc>
                  <a:txBody>
                    <a:bodyPr/>
                    <a:lstStyle/>
                    <a:p>
                      <a:r>
                        <a:rPr sz="1725" b="0">
                          <a:solidFill>
                            <a:srgbClr val="183D34"/>
                          </a:solidFill>
                        </a:rPr>
                        <a:t>Payments</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Idempotency, state transitions and receipts</a:t>
                      </a:r>
                    </a:p>
                  </a:txBody>
                  <a:tcPr marL="91440" marR="91440" marT="45720" marB="45720">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Local gateway and issuer adapters</a:t>
                      </a:r>
                    </a:p>
                  </a:txBody>
                  <a:tcPr marL="91440" marR="91440" marT="45720" marB="45720">
                    <a:lnR w="9525">
                      <a:solidFill>
                        <a:srgbClr val="C6D6CB"/>
                      </a:solidFill>
                      <a:prstDash val="solid"/>
                    </a:lnR>
                    <a:lnB w="9525">
                      <a:solidFill>
                        <a:srgbClr val="C6D6CB"/>
                      </a:solidFill>
                      <a:prstDash val="solid"/>
                    </a:lnB>
                    <a:solidFill>
                      <a:srgbClr val="FFFFFF"/>
                    </a:solidFill>
                  </a:tcPr>
                </a:tc>
              </a:tr>
              <a:tr h="706438">
                <a:tc>
                  <a:txBody>
                    <a:bodyPr/>
                    <a:lstStyle/>
                    <a:p>
                      <a:r>
                        <a:rPr sz="1725" b="0">
                          <a:solidFill>
                            <a:srgbClr val="183D34"/>
                          </a:solidFill>
                        </a:rPr>
                        <a:t>Approvals</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E2EDE3"/>
                    </a:solidFill>
                  </a:tcPr>
                </a:tc>
                <a:tc>
                  <a:txBody>
                    <a:bodyPr/>
                    <a:lstStyle/>
                    <a:p>
                      <a:r>
                        <a:rPr sz="1725" b="0">
                          <a:solidFill>
                            <a:srgbClr val="183D34"/>
                          </a:solidFill>
                        </a:rPr>
                        <a:t>Distinct roles, evidence hash and expiry checks</a:t>
                      </a:r>
                    </a:p>
                  </a:txBody>
                  <a:tcPr marL="91440" marR="91440" marT="45720" marB="45720">
                    <a:lnR w="9525">
                      <a:solidFill>
                        <a:srgbClr val="C6D6CB"/>
                      </a:solidFill>
                      <a:prstDash val="solid"/>
                    </a:lnR>
                    <a:lnB w="9525">
                      <a:solidFill>
                        <a:srgbClr val="C6D6CB"/>
                      </a:solidFill>
                      <a:prstDash val="solid"/>
                    </a:lnB>
                    <a:solidFill>
                      <a:srgbClr val="E2EDE3"/>
                    </a:solidFill>
                  </a:tcPr>
                </a:tc>
                <a:tc>
                  <a:txBody>
                    <a:bodyPr/>
                    <a:lstStyle/>
                    <a:p>
                      <a:r>
                        <a:rPr sz="1725" b="0">
                          <a:solidFill>
                            <a:srgbClr val="183D34"/>
                          </a:solidFill>
                        </a:rPr>
                        <a:t>Simulated names, no enterprise identity</a:t>
                      </a:r>
                    </a:p>
                  </a:txBody>
                  <a:tcPr marL="91440" marR="91440" marT="45720" marB="45720">
                    <a:lnR w="9525">
                      <a:solidFill>
                        <a:srgbClr val="C6D6CB"/>
                      </a:solidFill>
                      <a:prstDash val="solid"/>
                    </a:lnR>
                    <a:lnB w="9525">
                      <a:solidFill>
                        <a:srgbClr val="C6D6CB"/>
                      </a:solidFill>
                      <a:prstDash val="solid"/>
                    </a:lnB>
                    <a:solidFill>
                      <a:srgbClr val="E2EDE3"/>
                    </a:solidFill>
                  </a:tcPr>
                </a:tc>
              </a:tr>
              <a:tr h="706438">
                <a:tc>
                  <a:txBody>
                    <a:bodyPr/>
                    <a:lstStyle/>
                    <a:p>
                      <a:r>
                        <a:rPr sz="1725" b="0">
                          <a:solidFill>
                            <a:srgbClr val="183D34"/>
                          </a:solidFill>
                        </a:rPr>
                        <a:t>Investigation</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Persisted Signal case and historical snapshots</a:t>
                      </a:r>
                    </a:p>
                  </a:txBody>
                  <a:tcPr marL="91440" marR="91440" marT="45720" marB="45720">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Declared flow, no live card or table lineage</a:t>
                      </a:r>
                    </a:p>
                  </a:txBody>
                  <a:tcPr marL="91440" marR="91440" marT="45720" marB="45720">
                    <a:lnR w="9525">
                      <a:solidFill>
                        <a:srgbClr val="C6D6CB"/>
                      </a:solidFill>
                      <a:prstDash val="solid"/>
                    </a:lnR>
                    <a:lnB w="9525">
                      <a:solidFill>
                        <a:srgbClr val="C6D6CB"/>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7E95EF3-AF42-4ABD-964F-C8671D081D41}"/>
              </a:ext>
            </a:extLst>
          </p:cNvPr>
          <p:cNvSpPr>
            <a:spLocks xmlns:a="http://schemas.openxmlformats.org/drawingml/2006/main" noGrp="1"/>
          </p:cNvSpPr>
          <p:nvPr/>
        </p:nvSpPr>
        <p:spPr>
          <a:xfrm xmlns:a="http://schemas.openxmlformats.org/drawingml/2006/main">
            <a:off x="609600" y="5953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8A4D16"/>
                </a:solidFill>
              </a:defRPr>
            </a:defPPr>
            <a:lvl1pPr>
              <a:defRPr sz="1725" b="1">
                <a:solidFill>
                  <a:srgbClr val="8A4D16"/>
                </a:solidFill>
              </a:defRPr>
            </a:lvl1pPr>
            <a:lvl2pPr>
              <a:defRPr sz="1725" b="1">
                <a:solidFill>
                  <a:srgbClr val="8A4D16"/>
                </a:solidFill>
              </a:defRPr>
            </a:lvl2pPr>
            <a:lvl3pPr>
              <a:defRPr sz="1725" b="1">
                <a:solidFill>
                  <a:srgbClr val="8A4D16"/>
                </a:solidFill>
              </a:defRPr>
            </a:lvl3pPr>
            <a:lvl4pPr>
              <a:defRPr sz="1725" b="1">
                <a:solidFill>
                  <a:srgbClr val="8A4D16"/>
                </a:solidFill>
              </a:defRPr>
            </a:lvl4pPr>
            <a:lvl5pPr>
              <a:defRPr sz="1725" b="1">
                <a:solidFill>
                  <a:srgbClr val="8A4D16"/>
                </a:solidFill>
              </a:defRPr>
            </a:lvl5pPr>
            <a:lvl6pPr>
              <a:defRPr sz="1725" b="1">
                <a:solidFill>
                  <a:srgbClr val="8A4D16"/>
                </a:solidFill>
              </a:defRPr>
            </a:lvl6pPr>
            <a:lvl7pPr>
              <a:defRPr sz="1725" b="1">
                <a:solidFill>
                  <a:srgbClr val="8A4D16"/>
                </a:solidFill>
              </a:defRPr>
            </a:lvl7pPr>
            <a:lvl8pPr>
              <a:defRPr sz="1725" b="1">
                <a:solidFill>
                  <a:srgbClr val="8A4D16"/>
                </a:solidFill>
              </a:defRPr>
            </a:lvl8pPr>
            <a:lvl9pPr>
              <a:defRPr sz="1725" b="1">
                <a:solidFill>
                  <a:srgbClr val="8A4D16"/>
                </a:solidFill>
              </a:defRPr>
            </a:lvl9pPr>
          </a:lstStyle>
          <a:p xmlns:a="http://schemas.openxmlformats.org/drawingml/2006/main">
            <a:pPr>
              <a:defRPr sz="1725" b="1">
                <a:solidFill>
                  <a:srgbClr val="8A4D16"/>
                </a:solidFill>
              </a:defRPr>
            </a:pPr>
            <a:r>
              <a:rPr sz="1725" b="1">
                <a:solidFill>
                  <a:srgbClr val="8A4D16"/>
                </a:solidFill>
              </a:rPr>
              <a:t>No real card data, payment network, EMV 3DS, Databricks or model connection participates.</a:t>
            </a:r>
          </a:p>
        </p:txBody>
      </p:sp>
    </p:spTree>
    <p:extLst>
      <p:ext uri="{BB962C8B-B14F-4D97-AF65-F5344CB8AC3E}">
        <p14:creationId xmlns:p14="http://schemas.microsoft.com/office/powerpoint/2010/main" val="2025393493"/>
      </p:ext>
    </p:extLst>
  </p:cSld>
</p:sld>
</file>

<file path=ppt/slides/slide17.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CB0F53D-5616-4BAB-A556-BC48048C008E}"/>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D34"/>
                </a:solidFill>
              </a:defRPr>
            </a:defPPr>
            <a:lvl1pPr>
              <a:defRPr sz="3000" b="1">
                <a:solidFill>
                  <a:srgbClr val="183D34"/>
                </a:solidFill>
              </a:defRPr>
            </a:lvl1pPr>
            <a:lvl2pPr>
              <a:defRPr sz="3000" b="1">
                <a:solidFill>
                  <a:srgbClr val="183D34"/>
                </a:solidFill>
              </a:defRPr>
            </a:lvl2pPr>
            <a:lvl3pPr>
              <a:defRPr sz="3000" b="1">
                <a:solidFill>
                  <a:srgbClr val="183D34"/>
                </a:solidFill>
              </a:defRPr>
            </a:lvl3pPr>
            <a:lvl4pPr>
              <a:defRPr sz="3000" b="1">
                <a:solidFill>
                  <a:srgbClr val="183D34"/>
                </a:solidFill>
              </a:defRPr>
            </a:lvl4pPr>
            <a:lvl5pPr>
              <a:defRPr sz="3000" b="1">
                <a:solidFill>
                  <a:srgbClr val="183D34"/>
                </a:solidFill>
              </a:defRPr>
            </a:lvl5pPr>
            <a:lvl6pPr>
              <a:defRPr sz="3000" b="1">
                <a:solidFill>
                  <a:srgbClr val="183D34"/>
                </a:solidFill>
              </a:defRPr>
            </a:lvl6pPr>
            <a:lvl7pPr>
              <a:defRPr sz="3000" b="1">
                <a:solidFill>
                  <a:srgbClr val="183D34"/>
                </a:solidFill>
              </a:defRPr>
            </a:lvl7pPr>
            <a:lvl8pPr>
              <a:defRPr sz="3000" b="1">
                <a:solidFill>
                  <a:srgbClr val="183D34"/>
                </a:solidFill>
              </a:defRPr>
            </a:lvl8pPr>
            <a:lvl9pPr>
              <a:defRPr sz="3000" b="1">
                <a:solidFill>
                  <a:srgbClr val="183D34"/>
                </a:solidFill>
              </a:defRPr>
            </a:lvl9pPr>
          </a:lstStyle>
          <a:p xmlns:a="http://schemas.openxmlformats.org/drawingml/2006/main">
            <a:pPr>
              <a:defRPr sz="3000" b="1">
                <a:solidFill>
                  <a:srgbClr val="183D34"/>
                </a:solidFill>
              </a:defRPr>
            </a:pPr>
            <a:r>
              <a:rPr sz="3000" b="1">
                <a:solidFill>
                  <a:srgbClr val="183D34"/>
                </a:solidFill>
              </a:rPr>
              <a:t>Guided payment demo</a:t>
            </a:r>
          </a:p>
        </p:txBody>
      </p:sp>
      <p:sp>
        <p:nvSpPr>
          <p:cNvPr id="3" name="">
            <a:extLst xmlns:a="http://schemas.openxmlformats.org/drawingml/2006/main">
              <a:ext uri="{FF2B5EF4-FFF2-40B4-BE49-F238E27FC236}">
                <a16:creationId xmlns:a16="http://schemas.microsoft.com/office/drawing/2014/main" id="{87D5B151-808A-478E-AD61-DD7FDF47B6C9}"/>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A62"/>
                </a:solidFill>
              </a:defRPr>
            </a:defPPr>
            <a:lvl1pPr>
              <a:defRPr sz="1200" b="0">
                <a:solidFill>
                  <a:srgbClr val="536A62"/>
                </a:solidFill>
              </a:defRPr>
            </a:lvl1pPr>
            <a:lvl2pPr>
              <a:defRPr sz="1200" b="0">
                <a:solidFill>
                  <a:srgbClr val="536A62"/>
                </a:solidFill>
              </a:defRPr>
            </a:lvl2pPr>
            <a:lvl3pPr>
              <a:defRPr sz="1200" b="0">
                <a:solidFill>
                  <a:srgbClr val="536A62"/>
                </a:solidFill>
              </a:defRPr>
            </a:lvl3pPr>
            <a:lvl4pPr>
              <a:defRPr sz="1200" b="0">
                <a:solidFill>
                  <a:srgbClr val="536A62"/>
                </a:solidFill>
              </a:defRPr>
            </a:lvl4pPr>
            <a:lvl5pPr>
              <a:defRPr sz="1200" b="0">
                <a:solidFill>
                  <a:srgbClr val="536A62"/>
                </a:solidFill>
              </a:defRPr>
            </a:lvl5pPr>
            <a:lvl6pPr>
              <a:defRPr sz="1200" b="0">
                <a:solidFill>
                  <a:srgbClr val="536A62"/>
                </a:solidFill>
              </a:defRPr>
            </a:lvl6pPr>
            <a:lvl7pPr>
              <a:defRPr sz="1200" b="0">
                <a:solidFill>
                  <a:srgbClr val="536A62"/>
                </a:solidFill>
              </a:defRPr>
            </a:lvl7pPr>
            <a:lvl8pPr>
              <a:defRPr sz="1200" b="0">
                <a:solidFill>
                  <a:srgbClr val="536A62"/>
                </a:solidFill>
              </a:defRPr>
            </a:lvl8pPr>
            <a:lvl9pPr>
              <a:defRPr sz="1200" b="0">
                <a:solidFill>
                  <a:srgbClr val="536A62"/>
                </a:solidFill>
              </a:defRPr>
            </a:lvl9pPr>
          </a:lstStyle>
          <a:p xmlns:a="http://schemas.openxmlformats.org/drawingml/2006/main">
            <a:pPr>
              <a:defRPr sz="1200" b="0">
                <a:solidFill>
                  <a:srgbClr val="536A62"/>
                </a:solidFill>
              </a:defRPr>
            </a:pPr>
            <a:r>
              <a:rPr sz="1200" b="0">
                <a:solidFill>
                  <a:srgbClr val="536A62"/>
                </a:solidFill>
              </a:rPr>
              <a:t>17</a:t>
            </a:r>
          </a:p>
        </p:txBody>
      </p:sp>
      <p:sp>
        <p:nvSpPr>
          <p:cNvPr id="4" name="">
            <a:extLst xmlns:a="http://schemas.openxmlformats.org/drawingml/2006/main">
              <a:ext uri="{FF2B5EF4-FFF2-40B4-BE49-F238E27FC236}">
                <a16:creationId xmlns:a16="http://schemas.microsoft.com/office/drawing/2014/main" id="{1536ACD2-31AF-41F2-BE40-BC082EDF9E0D}"/>
              </a:ext>
            </a:extLst>
          </p:cNvPr>
          <p:cNvSpPr>
            <a:spLocks xmlns:a="http://schemas.openxmlformats.org/drawingml/2006/main" noGrp="1"/>
          </p:cNvSpPr>
          <p:nvPr/>
        </p:nvSpPr>
        <p:spPr>
          <a:xfrm xmlns:a="http://schemas.openxmlformats.org/drawingml/2006/main">
            <a:off x="609600" y="1428750"/>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A6B4D"/>
                </a:solidFill>
              </a:defRPr>
            </a:defPPr>
            <a:lvl1pPr>
              <a:defRPr sz="2400" b="1">
                <a:solidFill>
                  <a:srgbClr val="2A6B4D"/>
                </a:solidFill>
              </a:defRPr>
            </a:lvl1pPr>
            <a:lvl2pPr>
              <a:defRPr sz="2400" b="1">
                <a:solidFill>
                  <a:srgbClr val="2A6B4D"/>
                </a:solidFill>
              </a:defRPr>
            </a:lvl2pPr>
            <a:lvl3pPr>
              <a:defRPr sz="2400" b="1">
                <a:solidFill>
                  <a:srgbClr val="2A6B4D"/>
                </a:solidFill>
              </a:defRPr>
            </a:lvl3pPr>
            <a:lvl4pPr>
              <a:defRPr sz="2400" b="1">
                <a:solidFill>
                  <a:srgbClr val="2A6B4D"/>
                </a:solidFill>
              </a:defRPr>
            </a:lvl4pPr>
            <a:lvl5pPr>
              <a:defRPr sz="2400" b="1">
                <a:solidFill>
                  <a:srgbClr val="2A6B4D"/>
                </a:solidFill>
              </a:defRPr>
            </a:lvl5pPr>
            <a:lvl6pPr>
              <a:defRPr sz="2400" b="1">
                <a:solidFill>
                  <a:srgbClr val="2A6B4D"/>
                </a:solidFill>
              </a:defRPr>
            </a:lvl6pPr>
            <a:lvl7pPr>
              <a:defRPr sz="2400" b="1">
                <a:solidFill>
                  <a:srgbClr val="2A6B4D"/>
                </a:solidFill>
              </a:defRPr>
            </a:lvl7pPr>
            <a:lvl8pPr>
              <a:defRPr sz="2400" b="1">
                <a:solidFill>
                  <a:srgbClr val="2A6B4D"/>
                </a:solidFill>
              </a:defRPr>
            </a:lvl8pPr>
            <a:lvl9pPr>
              <a:defRPr sz="2400" b="1">
                <a:solidFill>
                  <a:srgbClr val="2A6B4D"/>
                </a:solidFill>
              </a:defRPr>
            </a:lvl9pPr>
          </a:lstStyle>
          <a:p xmlns:a="http://schemas.openxmlformats.org/drawingml/2006/main">
            <a:pPr>
              <a:defRPr sz="2400" b="1">
                <a:solidFill>
                  <a:srgbClr val="2A6B4D"/>
                </a:solidFill>
              </a:defRPr>
            </a:pPr>
            <a:r>
              <a:rPr sz="2400" b="1">
                <a:solidFill>
                  <a:srgbClr val="2A6B4D"/>
                </a:solidFill>
              </a:rPr>
              <a:t>Nine steps, about one minute</a:t>
            </a:r>
          </a:p>
        </p:txBody>
      </p:sp>
      <p:sp>
        <p:nvSpPr>
          <p:cNvPr id="5" name="">
            <a:extLst xmlns:a="http://schemas.openxmlformats.org/drawingml/2006/main">
              <a:ext uri="{FF2B5EF4-FFF2-40B4-BE49-F238E27FC236}">
                <a16:creationId xmlns:a16="http://schemas.microsoft.com/office/drawing/2014/main" id="{5ACDDC1C-FCB0-4730-92FB-4CB1B7D2B55E}"/>
              </a:ext>
            </a:extLst>
          </p:cNvPr>
          <p:cNvSpPr>
            <a:spLocks xmlns:a="http://schemas.openxmlformats.org/drawingml/2006/main" noGrp="1"/>
          </p:cNvSpPr>
          <p:nvPr/>
        </p:nvSpPr>
        <p:spPr>
          <a:xfrm xmlns:a="http://schemas.openxmlformats.org/drawingml/2006/main">
            <a:off x="609600" y="233362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83D34"/>
                </a:solidFill>
              </a:defRPr>
            </a:defPPr>
            <a:lvl1pPr>
              <a:defRPr sz="1950" b="0">
                <a:solidFill>
                  <a:srgbClr val="183D34"/>
                </a:solidFill>
              </a:defRPr>
            </a:lvl1pPr>
            <a:lvl2pPr>
              <a:defRPr sz="1950" b="0">
                <a:solidFill>
                  <a:srgbClr val="183D34"/>
                </a:solidFill>
              </a:defRPr>
            </a:lvl2pPr>
            <a:lvl3pPr>
              <a:defRPr sz="1950" b="0">
                <a:solidFill>
                  <a:srgbClr val="183D34"/>
                </a:solidFill>
              </a:defRPr>
            </a:lvl3pPr>
            <a:lvl4pPr>
              <a:defRPr sz="1950" b="0">
                <a:solidFill>
                  <a:srgbClr val="183D34"/>
                </a:solidFill>
              </a:defRPr>
            </a:lvl4pPr>
            <a:lvl5pPr>
              <a:defRPr sz="1950" b="0">
                <a:solidFill>
                  <a:srgbClr val="183D34"/>
                </a:solidFill>
              </a:defRPr>
            </a:lvl5pPr>
            <a:lvl6pPr>
              <a:defRPr sz="1950" b="0">
                <a:solidFill>
                  <a:srgbClr val="183D34"/>
                </a:solidFill>
              </a:defRPr>
            </a:lvl6pPr>
            <a:lvl7pPr>
              <a:defRPr sz="1950" b="0">
                <a:solidFill>
                  <a:srgbClr val="183D34"/>
                </a:solidFill>
              </a:defRPr>
            </a:lvl7pPr>
            <a:lvl8pPr>
              <a:defRPr sz="1950" b="0">
                <a:solidFill>
                  <a:srgbClr val="183D34"/>
                </a:solidFill>
              </a:defRPr>
            </a:lvl8pPr>
            <a:lvl9pPr>
              <a:defRPr sz="1950" b="0">
                <a:solidFill>
                  <a:srgbClr val="183D34"/>
                </a:solidFill>
              </a:defRPr>
            </a:lvl9pPr>
          </a:lstStyle>
          <a:p xmlns:a="http://schemas.openxmlformats.org/drawingml/2006/main">
            <a:pPr>
              <a:defRPr sz="1950" b="0">
                <a:solidFill>
                  <a:srgbClr val="183D34"/>
                </a:solidFill>
              </a:defRPr>
            </a:pPr>
            <a:r>
              <a:rPr sz="1950" b="0">
                <a:solidFill>
                  <a:srgbClr val="183D34"/>
                </a:solidFill>
              </a:rPr>
              <a:t>1. Receive two synthetic payment requests</a:t>
            </a:r>
          </a:p>
        </p:txBody>
      </p:sp>
      <p:sp>
        <p:nvSpPr>
          <p:cNvPr id="6" name="">
            <a:extLst xmlns:a="http://schemas.openxmlformats.org/drawingml/2006/main">
              <a:ext uri="{FF2B5EF4-FFF2-40B4-BE49-F238E27FC236}">
                <a16:creationId xmlns:a16="http://schemas.microsoft.com/office/drawing/2014/main" id="{0AB0512E-CFB0-4AAE-929F-628E36051E78}"/>
              </a:ext>
            </a:extLst>
          </p:cNvPr>
          <p:cNvSpPr>
            <a:spLocks xmlns:a="http://schemas.openxmlformats.org/drawingml/2006/main" noGrp="1"/>
          </p:cNvSpPr>
          <p:nvPr/>
        </p:nvSpPr>
        <p:spPr>
          <a:xfrm xmlns:a="http://schemas.openxmlformats.org/drawingml/2006/main">
            <a:off x="609600" y="2990850"/>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83D34"/>
                </a:solidFill>
              </a:defRPr>
            </a:defPPr>
            <a:lvl1pPr>
              <a:defRPr sz="1950" b="0">
                <a:solidFill>
                  <a:srgbClr val="183D34"/>
                </a:solidFill>
              </a:defRPr>
            </a:lvl1pPr>
            <a:lvl2pPr>
              <a:defRPr sz="1950" b="0">
                <a:solidFill>
                  <a:srgbClr val="183D34"/>
                </a:solidFill>
              </a:defRPr>
            </a:lvl2pPr>
            <a:lvl3pPr>
              <a:defRPr sz="1950" b="0">
                <a:solidFill>
                  <a:srgbClr val="183D34"/>
                </a:solidFill>
              </a:defRPr>
            </a:lvl3pPr>
            <a:lvl4pPr>
              <a:defRPr sz="1950" b="0">
                <a:solidFill>
                  <a:srgbClr val="183D34"/>
                </a:solidFill>
              </a:defRPr>
            </a:lvl4pPr>
            <a:lvl5pPr>
              <a:defRPr sz="1950" b="0">
                <a:solidFill>
                  <a:srgbClr val="183D34"/>
                </a:solidFill>
              </a:defRPr>
            </a:lvl5pPr>
            <a:lvl6pPr>
              <a:defRPr sz="1950" b="0">
                <a:solidFill>
                  <a:srgbClr val="183D34"/>
                </a:solidFill>
              </a:defRPr>
            </a:lvl6pPr>
            <a:lvl7pPr>
              <a:defRPr sz="1950" b="0">
                <a:solidFill>
                  <a:srgbClr val="183D34"/>
                </a:solidFill>
              </a:defRPr>
            </a:lvl7pPr>
            <a:lvl8pPr>
              <a:defRPr sz="1950" b="0">
                <a:solidFill>
                  <a:srgbClr val="183D34"/>
                </a:solidFill>
              </a:defRPr>
            </a:lvl8pPr>
            <a:lvl9pPr>
              <a:defRPr sz="1950" b="0">
                <a:solidFill>
                  <a:srgbClr val="183D34"/>
                </a:solidFill>
              </a:defRPr>
            </a:lvl9pPr>
          </a:lstStyle>
          <a:p xmlns:a="http://schemas.openxmlformats.org/drawingml/2006/main">
            <a:pPr>
              <a:defRPr sz="1950" b="0">
                <a:solidFill>
                  <a:srgbClr val="183D34"/>
                </a:solidFill>
              </a:defRPr>
            </a:pPr>
            <a:r>
              <a:rPr sz="1950" b="0">
                <a:solidFill>
                  <a:srgbClr val="183D34"/>
                </a:solidFill>
              </a:rPr>
              <a:t>2–3. Screen both, authorize the normal purchase</a:t>
            </a:r>
          </a:p>
        </p:txBody>
      </p:sp>
      <p:sp>
        <p:nvSpPr>
          <p:cNvPr id="7" name="">
            <a:extLst xmlns:a="http://schemas.openxmlformats.org/drawingml/2006/main">
              <a:ext uri="{FF2B5EF4-FFF2-40B4-BE49-F238E27FC236}">
                <a16:creationId xmlns:a16="http://schemas.microsoft.com/office/drawing/2014/main" id="{88413684-0DFF-48A0-A583-35504F8E11CD}"/>
              </a:ext>
            </a:extLst>
          </p:cNvPr>
          <p:cNvSpPr>
            <a:spLocks xmlns:a="http://schemas.openxmlformats.org/drawingml/2006/main" noGrp="1"/>
          </p:cNvSpPr>
          <p:nvPr/>
        </p:nvSpPr>
        <p:spPr>
          <a:xfrm xmlns:a="http://schemas.openxmlformats.org/drawingml/2006/main">
            <a:off x="609600" y="36480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83D34"/>
                </a:solidFill>
              </a:defRPr>
            </a:defPPr>
            <a:lvl1pPr>
              <a:defRPr sz="1950" b="0">
                <a:solidFill>
                  <a:srgbClr val="183D34"/>
                </a:solidFill>
              </a:defRPr>
            </a:lvl1pPr>
            <a:lvl2pPr>
              <a:defRPr sz="1950" b="0">
                <a:solidFill>
                  <a:srgbClr val="183D34"/>
                </a:solidFill>
              </a:defRPr>
            </a:lvl2pPr>
            <a:lvl3pPr>
              <a:defRPr sz="1950" b="0">
                <a:solidFill>
                  <a:srgbClr val="183D34"/>
                </a:solidFill>
              </a:defRPr>
            </a:lvl3pPr>
            <a:lvl4pPr>
              <a:defRPr sz="1950" b="0">
                <a:solidFill>
                  <a:srgbClr val="183D34"/>
                </a:solidFill>
              </a:defRPr>
            </a:lvl4pPr>
            <a:lvl5pPr>
              <a:defRPr sz="1950" b="0">
                <a:solidFill>
                  <a:srgbClr val="183D34"/>
                </a:solidFill>
              </a:defRPr>
            </a:lvl5pPr>
            <a:lvl6pPr>
              <a:defRPr sz="1950" b="0">
                <a:solidFill>
                  <a:srgbClr val="183D34"/>
                </a:solidFill>
              </a:defRPr>
            </a:lvl6pPr>
            <a:lvl7pPr>
              <a:defRPr sz="1950" b="0">
                <a:solidFill>
                  <a:srgbClr val="183D34"/>
                </a:solidFill>
              </a:defRPr>
            </a:lvl7pPr>
            <a:lvl8pPr>
              <a:defRPr sz="1950" b="0">
                <a:solidFill>
                  <a:srgbClr val="183D34"/>
                </a:solidFill>
              </a:defRPr>
            </a:lvl8pPr>
            <a:lvl9pPr>
              <a:defRPr sz="1950" b="0">
                <a:solidFill>
                  <a:srgbClr val="183D34"/>
                </a:solidFill>
              </a:defRPr>
            </a:lvl9pPr>
          </a:lstStyle>
          <a:p xmlns:a="http://schemas.openxmlformats.org/drawingml/2006/main">
            <a:pPr>
              <a:defRPr sz="1950" b="0">
                <a:solidFill>
                  <a:srgbClr val="183D34"/>
                </a:solidFill>
              </a:defRPr>
            </a:pPr>
            <a:r>
              <a:rPr sz="1950" b="0">
                <a:solidFill>
                  <a:srgbClr val="183D34"/>
                </a:solidFill>
              </a:rPr>
              <a:t>4. Investigate the flagged purchase in Signal</a:t>
            </a:r>
          </a:p>
        </p:txBody>
      </p:sp>
      <p:sp>
        <p:nvSpPr>
          <p:cNvPr id="8" name="">
            <a:extLst xmlns:a="http://schemas.openxmlformats.org/drawingml/2006/main">
              <a:ext uri="{FF2B5EF4-FFF2-40B4-BE49-F238E27FC236}">
                <a16:creationId xmlns:a16="http://schemas.microsoft.com/office/drawing/2014/main" id="{52B42672-A69A-45EC-BAB9-288305610BCD}"/>
              </a:ext>
            </a:extLst>
          </p:cNvPr>
          <p:cNvSpPr>
            <a:spLocks xmlns:a="http://schemas.openxmlformats.org/drawingml/2006/main" noGrp="1"/>
          </p:cNvSpPr>
          <p:nvPr/>
        </p:nvSpPr>
        <p:spPr>
          <a:xfrm xmlns:a="http://schemas.openxmlformats.org/drawingml/2006/main">
            <a:off x="609600" y="4305300"/>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83D34"/>
                </a:solidFill>
              </a:defRPr>
            </a:defPPr>
            <a:lvl1pPr>
              <a:defRPr sz="1950" b="0">
                <a:solidFill>
                  <a:srgbClr val="183D34"/>
                </a:solidFill>
              </a:defRPr>
            </a:lvl1pPr>
            <a:lvl2pPr>
              <a:defRPr sz="1950" b="0">
                <a:solidFill>
                  <a:srgbClr val="183D34"/>
                </a:solidFill>
              </a:defRPr>
            </a:lvl2pPr>
            <a:lvl3pPr>
              <a:defRPr sz="1950" b="0">
                <a:solidFill>
                  <a:srgbClr val="183D34"/>
                </a:solidFill>
              </a:defRPr>
            </a:lvl3pPr>
            <a:lvl4pPr>
              <a:defRPr sz="1950" b="0">
                <a:solidFill>
                  <a:srgbClr val="183D34"/>
                </a:solidFill>
              </a:defRPr>
            </a:lvl4pPr>
            <a:lvl5pPr>
              <a:defRPr sz="1950" b="0">
                <a:solidFill>
                  <a:srgbClr val="183D34"/>
                </a:solidFill>
              </a:defRPr>
            </a:lvl5pPr>
            <a:lvl6pPr>
              <a:defRPr sz="1950" b="0">
                <a:solidFill>
                  <a:srgbClr val="183D34"/>
                </a:solidFill>
              </a:defRPr>
            </a:lvl6pPr>
            <a:lvl7pPr>
              <a:defRPr sz="1950" b="0">
                <a:solidFill>
                  <a:srgbClr val="183D34"/>
                </a:solidFill>
              </a:defRPr>
            </a:lvl7pPr>
            <a:lvl8pPr>
              <a:defRPr sz="1950" b="0">
                <a:solidFill>
                  <a:srgbClr val="183D34"/>
                </a:solidFill>
              </a:defRPr>
            </a:lvl8pPr>
            <a:lvl9pPr>
              <a:defRPr sz="1950" b="0">
                <a:solidFill>
                  <a:srgbClr val="183D34"/>
                </a:solidFill>
              </a:defRPr>
            </a:lvl9pPr>
          </a:lstStyle>
          <a:p xmlns:a="http://schemas.openxmlformats.org/drawingml/2006/main">
            <a:pPr>
              <a:defRPr sz="1950" b="0">
                <a:solidFill>
                  <a:srgbClr val="183D34"/>
                </a:solidFill>
              </a:defRPr>
            </a:pPr>
            <a:r>
              <a:rPr sz="1950" b="0">
                <a:solidFill>
                  <a:srgbClr val="183D34"/>
                </a:solidFill>
              </a:rPr>
              <a:t>5–7. Request, approve and execute release</a:t>
            </a:r>
          </a:p>
        </p:txBody>
      </p:sp>
      <p:sp>
        <p:nvSpPr>
          <p:cNvPr id="9" name="">
            <a:extLst xmlns:a="http://schemas.openxmlformats.org/drawingml/2006/main">
              <a:ext uri="{FF2B5EF4-FFF2-40B4-BE49-F238E27FC236}">
                <a16:creationId xmlns:a16="http://schemas.microsoft.com/office/drawing/2014/main" id="{AF4D3FFA-FD86-45C3-B145-E97CFB405FD7}"/>
              </a:ext>
            </a:extLst>
          </p:cNvPr>
          <p:cNvSpPr>
            <a:spLocks xmlns:a="http://schemas.openxmlformats.org/drawingml/2006/main" noGrp="1"/>
          </p:cNvSpPr>
          <p:nvPr/>
        </p:nvSpPr>
        <p:spPr>
          <a:xfrm xmlns:a="http://schemas.openxmlformats.org/drawingml/2006/main">
            <a:off x="609600" y="496252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83D34"/>
                </a:solidFill>
              </a:defRPr>
            </a:defPPr>
            <a:lvl1pPr>
              <a:defRPr sz="1950" b="0">
                <a:solidFill>
                  <a:srgbClr val="183D34"/>
                </a:solidFill>
              </a:defRPr>
            </a:lvl1pPr>
            <a:lvl2pPr>
              <a:defRPr sz="1950" b="0">
                <a:solidFill>
                  <a:srgbClr val="183D34"/>
                </a:solidFill>
              </a:defRPr>
            </a:lvl2pPr>
            <a:lvl3pPr>
              <a:defRPr sz="1950" b="0">
                <a:solidFill>
                  <a:srgbClr val="183D34"/>
                </a:solidFill>
              </a:defRPr>
            </a:lvl3pPr>
            <a:lvl4pPr>
              <a:defRPr sz="1950" b="0">
                <a:solidFill>
                  <a:srgbClr val="183D34"/>
                </a:solidFill>
              </a:defRPr>
            </a:lvl4pPr>
            <a:lvl5pPr>
              <a:defRPr sz="1950" b="0">
                <a:solidFill>
                  <a:srgbClr val="183D34"/>
                </a:solidFill>
              </a:defRPr>
            </a:lvl5pPr>
            <a:lvl6pPr>
              <a:defRPr sz="1950" b="0">
                <a:solidFill>
                  <a:srgbClr val="183D34"/>
                </a:solidFill>
              </a:defRPr>
            </a:lvl6pPr>
            <a:lvl7pPr>
              <a:defRPr sz="1950" b="0">
                <a:solidFill>
                  <a:srgbClr val="183D34"/>
                </a:solidFill>
              </a:defRPr>
            </a:lvl7pPr>
            <a:lvl8pPr>
              <a:defRPr sz="1950" b="0">
                <a:solidFill>
                  <a:srgbClr val="183D34"/>
                </a:solidFill>
              </a:defRPr>
            </a:lvl8pPr>
            <a:lvl9pPr>
              <a:defRPr sz="1950" b="0">
                <a:solidFill>
                  <a:srgbClr val="183D34"/>
                </a:solidFill>
              </a:defRPr>
            </a:lvl9pPr>
          </a:lstStyle>
          <a:p xmlns:a="http://schemas.openxmlformats.org/drawingml/2006/main">
            <a:pPr>
              <a:defRPr sz="1950" b="0">
                <a:solidFill>
                  <a:srgbClr val="183D34"/>
                </a:solidFill>
              </a:defRPr>
            </a:pPr>
            <a:r>
              <a:rPr sz="1950" b="0">
                <a:solidFill>
                  <a:srgbClr val="183D34"/>
                </a:solidFill>
              </a:rPr>
              <a:t>8–9. Reconcile an issuer acknowledgment timeout</a:t>
            </a:r>
          </a:p>
        </p:txBody>
      </p:sp>
      <p:sp>
        <p:nvSpPr>
          <p:cNvPr id="10" name="">
            <a:extLst xmlns:a="http://schemas.openxmlformats.org/drawingml/2006/main">
              <a:ext uri="{FF2B5EF4-FFF2-40B4-BE49-F238E27FC236}">
                <a16:creationId xmlns:a16="http://schemas.microsoft.com/office/drawing/2014/main" id="{7F72B97F-9626-4C5C-A3E6-9D2643D1E93B}"/>
              </a:ext>
            </a:extLst>
          </p:cNvPr>
          <p:cNvSpPr>
            <a:spLocks xmlns:a="http://schemas.openxmlformats.org/drawingml/2006/main" noGrp="1"/>
          </p:cNvSpPr>
          <p:nvPr/>
        </p:nvSpPr>
        <p:spPr>
          <a:xfrm xmlns:a="http://schemas.openxmlformats.org/drawingml/2006/main">
            <a:off x="609600" y="58102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A6B4D"/>
                </a:solidFill>
              </a:defRPr>
            </a:defPPr>
            <a:lvl1pPr>
              <a:defRPr sz="1875" b="1">
                <a:solidFill>
                  <a:srgbClr val="2A6B4D"/>
                </a:solidFill>
              </a:defRPr>
            </a:lvl1pPr>
            <a:lvl2pPr>
              <a:defRPr sz="1875" b="1">
                <a:solidFill>
                  <a:srgbClr val="2A6B4D"/>
                </a:solidFill>
              </a:defRPr>
            </a:lvl2pPr>
            <a:lvl3pPr>
              <a:defRPr sz="1875" b="1">
                <a:solidFill>
                  <a:srgbClr val="2A6B4D"/>
                </a:solidFill>
              </a:defRPr>
            </a:lvl3pPr>
            <a:lvl4pPr>
              <a:defRPr sz="1875" b="1">
                <a:solidFill>
                  <a:srgbClr val="2A6B4D"/>
                </a:solidFill>
              </a:defRPr>
            </a:lvl4pPr>
            <a:lvl5pPr>
              <a:defRPr sz="1875" b="1">
                <a:solidFill>
                  <a:srgbClr val="2A6B4D"/>
                </a:solidFill>
              </a:defRPr>
            </a:lvl5pPr>
            <a:lvl6pPr>
              <a:defRPr sz="1875" b="1">
                <a:solidFill>
                  <a:srgbClr val="2A6B4D"/>
                </a:solidFill>
              </a:defRPr>
            </a:lvl6pPr>
            <a:lvl7pPr>
              <a:defRPr sz="1875" b="1">
                <a:solidFill>
                  <a:srgbClr val="2A6B4D"/>
                </a:solidFill>
              </a:defRPr>
            </a:lvl7pPr>
            <a:lvl8pPr>
              <a:defRPr sz="1875" b="1">
                <a:solidFill>
                  <a:srgbClr val="2A6B4D"/>
                </a:solidFill>
              </a:defRPr>
            </a:lvl8pPr>
            <a:lvl9pPr>
              <a:defRPr sz="1875" b="1">
                <a:solidFill>
                  <a:srgbClr val="2A6B4D"/>
                </a:solidFill>
              </a:defRPr>
            </a:lvl9pPr>
          </a:lstStyle>
          <a:p xmlns:a="http://schemas.openxmlformats.org/drawingml/2006/main">
            <a:pPr>
              <a:defRPr sz="1875" b="1">
                <a:solidFill>
                  <a:srgbClr val="2A6B4D"/>
                </a:solidFill>
              </a:defRPr>
            </a:pPr>
            <a:r>
              <a:rPr sz="1875" b="1">
                <a:solidFill>
                  <a:srgbClr val="2A6B4D"/>
                </a:solidFill>
              </a:rPr>
              <a:t>Observed result: 2 requests, 2 issuer receipts</a:t>
            </a:r>
          </a:p>
        </p:txBody>
      </p:sp>
      <p:pic>
        <p:nvPicPr>
          <p:cNvPr id="11" name="">
            <a:extLst xmlns:a="http://schemas.openxmlformats.org/drawingml/2006/main">
              <a:ext uri="{FF2B5EF4-FFF2-40B4-BE49-F238E27FC236}">
                <a16:creationId xmlns:a16="http://schemas.microsoft.com/office/drawing/2014/main" id="{73A39C29-A7FD-4407-AAA5-6D4C9C1AA94D}"/>
              </a:ext>
            </a:extLst>
          </p:cNvPr>
          <p:cNvPicPr>
            <a:picLocks xmlns:a="http://schemas.openxmlformats.org/drawingml/2006/main" noChangeAspect="1"/>
          </p:cNvPicPr>
          <p:nvPr/>
        </p:nvPicPr>
        <p:blipFill>
          <a:blip xmlns:r="http://schemas.openxmlformats.org/officeDocument/2006/relationships" xmlns:a="http://schemas.openxmlformats.org/drawingml/2006/main" r:embed="Ra2d8c4be37144583"/>
          <a:srcRect xmlns:a="http://schemas.openxmlformats.org/drawingml/2006/main" l="0" t="0" r="0" b="0"/>
          <a:stretch xmlns:a="http://schemas.openxmlformats.org/drawingml/2006/main">
            <a:fillRect l="0" t="0" r="0" b="0"/>
          </a:stretch>
        </p:blipFill>
        <p:spPr>
          <a:xfrm xmlns:a="http://schemas.openxmlformats.org/drawingml/2006/main">
            <a:off x="7905750" y="1612510"/>
            <a:ext cx="3619500" cy="410923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A62C4FE-C581-4FCD-B348-2B1BB69B2A87}"/>
              </a:ext>
            </a:extLst>
          </p:cNvPr>
          <p:cNvSpPr>
            <a:spLocks xmlns:a="http://schemas.openxmlformats.org/drawingml/2006/main" noGrp="1"/>
          </p:cNvSpPr>
          <p:nvPr/>
        </p:nvSpPr>
        <p:spPr>
          <a:xfrm xmlns:a="http://schemas.openxmlformats.org/drawingml/2006/main">
            <a:off x="609600" y="6315075"/>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a:solidFill>
                  <a:srgbClr val="536A62"/>
                </a:solidFill>
              </a:defRPr>
            </a:defPPr>
            <a:lvl1pPr>
              <a:defRPr sz="1500">
                <a:solidFill>
                  <a:srgbClr val="536A62"/>
                </a:solidFill>
              </a:defRPr>
            </a:lvl1pPr>
            <a:lvl2pPr>
              <a:defRPr sz="1500">
                <a:solidFill>
                  <a:srgbClr val="536A62"/>
                </a:solidFill>
              </a:defRPr>
            </a:lvl2pPr>
            <a:lvl3pPr>
              <a:defRPr sz="1500">
                <a:solidFill>
                  <a:srgbClr val="536A62"/>
                </a:solidFill>
              </a:defRPr>
            </a:lvl3pPr>
            <a:lvl4pPr>
              <a:defRPr sz="1500">
                <a:solidFill>
                  <a:srgbClr val="536A62"/>
                </a:solidFill>
              </a:defRPr>
            </a:lvl4pPr>
            <a:lvl5pPr>
              <a:defRPr sz="1500">
                <a:solidFill>
                  <a:srgbClr val="536A62"/>
                </a:solidFill>
              </a:defRPr>
            </a:lvl5pPr>
            <a:lvl6pPr>
              <a:defRPr sz="1500">
                <a:solidFill>
                  <a:srgbClr val="536A62"/>
                </a:solidFill>
              </a:defRPr>
            </a:lvl6pPr>
            <a:lvl7pPr>
              <a:defRPr sz="1500">
                <a:solidFill>
                  <a:srgbClr val="536A62"/>
                </a:solidFill>
              </a:defRPr>
            </a:lvl7pPr>
            <a:lvl8pPr>
              <a:defRPr sz="1500">
                <a:solidFill>
                  <a:srgbClr val="536A62"/>
                </a:solidFill>
              </a:defRPr>
            </a:lvl8pPr>
            <a:lvl9pPr>
              <a:defRPr sz="1500">
                <a:solidFill>
                  <a:srgbClr val="536A62"/>
                </a:solidFill>
              </a:defRPr>
            </a:lvl9pPr>
          </a:lstStyle>
          <a:p xmlns:a="http://schemas.openxmlformats.org/drawingml/2006/main">
            <a:pPr>
              <a:defRPr sz="1500">
                <a:solidFill>
                  <a:srgbClr val="536A62"/>
                </a:solidFill>
              </a:defRPr>
            </a:pPr>
            <a:r>
              <a:rPr sz="1500">
                <a:solidFill>
                  <a:srgbClr val="536A62"/>
                </a:solidFill>
              </a:rPr>
              <a:t>Live entry: http://127.0.0.1:8080/fraud</a:t>
            </a:r>
          </a:p>
        </p:txBody>
      </p:sp>
    </p:spTree>
    <p:extLst>
      <p:ext uri="{BB962C8B-B14F-4D97-AF65-F5344CB8AC3E}">
        <p14:creationId xmlns:p14="http://schemas.microsoft.com/office/powerpoint/2010/main" val="631569327"/>
      </p:ext>
    </p:extLst>
  </p:cSld>
</p:sld>
</file>

<file path=ppt/slides/slide18.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D3B30CE-413F-4B1D-B051-BA548103A5F0}"/>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D34"/>
                </a:solidFill>
              </a:defRPr>
            </a:defPPr>
            <a:lvl1pPr>
              <a:defRPr sz="3000" b="1">
                <a:solidFill>
                  <a:srgbClr val="183D34"/>
                </a:solidFill>
              </a:defRPr>
            </a:lvl1pPr>
            <a:lvl2pPr>
              <a:defRPr sz="3000" b="1">
                <a:solidFill>
                  <a:srgbClr val="183D34"/>
                </a:solidFill>
              </a:defRPr>
            </a:lvl2pPr>
            <a:lvl3pPr>
              <a:defRPr sz="3000" b="1">
                <a:solidFill>
                  <a:srgbClr val="183D34"/>
                </a:solidFill>
              </a:defRPr>
            </a:lvl3pPr>
            <a:lvl4pPr>
              <a:defRPr sz="3000" b="1">
                <a:solidFill>
                  <a:srgbClr val="183D34"/>
                </a:solidFill>
              </a:defRPr>
            </a:lvl4pPr>
            <a:lvl5pPr>
              <a:defRPr sz="3000" b="1">
                <a:solidFill>
                  <a:srgbClr val="183D34"/>
                </a:solidFill>
              </a:defRPr>
            </a:lvl5pPr>
            <a:lvl6pPr>
              <a:defRPr sz="3000" b="1">
                <a:solidFill>
                  <a:srgbClr val="183D34"/>
                </a:solidFill>
              </a:defRPr>
            </a:lvl6pPr>
            <a:lvl7pPr>
              <a:defRPr sz="3000" b="1">
                <a:solidFill>
                  <a:srgbClr val="183D34"/>
                </a:solidFill>
              </a:defRPr>
            </a:lvl7pPr>
            <a:lvl8pPr>
              <a:defRPr sz="3000" b="1">
                <a:solidFill>
                  <a:srgbClr val="183D34"/>
                </a:solidFill>
              </a:defRPr>
            </a:lvl8pPr>
            <a:lvl9pPr>
              <a:defRPr sz="3000" b="1">
                <a:solidFill>
                  <a:srgbClr val="183D34"/>
                </a:solidFill>
              </a:defRPr>
            </a:lvl9pPr>
          </a:lstStyle>
          <a:p xmlns:a="http://schemas.openxmlformats.org/drawingml/2006/main">
            <a:pPr>
              <a:defRPr sz="3000" b="1">
                <a:solidFill>
                  <a:srgbClr val="183D34"/>
                </a:solidFill>
              </a:defRPr>
            </a:pPr>
            <a:r>
              <a:rPr sz="3000" b="1">
                <a:solidFill>
                  <a:srgbClr val="183D34"/>
                </a:solidFill>
              </a:rPr>
              <a:t>Databricks pilot integration for Fraud Guard</a:t>
            </a:r>
          </a:p>
        </p:txBody>
      </p:sp>
      <p:sp>
        <p:nvSpPr>
          <p:cNvPr id="3" name="">
            <a:extLst xmlns:a="http://schemas.openxmlformats.org/drawingml/2006/main">
              <a:ext uri="{FF2B5EF4-FFF2-40B4-BE49-F238E27FC236}">
                <a16:creationId xmlns:a16="http://schemas.microsoft.com/office/drawing/2014/main" id="{CEA707E9-56A9-4CB8-84BB-07009C55C6EE}"/>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A62"/>
                </a:solidFill>
              </a:defRPr>
            </a:defPPr>
            <a:lvl1pPr>
              <a:defRPr sz="1200" b="0">
                <a:solidFill>
                  <a:srgbClr val="536A62"/>
                </a:solidFill>
              </a:defRPr>
            </a:lvl1pPr>
            <a:lvl2pPr>
              <a:defRPr sz="1200" b="0">
                <a:solidFill>
                  <a:srgbClr val="536A62"/>
                </a:solidFill>
              </a:defRPr>
            </a:lvl2pPr>
            <a:lvl3pPr>
              <a:defRPr sz="1200" b="0">
                <a:solidFill>
                  <a:srgbClr val="536A62"/>
                </a:solidFill>
              </a:defRPr>
            </a:lvl3pPr>
            <a:lvl4pPr>
              <a:defRPr sz="1200" b="0">
                <a:solidFill>
                  <a:srgbClr val="536A62"/>
                </a:solidFill>
              </a:defRPr>
            </a:lvl4pPr>
            <a:lvl5pPr>
              <a:defRPr sz="1200" b="0">
                <a:solidFill>
                  <a:srgbClr val="536A62"/>
                </a:solidFill>
              </a:defRPr>
            </a:lvl5pPr>
            <a:lvl6pPr>
              <a:defRPr sz="1200" b="0">
                <a:solidFill>
                  <a:srgbClr val="536A62"/>
                </a:solidFill>
              </a:defRPr>
            </a:lvl6pPr>
            <a:lvl7pPr>
              <a:defRPr sz="1200" b="0">
                <a:solidFill>
                  <a:srgbClr val="536A62"/>
                </a:solidFill>
              </a:defRPr>
            </a:lvl7pPr>
            <a:lvl8pPr>
              <a:defRPr sz="1200" b="0">
                <a:solidFill>
                  <a:srgbClr val="536A62"/>
                </a:solidFill>
              </a:defRPr>
            </a:lvl8pPr>
            <a:lvl9pPr>
              <a:defRPr sz="1200" b="0">
                <a:solidFill>
                  <a:srgbClr val="536A62"/>
                </a:solidFill>
              </a:defRPr>
            </a:lvl9pPr>
          </a:lstStyle>
          <a:p xmlns:a="http://schemas.openxmlformats.org/drawingml/2006/main">
            <a:pPr>
              <a:defRPr sz="1200" b="0">
                <a:solidFill>
                  <a:srgbClr val="536A62"/>
                </a:solidFill>
              </a:defRPr>
            </a:pPr>
            <a:r>
              <a:rPr sz="1200" b="0">
                <a:solidFill>
                  <a:srgbClr val="536A62"/>
                </a:solidFill>
              </a:rPr>
              <a:t>18</a:t>
            </a:r>
          </a:p>
        </p:txBody>
      </p:sp>
      <p:graphicFrame>
        <p:nvGraphicFramePr>
          <p:cNvPr id="4" name="">
            <a:extLst xmlns:a="http://schemas.openxmlformats.org/drawingml/2006/main">
              <a:ext uri="{FF2B5EF4-FFF2-40B4-BE49-F238E27FC236}">
                <a16:creationId xmlns:a16="http://schemas.microsoft.com/office/drawing/2014/main" id="{F1E45211-BE85-4B4C-B819-7D1A899B9FD7}"/>
              </a:ext>
            </a:extLst>
          </p:cNvPr>
          <p:cNvGraphicFramePr/>
          <p:nvPr/>
        </p:nvGraphicFramePr>
        <p:xfrm>
          <a:off xmlns:a="http://schemas.openxmlformats.org/drawingml/2006/main" x="609600" y="1476375"/>
          <a:ext xmlns:a="http://schemas.openxmlformats.org/drawingml/2006/main" cx="10972800" cy="4191000"/>
        </p:xfrm>
        <a:graphic xmlns:a="http://schemas.openxmlformats.org/drawingml/2006/main">
          <a:graphicData uri="http://schemas.openxmlformats.org/drawingml/2006/table">
            <a:tbl>
              <a:tblPr/>
              <a:tblGrid>
                <a:gridCol w="2571750"/>
                <a:gridCol w="4667250"/>
                <a:gridCol w="3733800"/>
              </a:tblGrid>
              <a:tr h="698500">
                <a:tc>
                  <a:txBody>
                    <a:bodyPr/>
                    <a:lstStyle/>
                    <a:p>
                      <a:r>
                        <a:rPr sz="1725" b="1">
                          <a:solidFill>
                            <a:srgbClr val="FFFFFF"/>
                          </a:solidFill>
                        </a:rPr>
                        <a:t>Layer</a:t>
                      </a:r>
                    </a:p>
                  </a:txBody>
                  <a:tcPr marL="91440" marR="91440" marT="45720" marB="45720">
                    <a:lnL w="9525">
                      <a:solidFill>
                        <a:srgbClr val="C6D6CB"/>
                      </a:solidFill>
                      <a:prstDash val="solid"/>
                    </a:lnL>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c>
                  <a:txBody>
                    <a:bodyPr/>
                    <a:lstStyle/>
                    <a:p>
                      <a:r>
                        <a:rPr sz="1725" b="1">
                          <a:solidFill>
                            <a:srgbClr val="FFFFFF"/>
                          </a:solidFill>
                        </a:rPr>
                        <a:t>Proposed pilot responsibility</a:t>
                      </a:r>
                    </a:p>
                  </a:txBody>
                  <a:tcPr marL="91440" marR="91440" marT="45720" marB="45720">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c>
                  <a:txBody>
                    <a:bodyPr/>
                    <a:lstStyle/>
                    <a:p>
                      <a:r>
                        <a:rPr sz="1725" b="1">
                          <a:solidFill>
                            <a:srgbClr val="FFFFFF"/>
                          </a:solidFill>
                        </a:rPr>
                        <a:t>Required evidence</a:t>
                      </a:r>
                    </a:p>
                  </a:txBody>
                  <a:tcPr marL="91440" marR="91440" marT="45720" marB="45720">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r>
              <a:tr h="698500">
                <a:tc>
                  <a:txBody>
                    <a:bodyPr/>
                    <a:lstStyle/>
                    <a:p>
                      <a:r>
                        <a:rPr sz="1725" b="0">
                          <a:solidFill>
                            <a:srgbClr val="183D34"/>
                          </a:solidFill>
                        </a:rPr>
                        <a:t>Databricks data plane</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Governed synthetic events, features and evaluation jobs</a:t>
                      </a:r>
                    </a:p>
                  </a:txBody>
                  <a:tcPr marL="91440" marR="91440" marT="45720" marB="45720">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Schema contracts, freshness and replay results</a:t>
                      </a:r>
                    </a:p>
                  </a:txBody>
                  <a:tcPr marL="91440" marR="91440" marT="45720" marB="45720">
                    <a:lnR w="9525">
                      <a:solidFill>
                        <a:srgbClr val="C6D6CB"/>
                      </a:solidFill>
                      <a:prstDash val="solid"/>
                    </a:lnR>
                    <a:lnB w="9525">
                      <a:solidFill>
                        <a:srgbClr val="C6D6CB"/>
                      </a:solidFill>
                      <a:prstDash val="solid"/>
                    </a:lnB>
                    <a:solidFill>
                      <a:srgbClr val="FFFFFF"/>
                    </a:solidFill>
                  </a:tcPr>
                </a:tc>
              </a:tr>
              <a:tr h="698500">
                <a:tc>
                  <a:txBody>
                    <a:bodyPr/>
                    <a:lstStyle/>
                    <a:p>
                      <a:r>
                        <a:rPr sz="1725" b="0">
                          <a:solidFill>
                            <a:srgbClr val="183D34"/>
                          </a:solidFill>
                        </a:rPr>
                        <a:t>Online decision service</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E2EDE3"/>
                    </a:solidFill>
                  </a:tcPr>
                </a:tc>
                <a:tc>
                  <a:txBody>
                    <a:bodyPr/>
                    <a:lstStyle/>
                    <a:p>
                      <a:r>
                        <a:rPr sz="1725" b="0">
                          <a:solidFill>
                            <a:srgbClr val="183D34"/>
                          </a:solidFill>
                        </a:rPr>
                        <a:t>Rules, current features and bounded responses</a:t>
                      </a:r>
                    </a:p>
                  </a:txBody>
                  <a:tcPr marL="91440" marR="91440" marT="45720" marB="45720">
                    <a:lnR w="9525">
                      <a:solidFill>
                        <a:srgbClr val="C6D6CB"/>
                      </a:solidFill>
                      <a:prstDash val="solid"/>
                    </a:lnR>
                    <a:lnB w="9525">
                      <a:solidFill>
                        <a:srgbClr val="C6D6CB"/>
                      </a:solidFill>
                      <a:prstDash val="solid"/>
                    </a:lnB>
                    <a:solidFill>
                      <a:srgbClr val="E2EDE3"/>
                    </a:solidFill>
                  </a:tcPr>
                </a:tc>
                <a:tc>
                  <a:txBody>
                    <a:bodyPr/>
                    <a:lstStyle/>
                    <a:p>
                      <a:r>
                        <a:rPr sz="1725" b="0">
                          <a:solidFill>
                            <a:srgbClr val="183D34"/>
                          </a:solidFill>
                        </a:rPr>
                        <a:t>Measured latency, deadline and outage behavior</a:t>
                      </a:r>
                    </a:p>
                  </a:txBody>
                  <a:tcPr marL="91440" marR="91440" marT="45720" marB="45720">
                    <a:lnR w="9525">
                      <a:solidFill>
                        <a:srgbClr val="C6D6CB"/>
                      </a:solidFill>
                      <a:prstDash val="solid"/>
                    </a:lnR>
                    <a:lnB w="9525">
                      <a:solidFill>
                        <a:srgbClr val="C6D6CB"/>
                      </a:solidFill>
                      <a:prstDash val="solid"/>
                    </a:lnB>
                    <a:solidFill>
                      <a:srgbClr val="E2EDE3"/>
                    </a:solidFill>
                  </a:tcPr>
                </a:tc>
              </a:tr>
              <a:tr h="698500">
                <a:tc>
                  <a:txBody>
                    <a:bodyPr/>
                    <a:lstStyle/>
                    <a:p>
                      <a:r>
                        <a:rPr sz="1725" b="0">
                          <a:solidFill>
                            <a:srgbClr val="183D34"/>
                          </a:solidFill>
                        </a:rPr>
                        <a:t>Operational state</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Tenant-scoped idempotency and durable claims</a:t>
                      </a:r>
                    </a:p>
                  </a:txBody>
                  <a:tcPr marL="91440" marR="91440" marT="45720" marB="45720">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Concurrency, restart and crash-window tests</a:t>
                      </a:r>
                    </a:p>
                  </a:txBody>
                  <a:tcPr marL="91440" marR="91440" marT="45720" marB="45720">
                    <a:lnR w="9525">
                      <a:solidFill>
                        <a:srgbClr val="C6D6CB"/>
                      </a:solidFill>
                      <a:prstDash val="solid"/>
                    </a:lnR>
                    <a:lnB w="9525">
                      <a:solidFill>
                        <a:srgbClr val="C6D6CB"/>
                      </a:solidFill>
                      <a:prstDash val="solid"/>
                    </a:lnB>
                    <a:solidFill>
                      <a:srgbClr val="FFFFFF"/>
                    </a:solidFill>
                  </a:tcPr>
                </a:tc>
              </a:tr>
              <a:tr h="698500">
                <a:tc>
                  <a:txBody>
                    <a:bodyPr/>
                    <a:lstStyle/>
                    <a:p>
                      <a:r>
                        <a:rPr sz="1725" b="0">
                          <a:solidFill>
                            <a:srgbClr val="183D34"/>
                          </a:solidFill>
                        </a:rPr>
                        <a:t>Databricks App / Signal</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E2EDE3"/>
                    </a:solidFill>
                  </a:tcPr>
                </a:tc>
                <a:tc>
                  <a:txBody>
                    <a:bodyPr/>
                    <a:lstStyle/>
                    <a:p>
                      <a:r>
                        <a:rPr sz="1725" b="0">
                          <a:solidFill>
                            <a:srgbClr val="183D34"/>
                          </a:solidFill>
                        </a:rPr>
                        <a:t>Authenticated investigation and approval surface</a:t>
                      </a:r>
                    </a:p>
                  </a:txBody>
                  <a:tcPr marL="91440" marR="91440" marT="45720" marB="45720">
                    <a:lnR w="9525">
                      <a:solidFill>
                        <a:srgbClr val="C6D6CB"/>
                      </a:solidFill>
                      <a:prstDash val="solid"/>
                    </a:lnR>
                    <a:lnB w="9525">
                      <a:solidFill>
                        <a:srgbClr val="C6D6CB"/>
                      </a:solidFill>
                      <a:prstDash val="solid"/>
                    </a:lnB>
                    <a:solidFill>
                      <a:srgbClr val="E2EDE3"/>
                    </a:solidFill>
                  </a:tcPr>
                </a:tc>
                <a:tc>
                  <a:txBody>
                    <a:bodyPr/>
                    <a:lstStyle/>
                    <a:p>
                      <a:r>
                        <a:rPr sz="1725" b="0">
                          <a:solidFill>
                            <a:srgbClr val="183D34"/>
                          </a:solidFill>
                        </a:rPr>
                        <a:t>Role enforcement and visibility tests</a:t>
                      </a:r>
                    </a:p>
                  </a:txBody>
                  <a:tcPr marL="91440" marR="91440" marT="45720" marB="45720">
                    <a:lnR w="9525">
                      <a:solidFill>
                        <a:srgbClr val="C6D6CB"/>
                      </a:solidFill>
                      <a:prstDash val="solid"/>
                    </a:lnR>
                    <a:lnB w="9525">
                      <a:solidFill>
                        <a:srgbClr val="C6D6CB"/>
                      </a:solidFill>
                      <a:prstDash val="solid"/>
                    </a:lnB>
                    <a:solidFill>
                      <a:srgbClr val="E2EDE3"/>
                    </a:solidFill>
                  </a:tcPr>
                </a:tc>
              </a:tr>
              <a:tr h="698500">
                <a:tc>
                  <a:txBody>
                    <a:bodyPr/>
                    <a:lstStyle/>
                    <a:p>
                      <a:r>
                        <a:rPr sz="1725" b="0">
                          <a:solidFill>
                            <a:srgbClr val="183D34"/>
                          </a:solidFill>
                        </a:rPr>
                        <a:t>Payment adapters</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Simulator first, approved test endpoints later</a:t>
                      </a:r>
                    </a:p>
                  </a:txBody>
                  <a:tcPr marL="91440" marR="91440" marT="45720" marB="45720">
                    <a:lnR w="9525">
                      <a:solidFill>
                        <a:srgbClr val="C6D6CB"/>
                      </a:solidFill>
                      <a:prstDash val="solid"/>
                    </a:lnR>
                    <a:lnB w="9525">
                      <a:solidFill>
                        <a:srgbClr val="C6D6CB"/>
                      </a:solidFill>
                      <a:prstDash val="solid"/>
                    </a:lnB>
                    <a:solidFill>
                      <a:srgbClr val="FFFFFF"/>
                    </a:solidFill>
                  </a:tcPr>
                </a:tc>
                <a:tc>
                  <a:txBody>
                    <a:bodyPr/>
                    <a:lstStyle/>
                    <a:p>
                      <a:r>
                        <a:rPr sz="1725" b="0">
                          <a:solidFill>
                            <a:srgbClr val="183D34"/>
                          </a:solidFill>
                        </a:rPr>
                        <a:t>Provider-specific receipts and reconciliation</a:t>
                      </a:r>
                    </a:p>
                  </a:txBody>
                  <a:tcPr marL="91440" marR="91440" marT="45720" marB="45720">
                    <a:lnR w="9525">
                      <a:solidFill>
                        <a:srgbClr val="C6D6CB"/>
                      </a:solidFill>
                      <a:prstDash val="solid"/>
                    </a:lnR>
                    <a:lnB w="9525">
                      <a:solidFill>
                        <a:srgbClr val="C6D6CB"/>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E78A579-B5D3-4E2A-AFE4-DA3B6DF23C19}"/>
              </a:ext>
            </a:extLst>
          </p:cNvPr>
          <p:cNvSpPr>
            <a:spLocks xmlns:a="http://schemas.openxmlformats.org/drawingml/2006/main" noGrp="1"/>
          </p:cNvSpPr>
          <p:nvPr/>
        </p:nvSpPr>
        <p:spPr>
          <a:xfrm xmlns:a="http://schemas.openxmlformats.org/drawingml/2006/main">
            <a:off x="609600" y="5953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8A4D16"/>
                </a:solidFill>
              </a:defRPr>
            </a:defPPr>
            <a:lvl1pPr>
              <a:defRPr sz="1725" b="1">
                <a:solidFill>
                  <a:srgbClr val="8A4D16"/>
                </a:solidFill>
              </a:defRPr>
            </a:lvl1pPr>
            <a:lvl2pPr>
              <a:defRPr sz="1725" b="1">
                <a:solidFill>
                  <a:srgbClr val="8A4D16"/>
                </a:solidFill>
              </a:defRPr>
            </a:lvl2pPr>
            <a:lvl3pPr>
              <a:defRPr sz="1725" b="1">
                <a:solidFill>
                  <a:srgbClr val="8A4D16"/>
                </a:solidFill>
              </a:defRPr>
            </a:lvl3pPr>
            <a:lvl4pPr>
              <a:defRPr sz="1725" b="1">
                <a:solidFill>
                  <a:srgbClr val="8A4D16"/>
                </a:solidFill>
              </a:defRPr>
            </a:lvl4pPr>
            <a:lvl5pPr>
              <a:defRPr sz="1725" b="1">
                <a:solidFill>
                  <a:srgbClr val="8A4D16"/>
                </a:solidFill>
              </a:defRPr>
            </a:lvl5pPr>
            <a:lvl6pPr>
              <a:defRPr sz="1725" b="1">
                <a:solidFill>
                  <a:srgbClr val="8A4D16"/>
                </a:solidFill>
              </a:defRPr>
            </a:lvl6pPr>
            <a:lvl7pPr>
              <a:defRPr sz="1725" b="1">
                <a:solidFill>
                  <a:srgbClr val="8A4D16"/>
                </a:solidFill>
              </a:defRPr>
            </a:lvl7pPr>
            <a:lvl8pPr>
              <a:defRPr sz="1725" b="1">
                <a:solidFill>
                  <a:srgbClr val="8A4D16"/>
                </a:solidFill>
              </a:defRPr>
            </a:lvl8pPr>
            <a:lvl9pPr>
              <a:defRPr sz="1725" b="1">
                <a:solidFill>
                  <a:srgbClr val="8A4D16"/>
                </a:solidFill>
              </a:defRPr>
            </a:lvl9pPr>
          </a:lstStyle>
          <a:p xmlns:a="http://schemas.openxmlformats.org/drawingml/2006/main">
            <a:pPr>
              <a:defRPr sz="1725" b="1">
                <a:solidFill>
                  <a:srgbClr val="8A4D16"/>
                </a:solidFill>
              </a:defRPr>
            </a:pPr>
            <a:r>
              <a:rPr sz="1725" b="1">
                <a:solidFill>
                  <a:srgbClr val="8A4D16"/>
                </a:solidFill>
              </a:rPr>
              <a:t>Current Fraud Guard runs locally. Databricks deployment and Workflow Builder integration remain pending.</a:t>
            </a:r>
          </a:p>
        </p:txBody>
      </p:sp>
    </p:spTree>
    <p:extLst>
      <p:ext uri="{BB962C8B-B14F-4D97-AF65-F5344CB8AC3E}">
        <p14:creationId xmlns:p14="http://schemas.microsoft.com/office/powerpoint/2010/main" val="229309345"/>
      </p:ext>
    </p:extLst>
  </p:cSld>
</p:sld>
</file>

<file path=ppt/slides/slide19.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AF3A1BC-4A0C-4FC3-A1F4-598196DD354A}"/>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D34"/>
                </a:solidFill>
              </a:defRPr>
            </a:defPPr>
            <a:lvl1pPr>
              <a:defRPr sz="3000" b="1">
                <a:solidFill>
                  <a:srgbClr val="183D34"/>
                </a:solidFill>
              </a:defRPr>
            </a:lvl1pPr>
            <a:lvl2pPr>
              <a:defRPr sz="3000" b="1">
                <a:solidFill>
                  <a:srgbClr val="183D34"/>
                </a:solidFill>
              </a:defRPr>
            </a:lvl2pPr>
            <a:lvl3pPr>
              <a:defRPr sz="3000" b="1">
                <a:solidFill>
                  <a:srgbClr val="183D34"/>
                </a:solidFill>
              </a:defRPr>
            </a:lvl3pPr>
            <a:lvl4pPr>
              <a:defRPr sz="3000" b="1">
                <a:solidFill>
                  <a:srgbClr val="183D34"/>
                </a:solidFill>
              </a:defRPr>
            </a:lvl4pPr>
            <a:lvl5pPr>
              <a:defRPr sz="3000" b="1">
                <a:solidFill>
                  <a:srgbClr val="183D34"/>
                </a:solidFill>
              </a:defRPr>
            </a:lvl5pPr>
            <a:lvl6pPr>
              <a:defRPr sz="3000" b="1">
                <a:solidFill>
                  <a:srgbClr val="183D34"/>
                </a:solidFill>
              </a:defRPr>
            </a:lvl6pPr>
            <a:lvl7pPr>
              <a:defRPr sz="3000" b="1">
                <a:solidFill>
                  <a:srgbClr val="183D34"/>
                </a:solidFill>
              </a:defRPr>
            </a:lvl7pPr>
            <a:lvl8pPr>
              <a:defRPr sz="3000" b="1">
                <a:solidFill>
                  <a:srgbClr val="183D34"/>
                </a:solidFill>
              </a:defRPr>
            </a:lvl8pPr>
            <a:lvl9pPr>
              <a:defRPr sz="3000" b="1">
                <a:solidFill>
                  <a:srgbClr val="183D34"/>
                </a:solidFill>
              </a:defRPr>
            </a:lvl9pPr>
          </a:lstStyle>
          <a:p xmlns:a="http://schemas.openxmlformats.org/drawingml/2006/main">
            <a:pPr>
              <a:defRPr sz="3000" b="1">
                <a:solidFill>
                  <a:srgbClr val="183D34"/>
                </a:solidFill>
              </a:defRPr>
            </a:pPr>
            <a:r>
              <a:rPr sz="3000" b="1">
                <a:solidFill>
                  <a:srgbClr val="183D34"/>
                </a:solidFill>
              </a:rPr>
              <a:t>Fraud Guard pilot acceptance criteria</a:t>
            </a:r>
          </a:p>
        </p:txBody>
      </p:sp>
      <p:sp>
        <p:nvSpPr>
          <p:cNvPr id="3" name="">
            <a:extLst xmlns:a="http://schemas.openxmlformats.org/drawingml/2006/main">
              <a:ext uri="{FF2B5EF4-FFF2-40B4-BE49-F238E27FC236}">
                <a16:creationId xmlns:a16="http://schemas.microsoft.com/office/drawing/2014/main" id="{AD7E2144-F90A-4EC6-87E5-D2E27F36C84B}"/>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A62"/>
                </a:solidFill>
              </a:defRPr>
            </a:defPPr>
            <a:lvl1pPr>
              <a:defRPr sz="1200" b="0">
                <a:solidFill>
                  <a:srgbClr val="536A62"/>
                </a:solidFill>
              </a:defRPr>
            </a:lvl1pPr>
            <a:lvl2pPr>
              <a:defRPr sz="1200" b="0">
                <a:solidFill>
                  <a:srgbClr val="536A62"/>
                </a:solidFill>
              </a:defRPr>
            </a:lvl2pPr>
            <a:lvl3pPr>
              <a:defRPr sz="1200" b="0">
                <a:solidFill>
                  <a:srgbClr val="536A62"/>
                </a:solidFill>
              </a:defRPr>
            </a:lvl3pPr>
            <a:lvl4pPr>
              <a:defRPr sz="1200" b="0">
                <a:solidFill>
                  <a:srgbClr val="536A62"/>
                </a:solidFill>
              </a:defRPr>
            </a:lvl4pPr>
            <a:lvl5pPr>
              <a:defRPr sz="1200" b="0">
                <a:solidFill>
                  <a:srgbClr val="536A62"/>
                </a:solidFill>
              </a:defRPr>
            </a:lvl5pPr>
            <a:lvl6pPr>
              <a:defRPr sz="1200" b="0">
                <a:solidFill>
                  <a:srgbClr val="536A62"/>
                </a:solidFill>
              </a:defRPr>
            </a:lvl6pPr>
            <a:lvl7pPr>
              <a:defRPr sz="1200" b="0">
                <a:solidFill>
                  <a:srgbClr val="536A62"/>
                </a:solidFill>
              </a:defRPr>
            </a:lvl7pPr>
            <a:lvl8pPr>
              <a:defRPr sz="1200" b="0">
                <a:solidFill>
                  <a:srgbClr val="536A62"/>
                </a:solidFill>
              </a:defRPr>
            </a:lvl8pPr>
            <a:lvl9pPr>
              <a:defRPr sz="1200" b="0">
                <a:solidFill>
                  <a:srgbClr val="536A62"/>
                </a:solidFill>
              </a:defRPr>
            </a:lvl9pPr>
          </a:lstStyle>
          <a:p xmlns:a="http://schemas.openxmlformats.org/drawingml/2006/main">
            <a:pPr>
              <a:defRPr sz="1200" b="0">
                <a:solidFill>
                  <a:srgbClr val="536A62"/>
                </a:solidFill>
              </a:defRPr>
            </a:pPr>
            <a:r>
              <a:rPr sz="1200" b="0">
                <a:solidFill>
                  <a:srgbClr val="536A62"/>
                </a:solidFill>
              </a:rPr>
              <a:t>19</a:t>
            </a:r>
          </a:p>
        </p:txBody>
      </p:sp>
      <p:graphicFrame>
        <p:nvGraphicFramePr>
          <p:cNvPr id="4" name="">
            <a:extLst xmlns:a="http://schemas.openxmlformats.org/drawingml/2006/main">
              <a:ext uri="{FF2B5EF4-FFF2-40B4-BE49-F238E27FC236}">
                <a16:creationId xmlns:a16="http://schemas.microsoft.com/office/drawing/2014/main" id="{36A3F85F-98BD-480D-B796-6B49C6A2FA8D}"/>
              </a:ext>
            </a:extLst>
          </p:cNvPr>
          <p:cNvGraphicFramePr/>
          <p:nvPr/>
        </p:nvGraphicFramePr>
        <p:xfrm>
          <a:off xmlns:a="http://schemas.openxmlformats.org/drawingml/2006/main" x="609600" y="1476375"/>
          <a:ext xmlns:a="http://schemas.openxmlformats.org/drawingml/2006/main" cx="10972800" cy="4191000"/>
        </p:xfrm>
        <a:graphic xmlns:a="http://schemas.openxmlformats.org/drawingml/2006/main">
          <a:graphicData uri="http://schemas.openxmlformats.org/drawingml/2006/table">
            <a:tbl>
              <a:tblPr/>
              <a:tblGrid>
                <a:gridCol w="2619375"/>
                <a:gridCol w="5429250"/>
                <a:gridCol w="2924175"/>
              </a:tblGrid>
              <a:tr h="698500">
                <a:tc>
                  <a:txBody>
                    <a:bodyPr/>
                    <a:lstStyle/>
                    <a:p>
                      <a:r>
                        <a:rPr sz="1650" b="1">
                          <a:solidFill>
                            <a:srgbClr val="FFFFFF"/>
                          </a:solidFill>
                        </a:rPr>
                        <a:t>Gate</a:t>
                      </a:r>
                    </a:p>
                  </a:txBody>
                  <a:tcPr marL="91440" marR="91440" marT="45720" marB="45720">
                    <a:lnL w="9525">
                      <a:solidFill>
                        <a:srgbClr val="C6D6CB"/>
                      </a:solidFill>
                      <a:prstDash val="solid"/>
                    </a:lnL>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c>
                  <a:txBody>
                    <a:bodyPr/>
                    <a:lstStyle/>
                    <a:p>
                      <a:r>
                        <a:rPr sz="1650" b="1">
                          <a:solidFill>
                            <a:srgbClr val="FFFFFF"/>
                          </a:solidFill>
                        </a:rPr>
                        <a:t>Pass condition</a:t>
                      </a:r>
                    </a:p>
                  </a:txBody>
                  <a:tcPr marL="91440" marR="91440" marT="45720" marB="45720">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c>
                  <a:txBody>
                    <a:bodyPr/>
                    <a:lstStyle/>
                    <a:p>
                      <a:r>
                        <a:rPr sz="1650" b="1">
                          <a:solidFill>
                            <a:srgbClr val="FFFFFF"/>
                          </a:solidFill>
                        </a:rPr>
                        <a:t>Evidence owner</a:t>
                      </a:r>
                    </a:p>
                  </a:txBody>
                  <a:tcPr marL="91440" marR="91440" marT="45720" marB="45720">
                    <a:lnR w="9525">
                      <a:solidFill>
                        <a:srgbClr val="C6D6CB"/>
                      </a:solidFill>
                      <a:prstDash val="solid"/>
                    </a:lnR>
                    <a:lnT w="9525">
                      <a:solidFill>
                        <a:srgbClr val="C6D6CB"/>
                      </a:solidFill>
                      <a:prstDash val="solid"/>
                    </a:lnT>
                    <a:lnB w="9525">
                      <a:solidFill>
                        <a:srgbClr val="C6D6CB"/>
                      </a:solidFill>
                      <a:prstDash val="solid"/>
                    </a:lnB>
                    <a:solidFill>
                      <a:srgbClr val="183D34"/>
                    </a:solidFill>
                  </a:tcPr>
                </a:tc>
              </a:tr>
              <a:tr h="698500">
                <a:tc>
                  <a:txBody>
                    <a:bodyPr/>
                    <a:lstStyle/>
                    <a:p>
                      <a:r>
                        <a:rPr sz="1650" b="0">
                          <a:solidFill>
                            <a:srgbClr val="183D34"/>
                          </a:solidFill>
                        </a:rPr>
                        <a:t>Decision separation</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FFFFFF"/>
                    </a:solidFill>
                  </a:tcPr>
                </a:tc>
                <a:tc>
                  <a:txBody>
                    <a:bodyPr/>
                    <a:lstStyle/>
                    <a:p>
                      <a:r>
                        <a:rPr sz="1650" b="0">
                          <a:solidFill>
                            <a:srgbClr val="183D34"/>
                          </a:solidFill>
                        </a:rPr>
                        <a:t>Blocks, failed authentication and outages make zero issuer calls</a:t>
                      </a:r>
                    </a:p>
                  </a:txBody>
                  <a:tcPr marL="91440" marR="91440" marT="45720" marB="45720">
                    <a:lnR w="9525">
                      <a:solidFill>
                        <a:srgbClr val="C6D6CB"/>
                      </a:solidFill>
                      <a:prstDash val="solid"/>
                    </a:lnR>
                    <a:lnB w="9525">
                      <a:solidFill>
                        <a:srgbClr val="C6D6CB"/>
                      </a:solidFill>
                      <a:prstDash val="solid"/>
                    </a:lnB>
                    <a:solidFill>
                      <a:srgbClr val="FFFFFF"/>
                    </a:solidFill>
                  </a:tcPr>
                </a:tc>
                <a:tc>
                  <a:txBody>
                    <a:bodyPr/>
                    <a:lstStyle/>
                    <a:p>
                      <a:r>
                        <a:rPr sz="1650" b="0">
                          <a:solidFill>
                            <a:srgbClr val="183D34"/>
                          </a:solidFill>
                        </a:rPr>
                        <a:t>Payments engineering</a:t>
                      </a:r>
                    </a:p>
                  </a:txBody>
                  <a:tcPr marL="91440" marR="91440" marT="45720" marB="45720">
                    <a:lnR w="9525">
                      <a:solidFill>
                        <a:srgbClr val="C6D6CB"/>
                      </a:solidFill>
                      <a:prstDash val="solid"/>
                    </a:lnR>
                    <a:lnB w="9525">
                      <a:solidFill>
                        <a:srgbClr val="C6D6CB"/>
                      </a:solidFill>
                      <a:prstDash val="solid"/>
                    </a:lnB>
                    <a:solidFill>
                      <a:srgbClr val="FFFFFF"/>
                    </a:solidFill>
                  </a:tcPr>
                </a:tc>
              </a:tr>
              <a:tr h="698500">
                <a:tc>
                  <a:txBody>
                    <a:bodyPr/>
                    <a:lstStyle/>
                    <a:p>
                      <a:r>
                        <a:rPr sz="1650" b="0">
                          <a:solidFill>
                            <a:srgbClr val="183D34"/>
                          </a:solidFill>
                        </a:rPr>
                        <a:t>Authorization safety</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E2EDE3"/>
                    </a:solidFill>
                  </a:tcPr>
                </a:tc>
                <a:tc>
                  <a:txBody>
                    <a:bodyPr/>
                    <a:lstStyle/>
                    <a:p>
                      <a:r>
                        <a:rPr sz="1650" b="0">
                          <a:solidFill>
                            <a:srgbClr val="183D34"/>
                          </a:solidFill>
                        </a:rPr>
                        <a:t>Duplicates reuse results. UNKNOWN requires reconciliation</a:t>
                      </a:r>
                    </a:p>
                  </a:txBody>
                  <a:tcPr marL="91440" marR="91440" marT="45720" marB="45720">
                    <a:lnR w="9525">
                      <a:solidFill>
                        <a:srgbClr val="C6D6CB"/>
                      </a:solidFill>
                      <a:prstDash val="solid"/>
                    </a:lnR>
                    <a:lnB w="9525">
                      <a:solidFill>
                        <a:srgbClr val="C6D6CB"/>
                      </a:solidFill>
                      <a:prstDash val="solid"/>
                    </a:lnB>
                    <a:solidFill>
                      <a:srgbClr val="E2EDE3"/>
                    </a:solidFill>
                  </a:tcPr>
                </a:tc>
                <a:tc>
                  <a:txBody>
                    <a:bodyPr/>
                    <a:lstStyle/>
                    <a:p>
                      <a:r>
                        <a:rPr sz="1650" b="0">
                          <a:solidFill>
                            <a:srgbClr val="183D34"/>
                          </a:solidFill>
                        </a:rPr>
                        <a:t>Payments + platform</a:t>
                      </a:r>
                    </a:p>
                  </a:txBody>
                  <a:tcPr marL="91440" marR="91440" marT="45720" marB="45720">
                    <a:lnR w="9525">
                      <a:solidFill>
                        <a:srgbClr val="C6D6CB"/>
                      </a:solidFill>
                      <a:prstDash val="solid"/>
                    </a:lnR>
                    <a:lnB w="9525">
                      <a:solidFill>
                        <a:srgbClr val="C6D6CB"/>
                      </a:solidFill>
                      <a:prstDash val="solid"/>
                    </a:lnB>
                    <a:solidFill>
                      <a:srgbClr val="E2EDE3"/>
                    </a:solidFill>
                  </a:tcPr>
                </a:tc>
              </a:tr>
              <a:tr h="698500">
                <a:tc>
                  <a:txBody>
                    <a:bodyPr/>
                    <a:lstStyle/>
                    <a:p>
                      <a:r>
                        <a:rPr sz="1650" b="0">
                          <a:solidFill>
                            <a:srgbClr val="183D34"/>
                          </a:solidFill>
                        </a:rPr>
                        <a:t>Approval and authentication</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FFFFFF"/>
                    </a:solidFill>
                  </a:tcPr>
                </a:tc>
                <a:tc>
                  <a:txBody>
                    <a:bodyPr/>
                    <a:lstStyle/>
                    <a:p>
                      <a:r>
                        <a:rPr sz="1650" b="0">
                          <a:solidFill>
                            <a:srgbClr val="183D34"/>
                          </a:solidFill>
                        </a:rPr>
                        <a:t>Missing, wrong-role, stale and expired approvals fail</a:t>
                      </a:r>
                    </a:p>
                  </a:txBody>
                  <a:tcPr marL="91440" marR="91440" marT="45720" marB="45720">
                    <a:lnR w="9525">
                      <a:solidFill>
                        <a:srgbClr val="C6D6CB"/>
                      </a:solidFill>
                      <a:prstDash val="solid"/>
                    </a:lnR>
                    <a:lnB w="9525">
                      <a:solidFill>
                        <a:srgbClr val="C6D6CB"/>
                      </a:solidFill>
                      <a:prstDash val="solid"/>
                    </a:lnB>
                    <a:solidFill>
                      <a:srgbClr val="FFFFFF"/>
                    </a:solidFill>
                  </a:tcPr>
                </a:tc>
                <a:tc>
                  <a:txBody>
                    <a:bodyPr/>
                    <a:lstStyle/>
                    <a:p>
                      <a:r>
                        <a:rPr sz="1650" b="0">
                          <a:solidFill>
                            <a:srgbClr val="183D34"/>
                          </a:solidFill>
                        </a:rPr>
                        <a:t>Security + application</a:t>
                      </a:r>
                    </a:p>
                  </a:txBody>
                  <a:tcPr marL="91440" marR="91440" marT="45720" marB="45720">
                    <a:lnR w="9525">
                      <a:solidFill>
                        <a:srgbClr val="C6D6CB"/>
                      </a:solidFill>
                      <a:prstDash val="solid"/>
                    </a:lnR>
                    <a:lnB w="9525">
                      <a:solidFill>
                        <a:srgbClr val="C6D6CB"/>
                      </a:solidFill>
                      <a:prstDash val="solid"/>
                    </a:lnB>
                    <a:solidFill>
                      <a:srgbClr val="FFFFFF"/>
                    </a:solidFill>
                  </a:tcPr>
                </a:tc>
              </a:tr>
              <a:tr h="698500">
                <a:tc>
                  <a:txBody>
                    <a:bodyPr/>
                    <a:lstStyle/>
                    <a:p>
                      <a:r>
                        <a:rPr sz="1650" b="0">
                          <a:solidFill>
                            <a:srgbClr val="183D34"/>
                          </a:solidFill>
                        </a:rPr>
                        <a:t>Databricks deployment</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E2EDE3"/>
                    </a:solidFill>
                  </a:tcPr>
                </a:tc>
                <a:tc>
                  <a:txBody>
                    <a:bodyPr/>
                    <a:lstStyle/>
                    <a:p>
                      <a:r>
                        <a:rPr sz="1650" b="0">
                          <a:solidFill>
                            <a:srgbClr val="183D34"/>
                          </a:solidFill>
                        </a:rPr>
                        <a:t>Synthetic job runs, feature freshness and restart checks pass</a:t>
                      </a:r>
                    </a:p>
                  </a:txBody>
                  <a:tcPr marL="91440" marR="91440" marT="45720" marB="45720">
                    <a:lnR w="9525">
                      <a:solidFill>
                        <a:srgbClr val="C6D6CB"/>
                      </a:solidFill>
                      <a:prstDash val="solid"/>
                    </a:lnR>
                    <a:lnB w="9525">
                      <a:solidFill>
                        <a:srgbClr val="C6D6CB"/>
                      </a:solidFill>
                      <a:prstDash val="solid"/>
                    </a:lnB>
                    <a:solidFill>
                      <a:srgbClr val="E2EDE3"/>
                    </a:solidFill>
                  </a:tcPr>
                </a:tc>
                <a:tc>
                  <a:txBody>
                    <a:bodyPr/>
                    <a:lstStyle/>
                    <a:p>
                      <a:r>
                        <a:rPr sz="1650" b="0">
                          <a:solidFill>
                            <a:srgbClr val="183D34"/>
                          </a:solidFill>
                        </a:rPr>
                        <a:t>Databricks platform</a:t>
                      </a:r>
                    </a:p>
                  </a:txBody>
                  <a:tcPr marL="91440" marR="91440" marT="45720" marB="45720">
                    <a:lnR w="9525">
                      <a:solidFill>
                        <a:srgbClr val="C6D6CB"/>
                      </a:solidFill>
                      <a:prstDash val="solid"/>
                    </a:lnR>
                    <a:lnB w="9525">
                      <a:solidFill>
                        <a:srgbClr val="C6D6CB"/>
                      </a:solidFill>
                      <a:prstDash val="solid"/>
                    </a:lnB>
                    <a:solidFill>
                      <a:srgbClr val="E2EDE3"/>
                    </a:solidFill>
                  </a:tcPr>
                </a:tc>
              </a:tr>
              <a:tr h="698500">
                <a:tc>
                  <a:txBody>
                    <a:bodyPr/>
                    <a:lstStyle/>
                    <a:p>
                      <a:r>
                        <a:rPr sz="1650" b="0">
                          <a:solidFill>
                            <a:srgbClr val="183D34"/>
                          </a:solidFill>
                        </a:rPr>
                        <a:t>Value and operations</a:t>
                      </a:r>
                    </a:p>
                  </a:txBody>
                  <a:tcPr marL="91440" marR="91440" marT="45720" marB="45720">
                    <a:lnL w="9525">
                      <a:solidFill>
                        <a:srgbClr val="C6D6CB"/>
                      </a:solidFill>
                      <a:prstDash val="solid"/>
                    </a:lnL>
                    <a:lnR w="9525">
                      <a:solidFill>
                        <a:srgbClr val="C6D6CB"/>
                      </a:solidFill>
                      <a:prstDash val="solid"/>
                    </a:lnR>
                    <a:lnB w="9525">
                      <a:solidFill>
                        <a:srgbClr val="C6D6CB"/>
                      </a:solidFill>
                      <a:prstDash val="solid"/>
                    </a:lnB>
                    <a:solidFill>
                      <a:srgbClr val="FFFFFF"/>
                    </a:solidFill>
                  </a:tcPr>
                </a:tc>
                <a:tc>
                  <a:txBody>
                    <a:bodyPr/>
                    <a:lstStyle/>
                    <a:p>
                      <a:r>
                        <a:rPr sz="1650" b="0">
                          <a:solidFill>
                            <a:srgbClr val="183D34"/>
                          </a:solidFill>
                        </a:rPr>
                        <a:t>Service meets agreed latency and cost limits. Outage checks pass</a:t>
                      </a:r>
                    </a:p>
                  </a:txBody>
                  <a:tcPr marL="91440" marR="91440" marT="45720" marB="45720">
                    <a:lnR w="9525">
                      <a:solidFill>
                        <a:srgbClr val="C6D6CB"/>
                      </a:solidFill>
                      <a:prstDash val="solid"/>
                    </a:lnR>
                    <a:lnB w="9525">
                      <a:solidFill>
                        <a:srgbClr val="C6D6CB"/>
                      </a:solidFill>
                      <a:prstDash val="solid"/>
                    </a:lnB>
                    <a:solidFill>
                      <a:srgbClr val="FFFFFF"/>
                    </a:solidFill>
                  </a:tcPr>
                </a:tc>
                <a:tc>
                  <a:txBody>
                    <a:bodyPr/>
                    <a:lstStyle/>
                    <a:p>
                      <a:r>
                        <a:rPr sz="1650" b="0">
                          <a:solidFill>
                            <a:srgbClr val="183D34"/>
                          </a:solidFill>
                        </a:rPr>
                        <a:t>Risk + operations</a:t>
                      </a:r>
                    </a:p>
                  </a:txBody>
                  <a:tcPr marL="91440" marR="91440" marT="45720" marB="45720">
                    <a:lnR w="9525">
                      <a:solidFill>
                        <a:srgbClr val="C6D6CB"/>
                      </a:solidFill>
                      <a:prstDash val="solid"/>
                    </a:lnR>
                    <a:lnB w="9525">
                      <a:solidFill>
                        <a:srgbClr val="C6D6CB"/>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3444734-18C7-404E-BDDA-6DD54AAC3052}"/>
              </a:ext>
            </a:extLst>
          </p:cNvPr>
          <p:cNvSpPr>
            <a:spLocks xmlns:a="http://schemas.openxmlformats.org/drawingml/2006/main" noGrp="1"/>
          </p:cNvSpPr>
          <p:nvPr/>
        </p:nvSpPr>
        <p:spPr>
          <a:xfrm xmlns:a="http://schemas.openxmlformats.org/drawingml/2006/main">
            <a:off x="609600" y="5953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A6B4D"/>
                </a:solidFill>
              </a:defRPr>
            </a:defPPr>
            <a:lvl1pPr>
              <a:defRPr sz="1725" b="1">
                <a:solidFill>
                  <a:srgbClr val="2A6B4D"/>
                </a:solidFill>
              </a:defRPr>
            </a:lvl1pPr>
            <a:lvl2pPr>
              <a:defRPr sz="1725" b="1">
                <a:solidFill>
                  <a:srgbClr val="2A6B4D"/>
                </a:solidFill>
              </a:defRPr>
            </a:lvl2pPr>
            <a:lvl3pPr>
              <a:defRPr sz="1725" b="1">
                <a:solidFill>
                  <a:srgbClr val="2A6B4D"/>
                </a:solidFill>
              </a:defRPr>
            </a:lvl3pPr>
            <a:lvl4pPr>
              <a:defRPr sz="1725" b="1">
                <a:solidFill>
                  <a:srgbClr val="2A6B4D"/>
                </a:solidFill>
              </a:defRPr>
            </a:lvl4pPr>
            <a:lvl5pPr>
              <a:defRPr sz="1725" b="1">
                <a:solidFill>
                  <a:srgbClr val="2A6B4D"/>
                </a:solidFill>
              </a:defRPr>
            </a:lvl5pPr>
            <a:lvl6pPr>
              <a:defRPr sz="1725" b="1">
                <a:solidFill>
                  <a:srgbClr val="2A6B4D"/>
                </a:solidFill>
              </a:defRPr>
            </a:lvl6pPr>
            <a:lvl7pPr>
              <a:defRPr sz="1725" b="1">
                <a:solidFill>
                  <a:srgbClr val="2A6B4D"/>
                </a:solidFill>
              </a:defRPr>
            </a:lvl7pPr>
            <a:lvl8pPr>
              <a:defRPr sz="1725" b="1">
                <a:solidFill>
                  <a:srgbClr val="2A6B4D"/>
                </a:solidFill>
              </a:defRPr>
            </a:lvl8pPr>
            <a:lvl9pPr>
              <a:defRPr sz="1725" b="1">
                <a:solidFill>
                  <a:srgbClr val="2A6B4D"/>
                </a:solidFill>
              </a:defRPr>
            </a:lvl9pPr>
          </a:lstStyle>
          <a:p xmlns:a="http://schemas.openxmlformats.org/drawingml/2006/main">
            <a:pPr>
              <a:defRPr sz="1725" b="1">
                <a:solidFill>
                  <a:srgbClr val="2A6B4D"/>
                </a:solidFill>
              </a:defRPr>
            </a:pPr>
            <a:r>
              <a:rPr sz="1725" b="1">
                <a:solidFill>
                  <a:srgbClr val="2A6B4D"/>
                </a:solidFill>
              </a:rPr>
              <a:t>Local evidence: 59 platform tests, including 15 Fraud Guard tests, and 8 synthetic scenario evaluations.</a:t>
            </a:r>
          </a:p>
        </p:txBody>
      </p:sp>
    </p:spTree>
    <p:extLst>
      <p:ext uri="{BB962C8B-B14F-4D97-AF65-F5344CB8AC3E}">
        <p14:creationId xmlns:p14="http://schemas.microsoft.com/office/powerpoint/2010/main" val="205562354"/>
      </p:ext>
    </p:extLst>
  </p:cSld>
</p:sld>
</file>

<file path=ppt/slides/slide20.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FBC69AF-5917-4298-A185-D670118AFDD7}"/>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D34"/>
                </a:solidFill>
              </a:defRPr>
            </a:defPPr>
            <a:lvl1pPr>
              <a:defRPr sz="3000" b="1">
                <a:solidFill>
                  <a:srgbClr val="183D34"/>
                </a:solidFill>
              </a:defRPr>
            </a:lvl1pPr>
            <a:lvl2pPr>
              <a:defRPr sz="3000" b="1">
                <a:solidFill>
                  <a:srgbClr val="183D34"/>
                </a:solidFill>
              </a:defRPr>
            </a:lvl2pPr>
            <a:lvl3pPr>
              <a:defRPr sz="3000" b="1">
                <a:solidFill>
                  <a:srgbClr val="183D34"/>
                </a:solidFill>
              </a:defRPr>
            </a:lvl3pPr>
            <a:lvl4pPr>
              <a:defRPr sz="3000" b="1">
                <a:solidFill>
                  <a:srgbClr val="183D34"/>
                </a:solidFill>
              </a:defRPr>
            </a:lvl4pPr>
            <a:lvl5pPr>
              <a:defRPr sz="3000" b="1">
                <a:solidFill>
                  <a:srgbClr val="183D34"/>
                </a:solidFill>
              </a:defRPr>
            </a:lvl5pPr>
            <a:lvl6pPr>
              <a:defRPr sz="3000" b="1">
                <a:solidFill>
                  <a:srgbClr val="183D34"/>
                </a:solidFill>
              </a:defRPr>
            </a:lvl6pPr>
            <a:lvl7pPr>
              <a:defRPr sz="3000" b="1">
                <a:solidFill>
                  <a:srgbClr val="183D34"/>
                </a:solidFill>
              </a:defRPr>
            </a:lvl7pPr>
            <a:lvl8pPr>
              <a:defRPr sz="3000" b="1">
                <a:solidFill>
                  <a:srgbClr val="183D34"/>
                </a:solidFill>
              </a:defRPr>
            </a:lvl8pPr>
            <a:lvl9pPr>
              <a:defRPr sz="3000" b="1">
                <a:solidFill>
                  <a:srgbClr val="183D34"/>
                </a:solidFill>
              </a:defRPr>
            </a:lvl9pPr>
          </a:lstStyle>
          <a:p xmlns:a="http://schemas.openxmlformats.org/drawingml/2006/main">
            <a:pPr>
              <a:defRPr sz="3000" b="1">
                <a:solidFill>
                  <a:srgbClr val="183D34"/>
                </a:solidFill>
              </a:defRPr>
            </a:pPr>
            <a:r>
              <a:rPr sz="3000" b="1">
                <a:solidFill>
                  <a:srgbClr val="183D34"/>
                </a:solidFill>
              </a:rPr>
              <a:t>Requested acceptance and next decisions</a:t>
            </a:r>
          </a:p>
        </p:txBody>
      </p:sp>
      <p:sp>
        <p:nvSpPr>
          <p:cNvPr id="3" name="">
            <a:extLst xmlns:a="http://schemas.openxmlformats.org/drawingml/2006/main">
              <a:ext uri="{FF2B5EF4-FFF2-40B4-BE49-F238E27FC236}">
                <a16:creationId xmlns:a16="http://schemas.microsoft.com/office/drawing/2014/main" id="{48498CAB-CC31-4233-8EDD-A2098E8250EC}"/>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A62"/>
                </a:solidFill>
              </a:defRPr>
            </a:defPPr>
            <a:lvl1pPr>
              <a:defRPr sz="1200" b="0">
                <a:solidFill>
                  <a:srgbClr val="536A62"/>
                </a:solidFill>
              </a:defRPr>
            </a:lvl1pPr>
            <a:lvl2pPr>
              <a:defRPr sz="1200" b="0">
                <a:solidFill>
                  <a:srgbClr val="536A62"/>
                </a:solidFill>
              </a:defRPr>
            </a:lvl2pPr>
            <a:lvl3pPr>
              <a:defRPr sz="1200" b="0">
                <a:solidFill>
                  <a:srgbClr val="536A62"/>
                </a:solidFill>
              </a:defRPr>
            </a:lvl3pPr>
            <a:lvl4pPr>
              <a:defRPr sz="1200" b="0">
                <a:solidFill>
                  <a:srgbClr val="536A62"/>
                </a:solidFill>
              </a:defRPr>
            </a:lvl4pPr>
            <a:lvl5pPr>
              <a:defRPr sz="1200" b="0">
                <a:solidFill>
                  <a:srgbClr val="536A62"/>
                </a:solidFill>
              </a:defRPr>
            </a:lvl5pPr>
            <a:lvl6pPr>
              <a:defRPr sz="1200" b="0">
                <a:solidFill>
                  <a:srgbClr val="536A62"/>
                </a:solidFill>
              </a:defRPr>
            </a:lvl6pPr>
            <a:lvl7pPr>
              <a:defRPr sz="1200" b="0">
                <a:solidFill>
                  <a:srgbClr val="536A62"/>
                </a:solidFill>
              </a:defRPr>
            </a:lvl7pPr>
            <a:lvl8pPr>
              <a:defRPr sz="1200" b="0">
                <a:solidFill>
                  <a:srgbClr val="536A62"/>
                </a:solidFill>
              </a:defRPr>
            </a:lvl8pPr>
            <a:lvl9pPr>
              <a:defRPr sz="1200" b="0">
                <a:solidFill>
                  <a:srgbClr val="536A62"/>
                </a:solidFill>
              </a:defRPr>
            </a:lvl9pPr>
          </a:lstStyle>
          <a:p xmlns:a="http://schemas.openxmlformats.org/drawingml/2006/main">
            <a:pPr>
              <a:defRPr sz="1200" b="0">
                <a:solidFill>
                  <a:srgbClr val="536A62"/>
                </a:solidFill>
              </a:defRPr>
            </a:pPr>
            <a:r>
              <a:rPr sz="1200" b="0">
                <a:solidFill>
                  <a:srgbClr val="536A62"/>
                </a:solidFill>
              </a:rPr>
              <a:t>20</a:t>
            </a:r>
          </a:p>
        </p:txBody>
      </p:sp>
      <p:sp>
        <p:nvSpPr>
          <p:cNvPr id="4" name="">
            <a:extLst xmlns:a="http://schemas.openxmlformats.org/drawingml/2006/main">
              <a:ext uri="{FF2B5EF4-FFF2-40B4-BE49-F238E27FC236}">
                <a16:creationId xmlns:a16="http://schemas.microsoft.com/office/drawing/2014/main" id="{3FFE0BC2-719A-411D-A0FA-142E6E6BF1A3}"/>
              </a:ext>
            </a:extLst>
          </p:cNvPr>
          <p:cNvSpPr>
            <a:spLocks xmlns:a="http://schemas.openxmlformats.org/drawingml/2006/main" noGrp="1"/>
          </p:cNvSpPr>
          <p:nvPr/>
        </p:nvSpPr>
        <p:spPr>
          <a:xfrm xmlns:a="http://schemas.openxmlformats.org/drawingml/2006/main">
            <a:off x="609600" y="14763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2A6B4D"/>
                </a:solidFill>
              </a:defRPr>
            </a:defPPr>
            <a:lvl1pPr>
              <a:defRPr sz="2700" b="1">
                <a:solidFill>
                  <a:srgbClr val="2A6B4D"/>
                </a:solidFill>
              </a:defRPr>
            </a:lvl1pPr>
            <a:lvl2pPr>
              <a:defRPr sz="2700" b="1">
                <a:solidFill>
                  <a:srgbClr val="2A6B4D"/>
                </a:solidFill>
              </a:defRPr>
            </a:lvl2pPr>
            <a:lvl3pPr>
              <a:defRPr sz="2700" b="1">
                <a:solidFill>
                  <a:srgbClr val="2A6B4D"/>
                </a:solidFill>
              </a:defRPr>
            </a:lvl3pPr>
            <a:lvl4pPr>
              <a:defRPr sz="2700" b="1">
                <a:solidFill>
                  <a:srgbClr val="2A6B4D"/>
                </a:solidFill>
              </a:defRPr>
            </a:lvl4pPr>
            <a:lvl5pPr>
              <a:defRPr sz="2700" b="1">
                <a:solidFill>
                  <a:srgbClr val="2A6B4D"/>
                </a:solidFill>
              </a:defRPr>
            </a:lvl5pPr>
            <a:lvl6pPr>
              <a:defRPr sz="2700" b="1">
                <a:solidFill>
                  <a:srgbClr val="2A6B4D"/>
                </a:solidFill>
              </a:defRPr>
            </a:lvl6pPr>
            <a:lvl7pPr>
              <a:defRPr sz="2700" b="1">
                <a:solidFill>
                  <a:srgbClr val="2A6B4D"/>
                </a:solidFill>
              </a:defRPr>
            </a:lvl7pPr>
            <a:lvl8pPr>
              <a:defRPr sz="2700" b="1">
                <a:solidFill>
                  <a:srgbClr val="2A6B4D"/>
                </a:solidFill>
              </a:defRPr>
            </a:lvl8pPr>
            <a:lvl9pPr>
              <a:defRPr sz="2700" b="1">
                <a:solidFill>
                  <a:srgbClr val="2A6B4D"/>
                </a:solidFill>
              </a:defRPr>
            </a:lvl9pPr>
          </a:lstStyle>
          <a:p xmlns:a="http://schemas.openxmlformats.org/drawingml/2006/main">
            <a:pPr>
              <a:defRPr sz="2700" b="1">
                <a:solidFill>
                  <a:srgbClr val="2A6B4D"/>
                </a:solidFill>
              </a:defRPr>
            </a:pPr>
            <a:r>
              <a:rPr sz="2700" b="1">
                <a:solidFill>
                  <a:srgbClr val="2A6B4D"/>
                </a:solidFill>
              </a:rPr>
              <a:t>Accept a synthetic Databricks pilot with explicit conditions</a:t>
            </a:r>
          </a:p>
        </p:txBody>
      </p:sp>
      <p:sp>
        <p:nvSpPr>
          <p:cNvPr id="5" name="">
            <a:extLst xmlns:a="http://schemas.openxmlformats.org/drawingml/2006/main">
              <a:ext uri="{FF2B5EF4-FFF2-40B4-BE49-F238E27FC236}">
                <a16:creationId xmlns:a16="http://schemas.microsoft.com/office/drawing/2014/main" id="{36EDCAFE-B5E5-4485-B042-D5662A5DE53C}"/>
              </a:ext>
            </a:extLst>
          </p:cNvPr>
          <p:cNvSpPr>
            <a:spLocks xmlns:a="http://schemas.openxmlformats.org/drawingml/2006/main" noGrp="1"/>
          </p:cNvSpPr>
          <p:nvPr/>
        </p:nvSpPr>
        <p:spPr>
          <a:xfrm xmlns:a="http://schemas.openxmlformats.org/drawingml/2006/main">
            <a:off x="609600" y="28575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83D34"/>
                </a:solidFill>
              </a:defRPr>
            </a:defPPr>
            <a:lvl1pPr>
              <a:defRPr sz="1875" b="1">
                <a:solidFill>
                  <a:srgbClr val="183D34"/>
                </a:solidFill>
              </a:defRPr>
            </a:lvl1pPr>
            <a:lvl2pPr>
              <a:defRPr sz="1875" b="1">
                <a:solidFill>
                  <a:srgbClr val="183D34"/>
                </a:solidFill>
              </a:defRPr>
            </a:lvl2pPr>
            <a:lvl3pPr>
              <a:defRPr sz="1875" b="1">
                <a:solidFill>
                  <a:srgbClr val="183D34"/>
                </a:solidFill>
              </a:defRPr>
            </a:lvl3pPr>
            <a:lvl4pPr>
              <a:defRPr sz="1875" b="1">
                <a:solidFill>
                  <a:srgbClr val="183D34"/>
                </a:solidFill>
              </a:defRPr>
            </a:lvl4pPr>
            <a:lvl5pPr>
              <a:defRPr sz="1875" b="1">
                <a:solidFill>
                  <a:srgbClr val="183D34"/>
                </a:solidFill>
              </a:defRPr>
            </a:lvl5pPr>
            <a:lvl6pPr>
              <a:defRPr sz="1875" b="1">
                <a:solidFill>
                  <a:srgbClr val="183D34"/>
                </a:solidFill>
              </a:defRPr>
            </a:lvl6pPr>
            <a:lvl7pPr>
              <a:defRPr sz="1875" b="1">
                <a:solidFill>
                  <a:srgbClr val="183D34"/>
                </a:solidFill>
              </a:defRPr>
            </a:lvl7pPr>
            <a:lvl8pPr>
              <a:defRPr sz="1875" b="1">
                <a:solidFill>
                  <a:srgbClr val="183D34"/>
                </a:solidFill>
              </a:defRPr>
            </a:lvl8pPr>
            <a:lvl9pPr>
              <a:defRPr sz="1875" b="1">
                <a:solidFill>
                  <a:srgbClr val="183D34"/>
                </a:solidFill>
              </a:defRPr>
            </a:lvl9pPr>
          </a:lstStyle>
          <a:p xmlns:a="http://schemas.openxmlformats.org/drawingml/2006/main">
            <a:pPr>
              <a:defRPr sz="1875" b="1">
                <a:solidFill>
                  <a:srgbClr val="183D34"/>
                </a:solidFill>
              </a:defRPr>
            </a:pPr>
            <a:r>
              <a:rPr sz="1875" b="1">
                <a:solidFill>
                  <a:srgbClr val="183D34"/>
                </a:solidFill>
              </a:rPr>
              <a:t>Architecture sponsor</a:t>
            </a:r>
          </a:p>
        </p:txBody>
      </p:sp>
      <p:sp>
        <p:nvSpPr>
          <p:cNvPr id="6" name="">
            <a:extLst xmlns:a="http://schemas.openxmlformats.org/drawingml/2006/main">
              <a:ext uri="{FF2B5EF4-FFF2-40B4-BE49-F238E27FC236}">
                <a16:creationId xmlns:a16="http://schemas.microsoft.com/office/drawing/2014/main" id="{DE386AB1-C56B-4F4C-AD9E-72B20B1DB19F}"/>
              </a:ext>
            </a:extLst>
          </p:cNvPr>
          <p:cNvSpPr>
            <a:spLocks xmlns:a="http://schemas.openxmlformats.org/drawingml/2006/main" noGrp="1"/>
          </p:cNvSpPr>
          <p:nvPr/>
        </p:nvSpPr>
        <p:spPr>
          <a:xfrm xmlns:a="http://schemas.openxmlformats.org/drawingml/2006/main">
            <a:off x="4191000" y="2857500"/>
            <a:ext cx="7191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D34"/>
                </a:solidFill>
              </a:defRPr>
            </a:defPPr>
            <a:lvl1pPr>
              <a:defRPr sz="2025" b="0">
                <a:solidFill>
                  <a:srgbClr val="183D34"/>
                </a:solidFill>
              </a:defRPr>
            </a:lvl1pPr>
            <a:lvl2pPr>
              <a:defRPr sz="2025" b="0">
                <a:solidFill>
                  <a:srgbClr val="183D34"/>
                </a:solidFill>
              </a:defRPr>
            </a:lvl2pPr>
            <a:lvl3pPr>
              <a:defRPr sz="2025" b="0">
                <a:solidFill>
                  <a:srgbClr val="183D34"/>
                </a:solidFill>
              </a:defRPr>
            </a:lvl3pPr>
            <a:lvl4pPr>
              <a:defRPr sz="2025" b="0">
                <a:solidFill>
                  <a:srgbClr val="183D34"/>
                </a:solidFill>
              </a:defRPr>
            </a:lvl4pPr>
            <a:lvl5pPr>
              <a:defRPr sz="2025" b="0">
                <a:solidFill>
                  <a:srgbClr val="183D34"/>
                </a:solidFill>
              </a:defRPr>
            </a:lvl5pPr>
            <a:lvl6pPr>
              <a:defRPr sz="2025" b="0">
                <a:solidFill>
                  <a:srgbClr val="183D34"/>
                </a:solidFill>
              </a:defRPr>
            </a:lvl6pPr>
            <a:lvl7pPr>
              <a:defRPr sz="2025" b="0">
                <a:solidFill>
                  <a:srgbClr val="183D34"/>
                </a:solidFill>
              </a:defRPr>
            </a:lvl7pPr>
            <a:lvl8pPr>
              <a:defRPr sz="2025" b="0">
                <a:solidFill>
                  <a:srgbClr val="183D34"/>
                </a:solidFill>
              </a:defRPr>
            </a:lvl8pPr>
            <a:lvl9pPr>
              <a:defRPr sz="2025" b="0">
                <a:solidFill>
                  <a:srgbClr val="183D34"/>
                </a:solidFill>
              </a:defRPr>
            </a:lvl9pPr>
          </a:lstStyle>
          <a:p xmlns:a="http://schemas.openxmlformats.org/drawingml/2006/main">
            <a:pPr>
              <a:defRPr sz="2025" b="0">
                <a:solidFill>
                  <a:srgbClr val="183D34"/>
                </a:solidFill>
              </a:defRPr>
            </a:pPr>
            <a:r>
              <a:rPr sz="2025" b="0">
                <a:solidFill>
                  <a:srgbClr val="183D34"/>
                </a:solidFill>
              </a:rPr>
              <a:t>Confirm merchant-side placement and scope</a:t>
            </a:r>
          </a:p>
        </p:txBody>
      </p:sp>
      <p:sp>
        <p:nvSpPr>
          <p:cNvPr id="7" name="">
            <a:extLst xmlns:a="http://schemas.openxmlformats.org/drawingml/2006/main">
              <a:ext uri="{FF2B5EF4-FFF2-40B4-BE49-F238E27FC236}">
                <a16:creationId xmlns:a16="http://schemas.microsoft.com/office/drawing/2014/main" id="{99EB3776-07F7-46C9-99BC-88C303653AA8}"/>
              </a:ext>
            </a:extLst>
          </p:cNvPr>
          <p:cNvSpPr>
            <a:spLocks xmlns:a="http://schemas.openxmlformats.org/drawingml/2006/main" noGrp="1"/>
          </p:cNvSpPr>
          <p:nvPr/>
        </p:nvSpPr>
        <p:spPr>
          <a:xfrm xmlns:a="http://schemas.openxmlformats.org/drawingml/2006/main">
            <a:off x="609600" y="36195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83D34"/>
                </a:solidFill>
              </a:defRPr>
            </a:defPPr>
            <a:lvl1pPr>
              <a:defRPr sz="1875" b="1">
                <a:solidFill>
                  <a:srgbClr val="183D34"/>
                </a:solidFill>
              </a:defRPr>
            </a:lvl1pPr>
            <a:lvl2pPr>
              <a:defRPr sz="1875" b="1">
                <a:solidFill>
                  <a:srgbClr val="183D34"/>
                </a:solidFill>
              </a:defRPr>
            </a:lvl2pPr>
            <a:lvl3pPr>
              <a:defRPr sz="1875" b="1">
                <a:solidFill>
                  <a:srgbClr val="183D34"/>
                </a:solidFill>
              </a:defRPr>
            </a:lvl3pPr>
            <a:lvl4pPr>
              <a:defRPr sz="1875" b="1">
                <a:solidFill>
                  <a:srgbClr val="183D34"/>
                </a:solidFill>
              </a:defRPr>
            </a:lvl4pPr>
            <a:lvl5pPr>
              <a:defRPr sz="1875" b="1">
                <a:solidFill>
                  <a:srgbClr val="183D34"/>
                </a:solidFill>
              </a:defRPr>
            </a:lvl5pPr>
            <a:lvl6pPr>
              <a:defRPr sz="1875" b="1">
                <a:solidFill>
                  <a:srgbClr val="183D34"/>
                </a:solidFill>
              </a:defRPr>
            </a:lvl6pPr>
            <a:lvl7pPr>
              <a:defRPr sz="1875" b="1">
                <a:solidFill>
                  <a:srgbClr val="183D34"/>
                </a:solidFill>
              </a:defRPr>
            </a:lvl7pPr>
            <a:lvl8pPr>
              <a:defRPr sz="1875" b="1">
                <a:solidFill>
                  <a:srgbClr val="183D34"/>
                </a:solidFill>
              </a:defRPr>
            </a:lvl8pPr>
            <a:lvl9pPr>
              <a:defRPr sz="1875" b="1">
                <a:solidFill>
                  <a:srgbClr val="183D34"/>
                </a:solidFill>
              </a:defRPr>
            </a:lvl9pPr>
          </a:lstStyle>
          <a:p xmlns:a="http://schemas.openxmlformats.org/drawingml/2006/main">
            <a:pPr>
              <a:defRPr sz="1875" b="1">
                <a:solidFill>
                  <a:srgbClr val="183D34"/>
                </a:solidFill>
              </a:defRPr>
            </a:pPr>
            <a:r>
              <a:rPr sz="1875" b="1">
                <a:solidFill>
                  <a:srgbClr val="183D34"/>
                </a:solidFill>
              </a:rPr>
              <a:t>Payments and risk owners</a:t>
            </a:r>
          </a:p>
        </p:txBody>
      </p:sp>
      <p:sp>
        <p:nvSpPr>
          <p:cNvPr id="8" name="">
            <a:extLst xmlns:a="http://schemas.openxmlformats.org/drawingml/2006/main">
              <a:ext uri="{FF2B5EF4-FFF2-40B4-BE49-F238E27FC236}">
                <a16:creationId xmlns:a16="http://schemas.microsoft.com/office/drawing/2014/main" id="{68690D0F-8143-4CB2-910A-A7C8DC0905FA}"/>
              </a:ext>
            </a:extLst>
          </p:cNvPr>
          <p:cNvSpPr>
            <a:spLocks xmlns:a="http://schemas.openxmlformats.org/drawingml/2006/main" noGrp="1"/>
          </p:cNvSpPr>
          <p:nvPr/>
        </p:nvSpPr>
        <p:spPr>
          <a:xfrm xmlns:a="http://schemas.openxmlformats.org/drawingml/2006/main">
            <a:off x="4191000" y="3619500"/>
            <a:ext cx="7191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D34"/>
                </a:solidFill>
              </a:defRPr>
            </a:defPPr>
            <a:lvl1pPr>
              <a:defRPr sz="2025" b="0">
                <a:solidFill>
                  <a:srgbClr val="183D34"/>
                </a:solidFill>
              </a:defRPr>
            </a:lvl1pPr>
            <a:lvl2pPr>
              <a:defRPr sz="2025" b="0">
                <a:solidFill>
                  <a:srgbClr val="183D34"/>
                </a:solidFill>
              </a:defRPr>
            </a:lvl2pPr>
            <a:lvl3pPr>
              <a:defRPr sz="2025" b="0">
                <a:solidFill>
                  <a:srgbClr val="183D34"/>
                </a:solidFill>
              </a:defRPr>
            </a:lvl3pPr>
            <a:lvl4pPr>
              <a:defRPr sz="2025" b="0">
                <a:solidFill>
                  <a:srgbClr val="183D34"/>
                </a:solidFill>
              </a:defRPr>
            </a:lvl4pPr>
            <a:lvl5pPr>
              <a:defRPr sz="2025" b="0">
                <a:solidFill>
                  <a:srgbClr val="183D34"/>
                </a:solidFill>
              </a:defRPr>
            </a:lvl5pPr>
            <a:lvl6pPr>
              <a:defRPr sz="2025" b="0">
                <a:solidFill>
                  <a:srgbClr val="183D34"/>
                </a:solidFill>
              </a:defRPr>
            </a:lvl6pPr>
            <a:lvl7pPr>
              <a:defRPr sz="2025" b="0">
                <a:solidFill>
                  <a:srgbClr val="183D34"/>
                </a:solidFill>
              </a:defRPr>
            </a:lvl7pPr>
            <a:lvl8pPr>
              <a:defRPr sz="2025" b="0">
                <a:solidFill>
                  <a:srgbClr val="183D34"/>
                </a:solidFill>
              </a:defRPr>
            </a:lvl8pPr>
            <a:lvl9pPr>
              <a:defRPr sz="2025" b="0">
                <a:solidFill>
                  <a:srgbClr val="183D34"/>
                </a:solidFill>
              </a:defRPr>
            </a:lvl9pPr>
          </a:lstStyle>
          <a:p xmlns:a="http://schemas.openxmlformats.org/drawingml/2006/main">
            <a:pPr>
              <a:defRPr sz="2025" b="0">
                <a:solidFill>
                  <a:srgbClr val="183D34"/>
                </a:solidFill>
              </a:defRPr>
            </a:pPr>
            <a:r>
              <a:rPr sz="2025" b="0">
                <a:solidFill>
                  <a:srgbClr val="183D34"/>
                </a:solidFill>
              </a:rPr>
              <a:t>Approve decision policy, release limits and outage behavior</a:t>
            </a:r>
          </a:p>
        </p:txBody>
      </p:sp>
      <p:sp>
        <p:nvSpPr>
          <p:cNvPr id="9" name="">
            <a:extLst xmlns:a="http://schemas.openxmlformats.org/drawingml/2006/main">
              <a:ext uri="{FF2B5EF4-FFF2-40B4-BE49-F238E27FC236}">
                <a16:creationId xmlns:a16="http://schemas.microsoft.com/office/drawing/2014/main" id="{F16DB49F-7DDE-4064-9985-DF5C9DE939A5}"/>
              </a:ext>
            </a:extLst>
          </p:cNvPr>
          <p:cNvSpPr>
            <a:spLocks xmlns:a="http://schemas.openxmlformats.org/drawingml/2006/main" noGrp="1"/>
          </p:cNvSpPr>
          <p:nvPr/>
        </p:nvSpPr>
        <p:spPr>
          <a:xfrm xmlns:a="http://schemas.openxmlformats.org/drawingml/2006/main">
            <a:off x="609600" y="43815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83D34"/>
                </a:solidFill>
              </a:defRPr>
            </a:defPPr>
            <a:lvl1pPr>
              <a:defRPr sz="1875" b="1">
                <a:solidFill>
                  <a:srgbClr val="183D34"/>
                </a:solidFill>
              </a:defRPr>
            </a:lvl1pPr>
            <a:lvl2pPr>
              <a:defRPr sz="1875" b="1">
                <a:solidFill>
                  <a:srgbClr val="183D34"/>
                </a:solidFill>
              </a:defRPr>
            </a:lvl2pPr>
            <a:lvl3pPr>
              <a:defRPr sz="1875" b="1">
                <a:solidFill>
                  <a:srgbClr val="183D34"/>
                </a:solidFill>
              </a:defRPr>
            </a:lvl3pPr>
            <a:lvl4pPr>
              <a:defRPr sz="1875" b="1">
                <a:solidFill>
                  <a:srgbClr val="183D34"/>
                </a:solidFill>
              </a:defRPr>
            </a:lvl4pPr>
            <a:lvl5pPr>
              <a:defRPr sz="1875" b="1">
                <a:solidFill>
                  <a:srgbClr val="183D34"/>
                </a:solidFill>
              </a:defRPr>
            </a:lvl5pPr>
            <a:lvl6pPr>
              <a:defRPr sz="1875" b="1">
                <a:solidFill>
                  <a:srgbClr val="183D34"/>
                </a:solidFill>
              </a:defRPr>
            </a:lvl6pPr>
            <a:lvl7pPr>
              <a:defRPr sz="1875" b="1">
                <a:solidFill>
                  <a:srgbClr val="183D34"/>
                </a:solidFill>
              </a:defRPr>
            </a:lvl7pPr>
            <a:lvl8pPr>
              <a:defRPr sz="1875" b="1">
                <a:solidFill>
                  <a:srgbClr val="183D34"/>
                </a:solidFill>
              </a:defRPr>
            </a:lvl8pPr>
            <a:lvl9pPr>
              <a:defRPr sz="1875" b="1">
                <a:solidFill>
                  <a:srgbClr val="183D34"/>
                </a:solidFill>
              </a:defRPr>
            </a:lvl9pPr>
          </a:lstStyle>
          <a:p xmlns:a="http://schemas.openxmlformats.org/drawingml/2006/main">
            <a:pPr>
              <a:defRPr sz="1875" b="1">
                <a:solidFill>
                  <a:srgbClr val="183D34"/>
                </a:solidFill>
              </a:defRPr>
            </a:pPr>
            <a:r>
              <a:rPr sz="1875" b="1">
                <a:solidFill>
                  <a:srgbClr val="183D34"/>
                </a:solidFill>
              </a:rPr>
              <a:t>Platform and security owners</a:t>
            </a:r>
          </a:p>
        </p:txBody>
      </p:sp>
      <p:sp>
        <p:nvSpPr>
          <p:cNvPr id="10" name="">
            <a:extLst xmlns:a="http://schemas.openxmlformats.org/drawingml/2006/main">
              <a:ext uri="{FF2B5EF4-FFF2-40B4-BE49-F238E27FC236}">
                <a16:creationId xmlns:a16="http://schemas.microsoft.com/office/drawing/2014/main" id="{9031BCA3-27E2-4B57-8D6B-955C4B7D4AAF}"/>
              </a:ext>
            </a:extLst>
          </p:cNvPr>
          <p:cNvSpPr>
            <a:spLocks xmlns:a="http://schemas.openxmlformats.org/drawingml/2006/main" noGrp="1"/>
          </p:cNvSpPr>
          <p:nvPr/>
        </p:nvSpPr>
        <p:spPr>
          <a:xfrm xmlns:a="http://schemas.openxmlformats.org/drawingml/2006/main">
            <a:off x="4191000" y="4381500"/>
            <a:ext cx="7191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D34"/>
                </a:solidFill>
              </a:defRPr>
            </a:defPPr>
            <a:lvl1pPr>
              <a:defRPr sz="2025" b="0">
                <a:solidFill>
                  <a:srgbClr val="183D34"/>
                </a:solidFill>
              </a:defRPr>
            </a:lvl1pPr>
            <a:lvl2pPr>
              <a:defRPr sz="2025" b="0">
                <a:solidFill>
                  <a:srgbClr val="183D34"/>
                </a:solidFill>
              </a:defRPr>
            </a:lvl2pPr>
            <a:lvl3pPr>
              <a:defRPr sz="2025" b="0">
                <a:solidFill>
                  <a:srgbClr val="183D34"/>
                </a:solidFill>
              </a:defRPr>
            </a:lvl3pPr>
            <a:lvl4pPr>
              <a:defRPr sz="2025" b="0">
                <a:solidFill>
                  <a:srgbClr val="183D34"/>
                </a:solidFill>
              </a:defRPr>
            </a:lvl4pPr>
            <a:lvl5pPr>
              <a:defRPr sz="2025" b="0">
                <a:solidFill>
                  <a:srgbClr val="183D34"/>
                </a:solidFill>
              </a:defRPr>
            </a:lvl5pPr>
            <a:lvl6pPr>
              <a:defRPr sz="2025" b="0">
                <a:solidFill>
                  <a:srgbClr val="183D34"/>
                </a:solidFill>
              </a:defRPr>
            </a:lvl6pPr>
            <a:lvl7pPr>
              <a:defRPr sz="2025" b="0">
                <a:solidFill>
                  <a:srgbClr val="183D34"/>
                </a:solidFill>
              </a:defRPr>
            </a:lvl7pPr>
            <a:lvl8pPr>
              <a:defRPr sz="2025" b="0">
                <a:solidFill>
                  <a:srgbClr val="183D34"/>
                </a:solidFill>
              </a:defRPr>
            </a:lvl8pPr>
            <a:lvl9pPr>
              <a:defRPr sz="2025" b="0">
                <a:solidFill>
                  <a:srgbClr val="183D34"/>
                </a:solidFill>
              </a:defRPr>
            </a:lvl9pPr>
          </a:lstStyle>
          <a:p xmlns:a="http://schemas.openxmlformats.org/drawingml/2006/main">
            <a:pPr>
              <a:defRPr sz="2025" b="0">
                <a:solidFill>
                  <a:srgbClr val="183D34"/>
                </a:solidFill>
              </a:defRPr>
            </a:pPr>
            <a:r>
              <a:rPr sz="2025" b="0">
                <a:solidFill>
                  <a:srgbClr val="183D34"/>
                </a:solidFill>
              </a:rPr>
              <a:t>Select state, identity and evidence controls</a:t>
            </a:r>
          </a:p>
        </p:txBody>
      </p:sp>
      <p:sp>
        <p:nvSpPr>
          <p:cNvPr id="11" name="">
            <a:extLst xmlns:a="http://schemas.openxmlformats.org/drawingml/2006/main">
              <a:ext uri="{FF2B5EF4-FFF2-40B4-BE49-F238E27FC236}">
                <a16:creationId xmlns:a16="http://schemas.microsoft.com/office/drawing/2014/main" id="{526F247E-47EB-4793-8C96-4945AAC43B22}"/>
              </a:ext>
            </a:extLst>
          </p:cNvPr>
          <p:cNvSpPr>
            <a:spLocks xmlns:a="http://schemas.openxmlformats.org/drawingml/2006/main" noGrp="1"/>
          </p:cNvSpPr>
          <p:nvPr/>
        </p:nvSpPr>
        <p:spPr>
          <a:xfrm xmlns:a="http://schemas.openxmlformats.org/drawingml/2006/main">
            <a:off x="609600" y="51435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83D34"/>
                </a:solidFill>
              </a:defRPr>
            </a:defPPr>
            <a:lvl1pPr>
              <a:defRPr sz="1875" b="1">
                <a:solidFill>
                  <a:srgbClr val="183D34"/>
                </a:solidFill>
              </a:defRPr>
            </a:lvl1pPr>
            <a:lvl2pPr>
              <a:defRPr sz="1875" b="1">
                <a:solidFill>
                  <a:srgbClr val="183D34"/>
                </a:solidFill>
              </a:defRPr>
            </a:lvl2pPr>
            <a:lvl3pPr>
              <a:defRPr sz="1875" b="1">
                <a:solidFill>
                  <a:srgbClr val="183D34"/>
                </a:solidFill>
              </a:defRPr>
            </a:lvl3pPr>
            <a:lvl4pPr>
              <a:defRPr sz="1875" b="1">
                <a:solidFill>
                  <a:srgbClr val="183D34"/>
                </a:solidFill>
              </a:defRPr>
            </a:lvl4pPr>
            <a:lvl5pPr>
              <a:defRPr sz="1875" b="1">
                <a:solidFill>
                  <a:srgbClr val="183D34"/>
                </a:solidFill>
              </a:defRPr>
            </a:lvl5pPr>
            <a:lvl6pPr>
              <a:defRPr sz="1875" b="1">
                <a:solidFill>
                  <a:srgbClr val="183D34"/>
                </a:solidFill>
              </a:defRPr>
            </a:lvl6pPr>
            <a:lvl7pPr>
              <a:defRPr sz="1875" b="1">
                <a:solidFill>
                  <a:srgbClr val="183D34"/>
                </a:solidFill>
              </a:defRPr>
            </a:lvl7pPr>
            <a:lvl8pPr>
              <a:defRPr sz="1875" b="1">
                <a:solidFill>
                  <a:srgbClr val="183D34"/>
                </a:solidFill>
              </a:defRPr>
            </a:lvl8pPr>
            <a:lvl9pPr>
              <a:defRPr sz="1875" b="1">
                <a:solidFill>
                  <a:srgbClr val="183D34"/>
                </a:solidFill>
              </a:defRPr>
            </a:lvl9pPr>
          </a:lstStyle>
          <a:p xmlns:a="http://schemas.openxmlformats.org/drawingml/2006/main">
            <a:pPr>
              <a:defRPr sz="1875" b="1">
                <a:solidFill>
                  <a:srgbClr val="183D34"/>
                </a:solidFill>
              </a:defRPr>
            </a:pPr>
            <a:r>
              <a:rPr sz="1875" b="1">
                <a:solidFill>
                  <a:srgbClr val="183D34"/>
                </a:solidFill>
              </a:rPr>
              <a:t>Pilot review</a:t>
            </a:r>
          </a:p>
        </p:txBody>
      </p:sp>
      <p:sp>
        <p:nvSpPr>
          <p:cNvPr id="12" name="">
            <a:extLst xmlns:a="http://schemas.openxmlformats.org/drawingml/2006/main">
              <a:ext uri="{FF2B5EF4-FFF2-40B4-BE49-F238E27FC236}">
                <a16:creationId xmlns:a16="http://schemas.microsoft.com/office/drawing/2014/main" id="{7B06CBA3-EFEA-4EDC-8ADD-A78D00FA9C28}"/>
              </a:ext>
            </a:extLst>
          </p:cNvPr>
          <p:cNvSpPr>
            <a:spLocks xmlns:a="http://schemas.openxmlformats.org/drawingml/2006/main" noGrp="1"/>
          </p:cNvSpPr>
          <p:nvPr/>
        </p:nvSpPr>
        <p:spPr>
          <a:xfrm xmlns:a="http://schemas.openxmlformats.org/drawingml/2006/main">
            <a:off x="4191000" y="5143500"/>
            <a:ext cx="7191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D34"/>
                </a:solidFill>
              </a:defRPr>
            </a:defPPr>
            <a:lvl1pPr>
              <a:defRPr sz="2025" b="0">
                <a:solidFill>
                  <a:srgbClr val="183D34"/>
                </a:solidFill>
              </a:defRPr>
            </a:lvl1pPr>
            <a:lvl2pPr>
              <a:defRPr sz="2025" b="0">
                <a:solidFill>
                  <a:srgbClr val="183D34"/>
                </a:solidFill>
              </a:defRPr>
            </a:lvl2pPr>
            <a:lvl3pPr>
              <a:defRPr sz="2025" b="0">
                <a:solidFill>
                  <a:srgbClr val="183D34"/>
                </a:solidFill>
              </a:defRPr>
            </a:lvl3pPr>
            <a:lvl4pPr>
              <a:defRPr sz="2025" b="0">
                <a:solidFill>
                  <a:srgbClr val="183D34"/>
                </a:solidFill>
              </a:defRPr>
            </a:lvl4pPr>
            <a:lvl5pPr>
              <a:defRPr sz="2025" b="0">
                <a:solidFill>
                  <a:srgbClr val="183D34"/>
                </a:solidFill>
              </a:defRPr>
            </a:lvl5pPr>
            <a:lvl6pPr>
              <a:defRPr sz="2025" b="0">
                <a:solidFill>
                  <a:srgbClr val="183D34"/>
                </a:solidFill>
              </a:defRPr>
            </a:lvl6pPr>
            <a:lvl7pPr>
              <a:defRPr sz="2025" b="0">
                <a:solidFill>
                  <a:srgbClr val="183D34"/>
                </a:solidFill>
              </a:defRPr>
            </a:lvl7pPr>
            <a:lvl8pPr>
              <a:defRPr sz="2025" b="0">
                <a:solidFill>
                  <a:srgbClr val="183D34"/>
                </a:solidFill>
              </a:defRPr>
            </a:lvl8pPr>
            <a:lvl9pPr>
              <a:defRPr sz="2025" b="0">
                <a:solidFill>
                  <a:srgbClr val="183D34"/>
                </a:solidFill>
              </a:defRPr>
            </a:lvl9pPr>
          </a:lstStyle>
          <a:p xmlns:a="http://schemas.openxmlformats.org/drawingml/2006/main">
            <a:pPr>
              <a:defRPr sz="2025" b="0">
                <a:solidFill>
                  <a:srgbClr val="183D34"/>
                </a:solidFill>
              </a:defRPr>
            </a:pPr>
            <a:r>
              <a:rPr sz="2025" b="0">
                <a:solidFill>
                  <a:srgbClr val="183D34"/>
                </a:solidFill>
              </a:rPr>
              <a:t>Evaluate recorded tests before approving any live endpoint</a:t>
            </a:r>
          </a:p>
        </p:txBody>
      </p:sp>
      <p:sp>
        <p:nvSpPr>
          <p:cNvPr id="13" name="">
            <a:extLst xmlns:a="http://schemas.openxmlformats.org/drawingml/2006/main">
              <a:ext uri="{FF2B5EF4-FFF2-40B4-BE49-F238E27FC236}">
                <a16:creationId xmlns:a16="http://schemas.microsoft.com/office/drawing/2014/main" id="{0C8ECD70-36F8-4058-89EC-3FAE0E835C48}"/>
              </a:ext>
            </a:extLst>
          </p:cNvPr>
          <p:cNvSpPr>
            <a:spLocks xmlns:a="http://schemas.openxmlformats.org/drawingml/2006/main" noGrp="1"/>
          </p:cNvSpPr>
          <p:nvPr/>
        </p:nvSpPr>
        <p:spPr>
          <a:xfrm xmlns:a="http://schemas.openxmlformats.org/drawingml/2006/main">
            <a:off x="609600" y="60483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8A4D16"/>
                </a:solidFill>
              </a:defRPr>
            </a:defPPr>
            <a:lvl1pPr>
              <a:defRPr sz="1800" b="0">
                <a:solidFill>
                  <a:srgbClr val="8A4D16"/>
                </a:solidFill>
              </a:defRPr>
            </a:lvl1pPr>
            <a:lvl2pPr>
              <a:defRPr sz="1800" b="0">
                <a:solidFill>
                  <a:srgbClr val="8A4D16"/>
                </a:solidFill>
              </a:defRPr>
            </a:lvl2pPr>
            <a:lvl3pPr>
              <a:defRPr sz="1800" b="0">
                <a:solidFill>
                  <a:srgbClr val="8A4D16"/>
                </a:solidFill>
              </a:defRPr>
            </a:lvl3pPr>
            <a:lvl4pPr>
              <a:defRPr sz="1800" b="0">
                <a:solidFill>
                  <a:srgbClr val="8A4D16"/>
                </a:solidFill>
              </a:defRPr>
            </a:lvl4pPr>
            <a:lvl5pPr>
              <a:defRPr sz="1800" b="0">
                <a:solidFill>
                  <a:srgbClr val="8A4D16"/>
                </a:solidFill>
              </a:defRPr>
            </a:lvl5pPr>
            <a:lvl6pPr>
              <a:defRPr sz="1800" b="0">
                <a:solidFill>
                  <a:srgbClr val="8A4D16"/>
                </a:solidFill>
              </a:defRPr>
            </a:lvl6pPr>
            <a:lvl7pPr>
              <a:defRPr sz="1800" b="0">
                <a:solidFill>
                  <a:srgbClr val="8A4D16"/>
                </a:solidFill>
              </a:defRPr>
            </a:lvl7pPr>
            <a:lvl8pPr>
              <a:defRPr sz="1800" b="0">
                <a:solidFill>
                  <a:srgbClr val="8A4D16"/>
                </a:solidFill>
              </a:defRPr>
            </a:lvl8pPr>
            <a:lvl9pPr>
              <a:defRPr sz="1800" b="0">
                <a:solidFill>
                  <a:srgbClr val="8A4D16"/>
                </a:solidFill>
              </a:defRPr>
            </a:lvl9pPr>
          </a:lstStyle>
          <a:p xmlns:a="http://schemas.openxmlformats.org/drawingml/2006/main">
            <a:pPr>
              <a:defRPr sz="1800" b="0">
                <a:solidFill>
                  <a:srgbClr val="8A4D16"/>
                </a:solidFill>
              </a:defRPr>
            </a:pPr>
            <a:r>
              <a:rPr sz="1800" b="0">
                <a:solidFill>
                  <a:srgbClr val="8A4D16"/>
                </a:solidFill>
              </a:rPr>
              <a:t>Acceptance authorizes evaluation. Production payment approval remains a separate decision.</a:t>
            </a:r>
          </a:p>
        </p:txBody>
      </p:sp>
    </p:spTree>
    <p:extLst>
      <p:ext uri="{BB962C8B-B14F-4D97-AF65-F5344CB8AC3E}">
        <p14:creationId xmlns:p14="http://schemas.microsoft.com/office/powerpoint/2010/main" val="1360923041"/>
      </p:ext>
    </p:extLst>
  </p:cSld>
</p:sld>
</file>

<file path=ppt/slides/slide21.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4C8C31B-1632-4214-AEB8-511F1E8DB09C}"/>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D34"/>
                </a:solidFill>
                <a:latin typeface="Arial"/>
                <a:ea typeface="Arial"/>
                <a:cs typeface="Arial"/>
              </a:defRPr>
            </a:defPPr>
            <a:lvl1pPr>
              <a:defRPr sz="3000" b="1">
                <a:solidFill>
                  <a:srgbClr val="183D34"/>
                </a:solidFill>
                <a:latin typeface="Arial"/>
                <a:ea typeface="Arial"/>
                <a:cs typeface="Arial"/>
              </a:defRPr>
            </a:lvl1pPr>
            <a:lvl2pPr>
              <a:defRPr sz="3000" b="1">
                <a:solidFill>
                  <a:srgbClr val="183D34"/>
                </a:solidFill>
                <a:latin typeface="Arial"/>
                <a:ea typeface="Arial"/>
                <a:cs typeface="Arial"/>
              </a:defRPr>
            </a:lvl2pPr>
            <a:lvl3pPr>
              <a:defRPr sz="3000" b="1">
                <a:solidFill>
                  <a:srgbClr val="183D34"/>
                </a:solidFill>
                <a:latin typeface="Arial"/>
                <a:ea typeface="Arial"/>
                <a:cs typeface="Arial"/>
              </a:defRPr>
            </a:lvl3pPr>
            <a:lvl4pPr>
              <a:defRPr sz="3000" b="1">
                <a:solidFill>
                  <a:srgbClr val="183D34"/>
                </a:solidFill>
                <a:latin typeface="Arial"/>
                <a:ea typeface="Arial"/>
                <a:cs typeface="Arial"/>
              </a:defRPr>
            </a:lvl4pPr>
            <a:lvl5pPr>
              <a:defRPr sz="3000" b="1">
                <a:solidFill>
                  <a:srgbClr val="183D34"/>
                </a:solidFill>
                <a:latin typeface="Arial"/>
                <a:ea typeface="Arial"/>
                <a:cs typeface="Arial"/>
              </a:defRPr>
            </a:lvl5pPr>
            <a:lvl6pPr>
              <a:defRPr sz="3000" b="1">
                <a:solidFill>
                  <a:srgbClr val="183D34"/>
                </a:solidFill>
                <a:latin typeface="Arial"/>
                <a:ea typeface="Arial"/>
                <a:cs typeface="Arial"/>
              </a:defRPr>
            </a:lvl6pPr>
            <a:lvl7pPr>
              <a:defRPr sz="3000" b="1">
                <a:solidFill>
                  <a:srgbClr val="183D34"/>
                </a:solidFill>
                <a:latin typeface="Arial"/>
                <a:ea typeface="Arial"/>
                <a:cs typeface="Arial"/>
              </a:defRPr>
            </a:lvl7pPr>
            <a:lvl8pPr>
              <a:defRPr sz="3000" b="1">
                <a:solidFill>
                  <a:srgbClr val="183D34"/>
                </a:solidFill>
                <a:latin typeface="Arial"/>
                <a:ea typeface="Arial"/>
                <a:cs typeface="Arial"/>
              </a:defRPr>
            </a:lvl8pPr>
            <a:lvl9pPr>
              <a:defRPr sz="3000" b="1">
                <a:solidFill>
                  <a:srgbClr val="183D34"/>
                </a:solidFill>
                <a:latin typeface="Arial"/>
                <a:ea typeface="Arial"/>
                <a:cs typeface="Arial"/>
              </a:defRPr>
            </a:lvl9pPr>
          </a:lstStyle>
          <a:p xmlns:a="http://schemas.openxmlformats.org/drawingml/2006/main">
            <a:pPr>
              <a:defRPr sz="3000" b="1">
                <a:solidFill>
                  <a:srgbClr val="183D34"/>
                </a:solidFill>
                <a:latin typeface="Arial"/>
                <a:ea typeface="Arial"/>
                <a:cs typeface="Arial"/>
              </a:defRPr>
            </a:pPr>
            <a:r>
              <a:rPr sz="3000" b="1">
                <a:solidFill>
                  <a:srgbClr val="183D34"/>
                </a:solidFill>
                <a:latin typeface="Arial"/>
                <a:ea typeface="Arial"/>
                <a:cs typeface="Arial"/>
              </a:rPr>
              <a:t>Authorization evidence through the demo</a:t>
            </a:r>
          </a:p>
        </p:txBody>
      </p:sp>
      <p:sp>
        <p:nvSpPr>
          <p:cNvPr id="3" name="">
            <a:extLst xmlns:a="http://schemas.openxmlformats.org/drawingml/2006/main">
              <a:ext uri="{FF2B5EF4-FFF2-40B4-BE49-F238E27FC236}">
                <a16:creationId xmlns:a16="http://schemas.microsoft.com/office/drawing/2014/main" id="{8C6719BE-1B8B-4EBD-AD48-CCE03C458B86}"/>
              </a:ext>
            </a:extLst>
          </p:cNvPr>
          <p:cNvSpPr>
            <a:spLocks xmlns:a="http://schemas.openxmlformats.org/drawingml/2006/main" noGrp="1"/>
          </p:cNvSpPr>
          <p:nvPr/>
        </p:nvSpPr>
        <p:spPr>
          <a:xfrm xmlns:a="http://schemas.openxmlformats.org/drawingml/2006/main">
            <a:off x="609600" y="1714500"/>
            <a:ext cx="3810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125" b="1">
                <a:solidFill>
                  <a:srgbClr val="2A6B4D"/>
                </a:solidFill>
                <a:latin typeface="Arial"/>
                <a:ea typeface="Arial"/>
                <a:cs typeface="Arial"/>
              </a:defRPr>
            </a:defPPr>
            <a:lvl1pPr>
              <a:defRPr sz="4125" b="1">
                <a:solidFill>
                  <a:srgbClr val="2A6B4D"/>
                </a:solidFill>
                <a:latin typeface="Arial"/>
                <a:ea typeface="Arial"/>
                <a:cs typeface="Arial"/>
              </a:defRPr>
            </a:lvl1pPr>
            <a:lvl2pPr>
              <a:defRPr sz="4125" b="1">
                <a:solidFill>
                  <a:srgbClr val="2A6B4D"/>
                </a:solidFill>
                <a:latin typeface="Arial"/>
                <a:ea typeface="Arial"/>
                <a:cs typeface="Arial"/>
              </a:defRPr>
            </a:lvl2pPr>
            <a:lvl3pPr>
              <a:defRPr sz="4125" b="1">
                <a:solidFill>
                  <a:srgbClr val="2A6B4D"/>
                </a:solidFill>
                <a:latin typeface="Arial"/>
                <a:ea typeface="Arial"/>
                <a:cs typeface="Arial"/>
              </a:defRPr>
            </a:lvl3pPr>
            <a:lvl4pPr>
              <a:defRPr sz="4125" b="1">
                <a:solidFill>
                  <a:srgbClr val="2A6B4D"/>
                </a:solidFill>
                <a:latin typeface="Arial"/>
                <a:ea typeface="Arial"/>
                <a:cs typeface="Arial"/>
              </a:defRPr>
            </a:lvl4pPr>
            <a:lvl5pPr>
              <a:defRPr sz="4125" b="1">
                <a:solidFill>
                  <a:srgbClr val="2A6B4D"/>
                </a:solidFill>
                <a:latin typeface="Arial"/>
                <a:ea typeface="Arial"/>
                <a:cs typeface="Arial"/>
              </a:defRPr>
            </a:lvl5pPr>
            <a:lvl6pPr>
              <a:defRPr sz="4125" b="1">
                <a:solidFill>
                  <a:srgbClr val="2A6B4D"/>
                </a:solidFill>
                <a:latin typeface="Arial"/>
                <a:ea typeface="Arial"/>
                <a:cs typeface="Arial"/>
              </a:defRPr>
            </a:lvl6pPr>
            <a:lvl7pPr>
              <a:defRPr sz="4125" b="1">
                <a:solidFill>
                  <a:srgbClr val="2A6B4D"/>
                </a:solidFill>
                <a:latin typeface="Arial"/>
                <a:ea typeface="Arial"/>
                <a:cs typeface="Arial"/>
              </a:defRPr>
            </a:lvl7pPr>
            <a:lvl8pPr>
              <a:defRPr sz="4125" b="1">
                <a:solidFill>
                  <a:srgbClr val="2A6B4D"/>
                </a:solidFill>
                <a:latin typeface="Arial"/>
                <a:ea typeface="Arial"/>
                <a:cs typeface="Arial"/>
              </a:defRPr>
            </a:lvl8pPr>
            <a:lvl9pPr>
              <a:defRPr sz="4125" b="1">
                <a:solidFill>
                  <a:srgbClr val="2A6B4D"/>
                </a:solidFill>
                <a:latin typeface="Arial"/>
                <a:ea typeface="Arial"/>
                <a:cs typeface="Arial"/>
              </a:defRPr>
            </a:lvl9pPr>
          </a:lstStyle>
          <a:p xmlns:a="http://schemas.openxmlformats.org/drawingml/2006/main">
            <a:pPr>
              <a:defRPr sz="4125" b="1">
                <a:solidFill>
                  <a:srgbClr val="2A6B4D"/>
                </a:solidFill>
                <a:latin typeface="Arial"/>
                <a:ea typeface="Arial"/>
                <a:cs typeface="Arial"/>
              </a:defRPr>
            </a:pPr>
            <a:r>
              <a:rPr sz="4125" b="1">
                <a:solidFill>
                  <a:srgbClr val="2A6B4D"/>
                </a:solidFill>
                <a:latin typeface="Arial"/>
                <a:ea typeface="Arial"/>
                <a:cs typeface="Arial"/>
              </a:rPr>
              <a:t>2 requests</a:t>
            </a:r>
          </a:p>
        </p:txBody>
      </p:sp>
      <p:sp>
        <p:nvSpPr>
          <p:cNvPr id="4" name="">
            <a:extLst xmlns:a="http://schemas.openxmlformats.org/drawingml/2006/main">
              <a:ext uri="{FF2B5EF4-FFF2-40B4-BE49-F238E27FC236}">
                <a16:creationId xmlns:a16="http://schemas.microsoft.com/office/drawing/2014/main" id="{AF01C562-3AA5-4F7E-8794-6E2D3D8B904D}"/>
              </a:ext>
            </a:extLst>
          </p:cNvPr>
          <p:cNvSpPr>
            <a:spLocks xmlns:a="http://schemas.openxmlformats.org/drawingml/2006/main" noGrp="1"/>
          </p:cNvSpPr>
          <p:nvPr/>
        </p:nvSpPr>
        <p:spPr>
          <a:xfrm xmlns:a="http://schemas.openxmlformats.org/drawingml/2006/main">
            <a:off x="609600" y="2714625"/>
            <a:ext cx="428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A6B4D"/>
                </a:solidFill>
                <a:latin typeface="Arial"/>
                <a:ea typeface="Arial"/>
                <a:cs typeface="Arial"/>
              </a:defRPr>
            </a:defPPr>
            <a:lvl1pPr>
              <a:defRPr sz="3600" b="1">
                <a:solidFill>
                  <a:srgbClr val="2A6B4D"/>
                </a:solidFill>
                <a:latin typeface="Arial"/>
                <a:ea typeface="Arial"/>
                <a:cs typeface="Arial"/>
              </a:defRPr>
            </a:lvl1pPr>
            <a:lvl2pPr>
              <a:defRPr sz="3600" b="1">
                <a:solidFill>
                  <a:srgbClr val="2A6B4D"/>
                </a:solidFill>
                <a:latin typeface="Arial"/>
                <a:ea typeface="Arial"/>
                <a:cs typeface="Arial"/>
              </a:defRPr>
            </a:lvl2pPr>
            <a:lvl3pPr>
              <a:defRPr sz="3600" b="1">
                <a:solidFill>
                  <a:srgbClr val="2A6B4D"/>
                </a:solidFill>
                <a:latin typeface="Arial"/>
                <a:ea typeface="Arial"/>
                <a:cs typeface="Arial"/>
              </a:defRPr>
            </a:lvl3pPr>
            <a:lvl4pPr>
              <a:defRPr sz="3600" b="1">
                <a:solidFill>
                  <a:srgbClr val="2A6B4D"/>
                </a:solidFill>
                <a:latin typeface="Arial"/>
                <a:ea typeface="Arial"/>
                <a:cs typeface="Arial"/>
              </a:defRPr>
            </a:lvl4pPr>
            <a:lvl5pPr>
              <a:defRPr sz="3600" b="1">
                <a:solidFill>
                  <a:srgbClr val="2A6B4D"/>
                </a:solidFill>
                <a:latin typeface="Arial"/>
                <a:ea typeface="Arial"/>
                <a:cs typeface="Arial"/>
              </a:defRPr>
            </a:lvl5pPr>
            <a:lvl6pPr>
              <a:defRPr sz="3600" b="1">
                <a:solidFill>
                  <a:srgbClr val="2A6B4D"/>
                </a:solidFill>
                <a:latin typeface="Arial"/>
                <a:ea typeface="Arial"/>
                <a:cs typeface="Arial"/>
              </a:defRPr>
            </a:lvl6pPr>
            <a:lvl7pPr>
              <a:defRPr sz="3600" b="1">
                <a:solidFill>
                  <a:srgbClr val="2A6B4D"/>
                </a:solidFill>
                <a:latin typeface="Arial"/>
                <a:ea typeface="Arial"/>
                <a:cs typeface="Arial"/>
              </a:defRPr>
            </a:lvl7pPr>
            <a:lvl8pPr>
              <a:defRPr sz="3600" b="1">
                <a:solidFill>
                  <a:srgbClr val="2A6B4D"/>
                </a:solidFill>
                <a:latin typeface="Arial"/>
                <a:ea typeface="Arial"/>
                <a:cs typeface="Arial"/>
              </a:defRPr>
            </a:lvl8pPr>
            <a:lvl9pPr>
              <a:defRPr sz="3600" b="1">
                <a:solidFill>
                  <a:srgbClr val="2A6B4D"/>
                </a:solidFill>
                <a:latin typeface="Arial"/>
                <a:ea typeface="Arial"/>
                <a:cs typeface="Arial"/>
              </a:defRPr>
            </a:lvl9pPr>
          </a:lstStyle>
          <a:p xmlns:a="http://schemas.openxmlformats.org/drawingml/2006/main">
            <a:pPr>
              <a:defRPr sz="3600" b="1">
                <a:solidFill>
                  <a:srgbClr val="2A6B4D"/>
                </a:solidFill>
                <a:latin typeface="Arial"/>
                <a:ea typeface="Arial"/>
                <a:cs typeface="Arial"/>
              </a:defRPr>
            </a:pPr>
            <a:r>
              <a:rPr sz="3600" b="1">
                <a:solidFill>
                  <a:srgbClr val="2A6B4D"/>
                </a:solidFill>
                <a:latin typeface="Arial"/>
                <a:ea typeface="Arial"/>
                <a:cs typeface="Arial"/>
              </a:rPr>
              <a:t>2 issuer receipts</a:t>
            </a:r>
          </a:p>
        </p:txBody>
      </p:sp>
      <p:sp>
        <p:nvSpPr>
          <p:cNvPr id="5" name="">
            <a:extLst xmlns:a="http://schemas.openxmlformats.org/drawingml/2006/main">
              <a:ext uri="{FF2B5EF4-FFF2-40B4-BE49-F238E27FC236}">
                <a16:creationId xmlns:a16="http://schemas.microsoft.com/office/drawing/2014/main" id="{E607DF65-3F0F-46BA-BF3F-A251E8963C3B}"/>
              </a:ext>
            </a:extLst>
          </p:cNvPr>
          <p:cNvSpPr>
            <a:spLocks xmlns:a="http://schemas.openxmlformats.org/drawingml/2006/main" noGrp="1"/>
          </p:cNvSpPr>
          <p:nvPr/>
        </p:nvSpPr>
        <p:spPr>
          <a:xfrm xmlns:a="http://schemas.openxmlformats.org/drawingml/2006/main">
            <a:off x="609600" y="3905250"/>
            <a:ext cx="4476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D34"/>
                </a:solidFill>
                <a:latin typeface="Arial"/>
                <a:ea typeface="Arial"/>
                <a:cs typeface="Arial"/>
              </a:defRPr>
            </a:defPPr>
            <a:lvl1pPr>
              <a:defRPr sz="2250" b="0">
                <a:solidFill>
                  <a:srgbClr val="183D34"/>
                </a:solidFill>
                <a:latin typeface="Arial"/>
                <a:ea typeface="Arial"/>
                <a:cs typeface="Arial"/>
              </a:defRPr>
            </a:lvl1pPr>
            <a:lvl2pPr>
              <a:defRPr sz="2250" b="0">
                <a:solidFill>
                  <a:srgbClr val="183D34"/>
                </a:solidFill>
                <a:latin typeface="Arial"/>
                <a:ea typeface="Arial"/>
                <a:cs typeface="Arial"/>
              </a:defRPr>
            </a:lvl2pPr>
            <a:lvl3pPr>
              <a:defRPr sz="2250" b="0">
                <a:solidFill>
                  <a:srgbClr val="183D34"/>
                </a:solidFill>
                <a:latin typeface="Arial"/>
                <a:ea typeface="Arial"/>
                <a:cs typeface="Arial"/>
              </a:defRPr>
            </a:lvl3pPr>
            <a:lvl4pPr>
              <a:defRPr sz="2250" b="0">
                <a:solidFill>
                  <a:srgbClr val="183D34"/>
                </a:solidFill>
                <a:latin typeface="Arial"/>
                <a:ea typeface="Arial"/>
                <a:cs typeface="Arial"/>
              </a:defRPr>
            </a:lvl4pPr>
            <a:lvl5pPr>
              <a:defRPr sz="2250" b="0">
                <a:solidFill>
                  <a:srgbClr val="183D34"/>
                </a:solidFill>
                <a:latin typeface="Arial"/>
                <a:ea typeface="Arial"/>
                <a:cs typeface="Arial"/>
              </a:defRPr>
            </a:lvl5pPr>
            <a:lvl6pPr>
              <a:defRPr sz="2250" b="0">
                <a:solidFill>
                  <a:srgbClr val="183D34"/>
                </a:solidFill>
                <a:latin typeface="Arial"/>
                <a:ea typeface="Arial"/>
                <a:cs typeface="Arial"/>
              </a:defRPr>
            </a:lvl6pPr>
            <a:lvl7pPr>
              <a:defRPr sz="2250" b="0">
                <a:solidFill>
                  <a:srgbClr val="183D34"/>
                </a:solidFill>
                <a:latin typeface="Arial"/>
                <a:ea typeface="Arial"/>
                <a:cs typeface="Arial"/>
              </a:defRPr>
            </a:lvl7pPr>
            <a:lvl8pPr>
              <a:defRPr sz="2250" b="0">
                <a:solidFill>
                  <a:srgbClr val="183D34"/>
                </a:solidFill>
                <a:latin typeface="Arial"/>
                <a:ea typeface="Arial"/>
                <a:cs typeface="Arial"/>
              </a:defRPr>
            </a:lvl8pPr>
            <a:lvl9pPr>
              <a:defRPr sz="2250" b="0">
                <a:solidFill>
                  <a:srgbClr val="183D34"/>
                </a:solidFill>
                <a:latin typeface="Arial"/>
                <a:ea typeface="Arial"/>
                <a:cs typeface="Arial"/>
              </a:defRPr>
            </a:lvl9pPr>
          </a:lstStyle>
          <a:p xmlns:a="http://schemas.openxmlformats.org/drawingml/2006/main">
            <a:pPr>
              <a:defRPr sz="2250" b="0">
                <a:solidFill>
                  <a:srgbClr val="183D34"/>
                </a:solidFill>
                <a:latin typeface="Arial"/>
                <a:ea typeface="Arial"/>
                <a:cs typeface="Arial"/>
              </a:defRPr>
            </a:pPr>
            <a:r>
              <a:rPr sz="2250" b="0">
                <a:solidFill>
                  <a:srgbClr val="183D34"/>
                </a:solidFill>
                <a:latin typeface="Arial"/>
                <a:ea typeface="Arial"/>
                <a:cs typeface="Arial"/>
              </a:rPr>
              <a:t>Reconciliation resolves uncertainty</a:t>
            </a:r>
          </a:p>
          <a:p xmlns:a="http://schemas.openxmlformats.org/drawingml/2006/main">
            <a:pPr>
              <a:defRPr sz="2250" b="0">
                <a:solidFill>
                  <a:srgbClr val="183D34"/>
                </a:solidFill>
                <a:latin typeface="Arial"/>
                <a:ea typeface="Arial"/>
                <a:cs typeface="Arial"/>
              </a:defRPr>
            </a:pPr>
            <a:r>
              <a:rPr sz="2250" b="0">
                <a:solidFill>
                  <a:srgbClr val="183D34"/>
                </a:solidFill>
                <a:latin typeface="Arial"/>
                <a:ea typeface="Arial"/>
                <a:cs typeface="Arial"/>
              </a:rPr>
              <a:t>without another authorization.</a:t>
            </a:r>
          </a:p>
        </p:txBody>
      </p:sp>
      <p:sp>
        <p:nvSpPr>
          <p:cNvPr id="6" name="">
            <a:extLst xmlns:a="http://schemas.openxmlformats.org/drawingml/2006/main">
              <a:ext uri="{FF2B5EF4-FFF2-40B4-BE49-F238E27FC236}">
                <a16:creationId xmlns:a16="http://schemas.microsoft.com/office/drawing/2014/main" id="{CCA4225B-1AFF-4562-A54C-B2A2C48C9221}"/>
              </a:ext>
            </a:extLst>
          </p:cNvPr>
          <p:cNvSpPr>
            <a:spLocks xmlns:a="http://schemas.openxmlformats.org/drawingml/2006/main" noGrp="1"/>
          </p:cNvSpPr>
          <p:nvPr/>
        </p:nvSpPr>
        <p:spPr>
          <a:xfrm xmlns:a="http://schemas.openxmlformats.org/drawingml/2006/main">
            <a:off x="609600" y="5810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57B70"/>
                </a:solidFill>
                <a:latin typeface="Arial"/>
                <a:ea typeface="Arial"/>
                <a:cs typeface="Arial"/>
              </a:defRPr>
            </a:defPPr>
            <a:lvl1pPr>
              <a:defRPr sz="1725" b="0">
                <a:solidFill>
                  <a:srgbClr val="657B70"/>
                </a:solidFill>
                <a:latin typeface="Arial"/>
                <a:ea typeface="Arial"/>
                <a:cs typeface="Arial"/>
              </a:defRPr>
            </a:lvl1pPr>
            <a:lvl2pPr>
              <a:defRPr sz="1725" b="0">
                <a:solidFill>
                  <a:srgbClr val="657B70"/>
                </a:solidFill>
                <a:latin typeface="Arial"/>
                <a:ea typeface="Arial"/>
                <a:cs typeface="Arial"/>
              </a:defRPr>
            </a:lvl2pPr>
            <a:lvl3pPr>
              <a:defRPr sz="1725" b="0">
                <a:solidFill>
                  <a:srgbClr val="657B70"/>
                </a:solidFill>
                <a:latin typeface="Arial"/>
                <a:ea typeface="Arial"/>
                <a:cs typeface="Arial"/>
              </a:defRPr>
            </a:lvl3pPr>
            <a:lvl4pPr>
              <a:defRPr sz="1725" b="0">
                <a:solidFill>
                  <a:srgbClr val="657B70"/>
                </a:solidFill>
                <a:latin typeface="Arial"/>
                <a:ea typeface="Arial"/>
                <a:cs typeface="Arial"/>
              </a:defRPr>
            </a:lvl4pPr>
            <a:lvl5pPr>
              <a:defRPr sz="1725" b="0">
                <a:solidFill>
                  <a:srgbClr val="657B70"/>
                </a:solidFill>
                <a:latin typeface="Arial"/>
                <a:ea typeface="Arial"/>
                <a:cs typeface="Arial"/>
              </a:defRPr>
            </a:lvl5pPr>
            <a:lvl6pPr>
              <a:defRPr sz="1725" b="0">
                <a:solidFill>
                  <a:srgbClr val="657B70"/>
                </a:solidFill>
                <a:latin typeface="Arial"/>
                <a:ea typeface="Arial"/>
                <a:cs typeface="Arial"/>
              </a:defRPr>
            </a:lvl6pPr>
            <a:lvl7pPr>
              <a:defRPr sz="1725" b="0">
                <a:solidFill>
                  <a:srgbClr val="657B70"/>
                </a:solidFill>
                <a:latin typeface="Arial"/>
                <a:ea typeface="Arial"/>
                <a:cs typeface="Arial"/>
              </a:defRPr>
            </a:lvl7pPr>
            <a:lvl8pPr>
              <a:defRPr sz="1725" b="0">
                <a:solidFill>
                  <a:srgbClr val="657B70"/>
                </a:solidFill>
                <a:latin typeface="Arial"/>
                <a:ea typeface="Arial"/>
                <a:cs typeface="Arial"/>
              </a:defRPr>
            </a:lvl8pPr>
            <a:lvl9pPr>
              <a:defRPr sz="1725" b="0">
                <a:solidFill>
                  <a:srgbClr val="657B70"/>
                </a:solidFill>
                <a:latin typeface="Arial"/>
                <a:ea typeface="Arial"/>
                <a:cs typeface="Arial"/>
              </a:defRPr>
            </a:lvl9pPr>
          </a:lstStyle>
          <a:p xmlns:a="http://schemas.openxmlformats.org/drawingml/2006/main">
            <a:pPr>
              <a:defRPr sz="1725" b="0">
                <a:solidFill>
                  <a:srgbClr val="657B70"/>
                </a:solidFill>
                <a:latin typeface="Arial"/>
                <a:ea typeface="Arial"/>
                <a:cs typeface="Arial"/>
              </a:defRPr>
            </a:pPr>
            <a:r>
              <a:rPr sz="1725" b="0">
                <a:solidFill>
                  <a:srgbClr val="657B70"/>
                </a:solidFill>
                <a:latin typeface="Arial"/>
                <a:ea typeface="Arial"/>
                <a:cs typeface="Arial"/>
              </a:rPr>
              <a:t>Observed in the synthetic guided run</a:t>
            </a:r>
          </a:p>
        </p:txBody>
      </p:sp>
      <p:graphicFrame>
        <p:nvGraphicFramePr>
          <p:cNvPr id="7" name="Chart">
            <a:extLst xmlns:a="http://schemas.openxmlformats.org/drawingml/2006/main">
              <a:ext uri="{FF2B5EF4-FFF2-40B4-BE49-F238E27FC236}">
                <a16:creationId xmlns:a16="http://schemas.microsoft.com/office/drawing/2014/main" id="{E2996D7D-FDE2-4DA0-9F19-B5C4C44F5C03}"/>
              </a:ext>
            </a:extLst>
          </p:cNvPr>
          <p:cNvGraphicFramePr/>
          <p:nvPr/>
        </p:nvGraphicFramePr>
        <p:xfrm>
          <a:off xmlns:a="http://schemas.openxmlformats.org/drawingml/2006/main" x="5572125" y="1524000"/>
          <a:ext xmlns:a="http://schemas.openxmlformats.org/drawingml/2006/main" cx="5905500" cy="3905250"/>
        </p:xfrm>
        <a:graphic xmlns:a="http://schemas.openxmlformats.org/drawingml/2006/main">
          <a:graphicData uri="http://schemas.openxmlformats.org/drawingml/2006/chart">
            <c:chart xmlns:r="http://schemas.openxmlformats.org/officeDocument/2006/relationships" xmlns:c="http://schemas.openxmlformats.org/drawingml/2006/chart" r:id="R602fa0f8e5204e8f"/>
          </a:graphicData>
        </a:graphic>
      </p:graphicFrame>
      <p:sp>
        <p:nvSpPr>
          <p:cNvPr id="8" name="">
            <a:extLst xmlns:a="http://schemas.openxmlformats.org/drawingml/2006/main">
              <a:ext uri="{FF2B5EF4-FFF2-40B4-BE49-F238E27FC236}">
                <a16:creationId xmlns:a16="http://schemas.microsoft.com/office/drawing/2014/main" id="{5E223BA7-85E0-4B7D-B1FC-3018FF662A92}"/>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B70"/>
                </a:solidFill>
                <a:latin typeface="Arial"/>
                <a:ea typeface="Arial"/>
                <a:cs typeface="Arial"/>
              </a:defRPr>
            </a:defPPr>
            <a:lvl1pPr>
              <a:defRPr sz="1200" b="0">
                <a:solidFill>
                  <a:srgbClr val="657B70"/>
                </a:solidFill>
                <a:latin typeface="Arial"/>
                <a:ea typeface="Arial"/>
                <a:cs typeface="Arial"/>
              </a:defRPr>
            </a:lvl1pPr>
            <a:lvl2pPr>
              <a:defRPr sz="1200" b="0">
                <a:solidFill>
                  <a:srgbClr val="657B70"/>
                </a:solidFill>
                <a:latin typeface="Arial"/>
                <a:ea typeface="Arial"/>
                <a:cs typeface="Arial"/>
              </a:defRPr>
            </a:lvl2pPr>
            <a:lvl3pPr>
              <a:defRPr sz="1200" b="0">
                <a:solidFill>
                  <a:srgbClr val="657B70"/>
                </a:solidFill>
                <a:latin typeface="Arial"/>
                <a:ea typeface="Arial"/>
                <a:cs typeface="Arial"/>
              </a:defRPr>
            </a:lvl3pPr>
            <a:lvl4pPr>
              <a:defRPr sz="1200" b="0">
                <a:solidFill>
                  <a:srgbClr val="657B70"/>
                </a:solidFill>
                <a:latin typeface="Arial"/>
                <a:ea typeface="Arial"/>
                <a:cs typeface="Arial"/>
              </a:defRPr>
            </a:lvl4pPr>
            <a:lvl5pPr>
              <a:defRPr sz="1200" b="0">
                <a:solidFill>
                  <a:srgbClr val="657B70"/>
                </a:solidFill>
                <a:latin typeface="Arial"/>
                <a:ea typeface="Arial"/>
                <a:cs typeface="Arial"/>
              </a:defRPr>
            </a:lvl5pPr>
            <a:lvl6pPr>
              <a:defRPr sz="1200" b="0">
                <a:solidFill>
                  <a:srgbClr val="657B70"/>
                </a:solidFill>
                <a:latin typeface="Arial"/>
                <a:ea typeface="Arial"/>
                <a:cs typeface="Arial"/>
              </a:defRPr>
            </a:lvl6pPr>
            <a:lvl7pPr>
              <a:defRPr sz="1200" b="0">
                <a:solidFill>
                  <a:srgbClr val="657B70"/>
                </a:solidFill>
                <a:latin typeface="Arial"/>
                <a:ea typeface="Arial"/>
                <a:cs typeface="Arial"/>
              </a:defRPr>
            </a:lvl7pPr>
            <a:lvl8pPr>
              <a:defRPr sz="1200" b="0">
                <a:solidFill>
                  <a:srgbClr val="657B70"/>
                </a:solidFill>
                <a:latin typeface="Arial"/>
                <a:ea typeface="Arial"/>
                <a:cs typeface="Arial"/>
              </a:defRPr>
            </a:lvl8pPr>
            <a:lvl9pPr>
              <a:defRPr sz="1200" b="0">
                <a:solidFill>
                  <a:srgbClr val="657B70"/>
                </a:solidFill>
                <a:latin typeface="Arial"/>
                <a:ea typeface="Arial"/>
                <a:cs typeface="Arial"/>
              </a:defRPr>
            </a:lvl9pPr>
          </a:lstStyle>
          <a:p xmlns:a="http://schemas.openxmlformats.org/drawingml/2006/main">
            <a:pPr>
              <a:defRPr sz="1200" b="0">
                <a:solidFill>
                  <a:srgbClr val="657B70"/>
                </a:solidFill>
                <a:latin typeface="Arial"/>
                <a:ea typeface="Arial"/>
                <a:cs typeface="Arial"/>
              </a:defRPr>
            </a:pPr>
            <a:r>
              <a:rPr sz="1200" b="0">
                <a:solidFill>
                  <a:srgbClr val="657B70"/>
                </a:solidFill>
                <a:latin typeface="Arial"/>
                <a:ea typeface="Arial"/>
                <a:cs typeface="Arial"/>
              </a:rPr>
              <a:t>21</a:t>
            </a:r>
          </a:p>
        </p:txBody>
      </p:sp>
    </p:spTree>
    <p:extLst>
      <p:ext uri="{BB962C8B-B14F-4D97-AF65-F5344CB8AC3E}">
        <p14:creationId xmlns:p14="http://schemas.microsoft.com/office/powerpoint/2010/main" val="2145084228"/>
      </p:ext>
    </p:extLst>
  </p:cSld>
</p:sld>
</file>

<file path=ppt/slides/slide22.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37E6142-08B9-4864-9B19-85E7CD5C5318}"/>
              </a:ext>
            </a:extLst>
          </p:cNvPr>
          <p:cNvSpPr>
            <a:spLocks xmlns:a="http://schemas.openxmlformats.org/drawingml/2006/main" noGrp="1"/>
          </p:cNvSpPr>
          <p:nvPr/>
        </p:nvSpPr>
        <p:spPr>
          <a:xfrm xmlns:a="http://schemas.openxmlformats.org/drawingml/2006/main">
            <a:off x="609600" y="333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657B70"/>
                </a:solidFill>
                <a:latin typeface="Arial"/>
                <a:ea typeface="Arial"/>
                <a:cs typeface="Arial"/>
              </a:defRPr>
            </a:defPPr>
            <a:lvl1pPr>
              <a:defRPr sz="1275" b="1">
                <a:solidFill>
                  <a:srgbClr val="657B70"/>
                </a:solidFill>
                <a:latin typeface="Arial"/>
                <a:ea typeface="Arial"/>
                <a:cs typeface="Arial"/>
              </a:defRPr>
            </a:lvl1pPr>
            <a:lvl2pPr>
              <a:defRPr sz="1275" b="1">
                <a:solidFill>
                  <a:srgbClr val="657B70"/>
                </a:solidFill>
                <a:latin typeface="Arial"/>
                <a:ea typeface="Arial"/>
                <a:cs typeface="Arial"/>
              </a:defRPr>
            </a:lvl2pPr>
            <a:lvl3pPr>
              <a:defRPr sz="1275" b="1">
                <a:solidFill>
                  <a:srgbClr val="657B70"/>
                </a:solidFill>
                <a:latin typeface="Arial"/>
                <a:ea typeface="Arial"/>
                <a:cs typeface="Arial"/>
              </a:defRPr>
            </a:lvl3pPr>
            <a:lvl4pPr>
              <a:defRPr sz="1275" b="1">
                <a:solidFill>
                  <a:srgbClr val="657B70"/>
                </a:solidFill>
                <a:latin typeface="Arial"/>
                <a:ea typeface="Arial"/>
                <a:cs typeface="Arial"/>
              </a:defRPr>
            </a:lvl4pPr>
            <a:lvl5pPr>
              <a:defRPr sz="1275" b="1">
                <a:solidFill>
                  <a:srgbClr val="657B70"/>
                </a:solidFill>
                <a:latin typeface="Arial"/>
                <a:ea typeface="Arial"/>
                <a:cs typeface="Arial"/>
              </a:defRPr>
            </a:lvl5pPr>
            <a:lvl6pPr>
              <a:defRPr sz="1275" b="1">
                <a:solidFill>
                  <a:srgbClr val="657B70"/>
                </a:solidFill>
                <a:latin typeface="Arial"/>
                <a:ea typeface="Arial"/>
                <a:cs typeface="Arial"/>
              </a:defRPr>
            </a:lvl6pPr>
            <a:lvl7pPr>
              <a:defRPr sz="1275" b="1">
                <a:solidFill>
                  <a:srgbClr val="657B70"/>
                </a:solidFill>
                <a:latin typeface="Arial"/>
                <a:ea typeface="Arial"/>
                <a:cs typeface="Arial"/>
              </a:defRPr>
            </a:lvl7pPr>
            <a:lvl8pPr>
              <a:defRPr sz="1275" b="1">
                <a:solidFill>
                  <a:srgbClr val="657B70"/>
                </a:solidFill>
                <a:latin typeface="Arial"/>
                <a:ea typeface="Arial"/>
                <a:cs typeface="Arial"/>
              </a:defRPr>
            </a:lvl8pPr>
            <a:lvl9pPr>
              <a:defRPr sz="1275" b="1">
                <a:solidFill>
                  <a:srgbClr val="657B70"/>
                </a:solidFill>
                <a:latin typeface="Arial"/>
                <a:ea typeface="Arial"/>
                <a:cs typeface="Arial"/>
              </a:defRPr>
            </a:lvl9pPr>
          </a:lstStyle>
          <a:p xmlns:a="http://schemas.openxmlformats.org/drawingml/2006/main">
            <a:pPr>
              <a:defRPr sz="1275" b="1">
                <a:solidFill>
                  <a:srgbClr val="657B70"/>
                </a:solidFill>
                <a:latin typeface="Arial"/>
                <a:ea typeface="Arial"/>
                <a:cs typeface="Arial"/>
              </a:defRPr>
            </a:pPr>
            <a:r>
              <a:rPr sz="1275" b="1">
                <a:solidFill>
                  <a:srgbClr val="657B70"/>
                </a:solidFill>
                <a:latin typeface="Arial"/>
                <a:ea typeface="Arial"/>
                <a:cs typeface="Arial"/>
              </a:rPr>
              <a:t>ARCHITECT APPENDIX</a:t>
            </a:r>
          </a:p>
        </p:txBody>
      </p:sp>
      <p:sp>
        <p:nvSpPr>
          <p:cNvPr id="3" name="">
            <a:extLst xmlns:a="http://schemas.openxmlformats.org/drawingml/2006/main">
              <a:ext uri="{FF2B5EF4-FFF2-40B4-BE49-F238E27FC236}">
                <a16:creationId xmlns:a16="http://schemas.microsoft.com/office/drawing/2014/main" id="{6DB3EE34-11FD-44DD-8DAD-7BF83C9A0597}"/>
              </a:ext>
            </a:extLst>
          </p:cNvPr>
          <p:cNvSpPr>
            <a:spLocks xmlns:a="http://schemas.openxmlformats.org/drawingml/2006/main" noGrp="1"/>
          </p:cNvSpPr>
          <p:nvPr/>
        </p:nvSpPr>
        <p:spPr>
          <a:xfrm xmlns:a="http://schemas.openxmlformats.org/drawingml/2006/main">
            <a:off x="609600" y="78105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183D34"/>
                </a:solidFill>
                <a:latin typeface="Arial"/>
                <a:ea typeface="Arial"/>
                <a:cs typeface="Arial"/>
              </a:defRPr>
            </a:defPPr>
            <a:lvl1pPr>
              <a:defRPr sz="2775" b="1">
                <a:solidFill>
                  <a:srgbClr val="183D34"/>
                </a:solidFill>
                <a:latin typeface="Arial"/>
                <a:ea typeface="Arial"/>
                <a:cs typeface="Arial"/>
              </a:defRPr>
            </a:lvl1pPr>
            <a:lvl2pPr>
              <a:defRPr sz="2775" b="1">
                <a:solidFill>
                  <a:srgbClr val="183D34"/>
                </a:solidFill>
                <a:latin typeface="Arial"/>
                <a:ea typeface="Arial"/>
                <a:cs typeface="Arial"/>
              </a:defRPr>
            </a:lvl2pPr>
            <a:lvl3pPr>
              <a:defRPr sz="2775" b="1">
                <a:solidFill>
                  <a:srgbClr val="183D34"/>
                </a:solidFill>
                <a:latin typeface="Arial"/>
                <a:ea typeface="Arial"/>
                <a:cs typeface="Arial"/>
              </a:defRPr>
            </a:lvl3pPr>
            <a:lvl4pPr>
              <a:defRPr sz="2775" b="1">
                <a:solidFill>
                  <a:srgbClr val="183D34"/>
                </a:solidFill>
                <a:latin typeface="Arial"/>
                <a:ea typeface="Arial"/>
                <a:cs typeface="Arial"/>
              </a:defRPr>
            </a:lvl4pPr>
            <a:lvl5pPr>
              <a:defRPr sz="2775" b="1">
                <a:solidFill>
                  <a:srgbClr val="183D34"/>
                </a:solidFill>
                <a:latin typeface="Arial"/>
                <a:ea typeface="Arial"/>
                <a:cs typeface="Arial"/>
              </a:defRPr>
            </a:lvl5pPr>
            <a:lvl6pPr>
              <a:defRPr sz="2775" b="1">
                <a:solidFill>
                  <a:srgbClr val="183D34"/>
                </a:solidFill>
                <a:latin typeface="Arial"/>
                <a:ea typeface="Arial"/>
                <a:cs typeface="Arial"/>
              </a:defRPr>
            </a:lvl6pPr>
            <a:lvl7pPr>
              <a:defRPr sz="2775" b="1">
                <a:solidFill>
                  <a:srgbClr val="183D34"/>
                </a:solidFill>
                <a:latin typeface="Arial"/>
                <a:ea typeface="Arial"/>
                <a:cs typeface="Arial"/>
              </a:defRPr>
            </a:lvl7pPr>
            <a:lvl8pPr>
              <a:defRPr sz="2775" b="1">
                <a:solidFill>
                  <a:srgbClr val="183D34"/>
                </a:solidFill>
                <a:latin typeface="Arial"/>
                <a:ea typeface="Arial"/>
                <a:cs typeface="Arial"/>
              </a:defRPr>
            </a:lvl8pPr>
            <a:lvl9pPr>
              <a:defRPr sz="2775" b="1">
                <a:solidFill>
                  <a:srgbClr val="183D34"/>
                </a:solidFill>
                <a:latin typeface="Arial"/>
                <a:ea typeface="Arial"/>
                <a:cs typeface="Arial"/>
              </a:defRPr>
            </a:lvl9pPr>
          </a:lstStyle>
          <a:p xmlns:a="http://schemas.openxmlformats.org/drawingml/2006/main">
            <a:pPr>
              <a:defRPr sz="2775" b="1">
                <a:solidFill>
                  <a:srgbClr val="183D34"/>
                </a:solidFill>
                <a:latin typeface="Arial"/>
                <a:ea typeface="Arial"/>
                <a:cs typeface="Arial"/>
              </a:defRPr>
            </a:pPr>
            <a:r>
              <a:rPr sz="2775" b="1">
                <a:solidFill>
                  <a:srgbClr val="183D34"/>
                </a:solidFill>
                <a:latin typeface="Arial"/>
                <a:ea typeface="Arial"/>
                <a:cs typeface="Arial"/>
              </a:rPr>
              <a:t>Architecture and platform placement</a:t>
            </a:r>
          </a:p>
        </p:txBody>
      </p:sp>
      <p:sp>
        <p:nvSpPr>
          <p:cNvPr id="4" name="">
            <a:extLst xmlns:a="http://schemas.openxmlformats.org/drawingml/2006/main">
              <a:ext uri="{FF2B5EF4-FFF2-40B4-BE49-F238E27FC236}">
                <a16:creationId xmlns:a16="http://schemas.microsoft.com/office/drawing/2014/main" id="{8078E7D6-C0A6-4A78-A12C-77691B6339BC}"/>
              </a:ext>
            </a:extLst>
          </p:cNvPr>
          <p:cNvSpPr>
            <a:spLocks xmlns:a="http://schemas.openxmlformats.org/drawingml/2006/main" noGrp="1"/>
          </p:cNvSpPr>
          <p:nvPr/>
        </p:nvSpPr>
        <p:spPr>
          <a:xfrm xmlns:a="http://schemas.openxmlformats.org/drawingml/2006/main">
            <a:off x="609600" y="176212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A6B4D"/>
                </a:solidFill>
                <a:latin typeface="Arial"/>
                <a:ea typeface="Arial"/>
                <a:cs typeface="Arial"/>
              </a:defRPr>
            </a:defPPr>
            <a:lvl1pPr>
              <a:defRPr sz="2025" b="1">
                <a:solidFill>
                  <a:srgbClr val="2A6B4D"/>
                </a:solidFill>
                <a:latin typeface="Arial"/>
                <a:ea typeface="Arial"/>
                <a:cs typeface="Arial"/>
              </a:defRPr>
            </a:lvl1pPr>
            <a:lvl2pPr>
              <a:defRPr sz="2025" b="1">
                <a:solidFill>
                  <a:srgbClr val="2A6B4D"/>
                </a:solidFill>
                <a:latin typeface="Arial"/>
                <a:ea typeface="Arial"/>
                <a:cs typeface="Arial"/>
              </a:defRPr>
            </a:lvl2pPr>
            <a:lvl3pPr>
              <a:defRPr sz="2025" b="1">
                <a:solidFill>
                  <a:srgbClr val="2A6B4D"/>
                </a:solidFill>
                <a:latin typeface="Arial"/>
                <a:ea typeface="Arial"/>
                <a:cs typeface="Arial"/>
              </a:defRPr>
            </a:lvl3pPr>
            <a:lvl4pPr>
              <a:defRPr sz="2025" b="1">
                <a:solidFill>
                  <a:srgbClr val="2A6B4D"/>
                </a:solidFill>
                <a:latin typeface="Arial"/>
                <a:ea typeface="Arial"/>
                <a:cs typeface="Arial"/>
              </a:defRPr>
            </a:lvl4pPr>
            <a:lvl5pPr>
              <a:defRPr sz="2025" b="1">
                <a:solidFill>
                  <a:srgbClr val="2A6B4D"/>
                </a:solidFill>
                <a:latin typeface="Arial"/>
                <a:ea typeface="Arial"/>
                <a:cs typeface="Arial"/>
              </a:defRPr>
            </a:lvl5pPr>
            <a:lvl6pPr>
              <a:defRPr sz="2025" b="1">
                <a:solidFill>
                  <a:srgbClr val="2A6B4D"/>
                </a:solidFill>
                <a:latin typeface="Arial"/>
                <a:ea typeface="Arial"/>
                <a:cs typeface="Arial"/>
              </a:defRPr>
            </a:lvl6pPr>
            <a:lvl7pPr>
              <a:defRPr sz="2025" b="1">
                <a:solidFill>
                  <a:srgbClr val="2A6B4D"/>
                </a:solidFill>
                <a:latin typeface="Arial"/>
                <a:ea typeface="Arial"/>
                <a:cs typeface="Arial"/>
              </a:defRPr>
            </a:lvl7pPr>
            <a:lvl8pPr>
              <a:defRPr sz="2025" b="1">
                <a:solidFill>
                  <a:srgbClr val="2A6B4D"/>
                </a:solidFill>
                <a:latin typeface="Arial"/>
                <a:ea typeface="Arial"/>
                <a:cs typeface="Arial"/>
              </a:defRPr>
            </a:lvl8pPr>
            <a:lvl9pPr>
              <a:defRPr sz="2025" b="1">
                <a:solidFill>
                  <a:srgbClr val="2A6B4D"/>
                </a:solidFill>
                <a:latin typeface="Arial"/>
                <a:ea typeface="Arial"/>
                <a:cs typeface="Arial"/>
              </a:defRPr>
            </a:lvl9pPr>
          </a:lstStyle>
          <a:p xmlns:a="http://schemas.openxmlformats.org/drawingml/2006/main">
            <a:pPr>
              <a:defRPr sz="2025" b="1">
                <a:solidFill>
                  <a:srgbClr val="2A6B4D"/>
                </a:solidFill>
                <a:latin typeface="Arial"/>
                <a:ea typeface="Arial"/>
                <a:cs typeface="Arial"/>
              </a:defRPr>
            </a:pPr>
            <a:r>
              <a:rPr sz="2025" b="1">
                <a:solidFill>
                  <a:srgbClr val="2A6B4D"/>
                </a:solidFill>
                <a:latin typeface="Arial"/>
                <a:ea typeface="Arial"/>
                <a:cs typeface="Arial"/>
              </a:rPr>
              <a:t>Why build rather than buy?</a:t>
            </a:r>
          </a:p>
        </p:txBody>
      </p:sp>
      <p:sp>
        <p:nvSpPr>
          <p:cNvPr id="5" name="">
            <a:extLst xmlns:a="http://schemas.openxmlformats.org/drawingml/2006/main">
              <a:ext uri="{FF2B5EF4-FFF2-40B4-BE49-F238E27FC236}">
                <a16:creationId xmlns:a16="http://schemas.microsoft.com/office/drawing/2014/main" id="{3F93A028-84C7-45A4-AA3B-09A774E2F40C}"/>
              </a:ext>
            </a:extLst>
          </p:cNvPr>
          <p:cNvSpPr>
            <a:spLocks xmlns:a="http://schemas.openxmlformats.org/drawingml/2006/main" noGrp="1"/>
          </p:cNvSpPr>
          <p:nvPr/>
        </p:nvSpPr>
        <p:spPr>
          <a:xfrm xmlns:a="http://schemas.openxmlformats.org/drawingml/2006/main">
            <a:off x="609600" y="22669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4"/>
                </a:solidFill>
                <a:latin typeface="Arial"/>
                <a:ea typeface="Arial"/>
                <a:cs typeface="Arial"/>
              </a:defRPr>
            </a:defPPr>
            <a:lvl1pPr>
              <a:defRPr sz="1875" b="0">
                <a:solidFill>
                  <a:srgbClr val="183D34"/>
                </a:solidFill>
                <a:latin typeface="Arial"/>
                <a:ea typeface="Arial"/>
                <a:cs typeface="Arial"/>
              </a:defRPr>
            </a:lvl1pPr>
            <a:lvl2pPr>
              <a:defRPr sz="1875" b="0">
                <a:solidFill>
                  <a:srgbClr val="183D34"/>
                </a:solidFill>
                <a:latin typeface="Arial"/>
                <a:ea typeface="Arial"/>
                <a:cs typeface="Arial"/>
              </a:defRPr>
            </a:lvl2pPr>
            <a:lvl3pPr>
              <a:defRPr sz="1875" b="0">
                <a:solidFill>
                  <a:srgbClr val="183D34"/>
                </a:solidFill>
                <a:latin typeface="Arial"/>
                <a:ea typeface="Arial"/>
                <a:cs typeface="Arial"/>
              </a:defRPr>
            </a:lvl3pPr>
            <a:lvl4pPr>
              <a:defRPr sz="1875" b="0">
                <a:solidFill>
                  <a:srgbClr val="183D34"/>
                </a:solidFill>
                <a:latin typeface="Arial"/>
                <a:ea typeface="Arial"/>
                <a:cs typeface="Arial"/>
              </a:defRPr>
            </a:lvl4pPr>
            <a:lvl5pPr>
              <a:defRPr sz="1875" b="0">
                <a:solidFill>
                  <a:srgbClr val="183D34"/>
                </a:solidFill>
                <a:latin typeface="Arial"/>
                <a:ea typeface="Arial"/>
                <a:cs typeface="Arial"/>
              </a:defRPr>
            </a:lvl5pPr>
            <a:lvl6pPr>
              <a:defRPr sz="1875" b="0">
                <a:solidFill>
                  <a:srgbClr val="183D34"/>
                </a:solidFill>
                <a:latin typeface="Arial"/>
                <a:ea typeface="Arial"/>
                <a:cs typeface="Arial"/>
              </a:defRPr>
            </a:lvl6pPr>
            <a:lvl7pPr>
              <a:defRPr sz="1875" b="0">
                <a:solidFill>
                  <a:srgbClr val="183D34"/>
                </a:solidFill>
                <a:latin typeface="Arial"/>
                <a:ea typeface="Arial"/>
                <a:cs typeface="Arial"/>
              </a:defRPr>
            </a:lvl7pPr>
            <a:lvl8pPr>
              <a:defRPr sz="1875" b="0">
                <a:solidFill>
                  <a:srgbClr val="183D34"/>
                </a:solidFill>
                <a:latin typeface="Arial"/>
                <a:ea typeface="Arial"/>
                <a:cs typeface="Arial"/>
              </a:defRPr>
            </a:lvl8pPr>
            <a:lvl9pPr>
              <a:defRPr sz="1875" b="0">
                <a:solidFill>
                  <a:srgbClr val="183D34"/>
                </a:solidFill>
                <a:latin typeface="Arial"/>
                <a:ea typeface="Arial"/>
                <a:cs typeface="Arial"/>
              </a:defRPr>
            </a:lvl9pPr>
          </a:lstStyle>
          <a:p xmlns:a="http://schemas.openxmlformats.org/drawingml/2006/main">
            <a:pPr>
              <a:defRPr sz="1875" b="0">
                <a:solidFill>
                  <a:srgbClr val="183D34"/>
                </a:solidFill>
                <a:latin typeface="Arial"/>
                <a:ea typeface="Arial"/>
                <a:cs typeface="Arial"/>
              </a:defRPr>
            </a:pPr>
            <a:r>
              <a:rPr sz="1875" b="0">
                <a:solidFill>
                  <a:srgbClr val="183D34"/>
                </a:solidFill>
                <a:latin typeface="Arial"/>
                <a:ea typeface="Arial"/>
                <a:cs typeface="Arial"/>
              </a:rPr>
              <a:t>The pilot evaluates investigation and policy controls around existing payment services. A replacement case and buy-versus-build assessment remain open.</a:t>
            </a:r>
          </a:p>
        </p:txBody>
      </p:sp>
      <p:sp>
        <p:nvSpPr>
          <p:cNvPr id="6" name="">
            <a:extLst xmlns:a="http://schemas.openxmlformats.org/drawingml/2006/main">
              <a:ext uri="{FF2B5EF4-FFF2-40B4-BE49-F238E27FC236}">
                <a16:creationId xmlns:a16="http://schemas.microsoft.com/office/drawing/2014/main" id="{3A9143CB-385A-4BB4-B84D-44E1F98C8A83}"/>
              </a:ext>
            </a:extLst>
          </p:cNvPr>
          <p:cNvSpPr>
            <a:spLocks xmlns:a="http://schemas.openxmlformats.org/drawingml/2006/main" noGrp="1"/>
          </p:cNvSpPr>
          <p:nvPr/>
        </p:nvSpPr>
        <p:spPr>
          <a:xfrm xmlns:a="http://schemas.openxmlformats.org/drawingml/2006/main">
            <a:off x="609600" y="319087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A6B4D"/>
                </a:solidFill>
                <a:latin typeface="Arial"/>
                <a:ea typeface="Arial"/>
                <a:cs typeface="Arial"/>
              </a:defRPr>
            </a:defPPr>
            <a:lvl1pPr>
              <a:defRPr sz="2025" b="1">
                <a:solidFill>
                  <a:srgbClr val="2A6B4D"/>
                </a:solidFill>
                <a:latin typeface="Arial"/>
                <a:ea typeface="Arial"/>
                <a:cs typeface="Arial"/>
              </a:defRPr>
            </a:lvl1pPr>
            <a:lvl2pPr>
              <a:defRPr sz="2025" b="1">
                <a:solidFill>
                  <a:srgbClr val="2A6B4D"/>
                </a:solidFill>
                <a:latin typeface="Arial"/>
                <a:ea typeface="Arial"/>
                <a:cs typeface="Arial"/>
              </a:defRPr>
            </a:lvl2pPr>
            <a:lvl3pPr>
              <a:defRPr sz="2025" b="1">
                <a:solidFill>
                  <a:srgbClr val="2A6B4D"/>
                </a:solidFill>
                <a:latin typeface="Arial"/>
                <a:ea typeface="Arial"/>
                <a:cs typeface="Arial"/>
              </a:defRPr>
            </a:lvl3pPr>
            <a:lvl4pPr>
              <a:defRPr sz="2025" b="1">
                <a:solidFill>
                  <a:srgbClr val="2A6B4D"/>
                </a:solidFill>
                <a:latin typeface="Arial"/>
                <a:ea typeface="Arial"/>
                <a:cs typeface="Arial"/>
              </a:defRPr>
            </a:lvl4pPr>
            <a:lvl5pPr>
              <a:defRPr sz="2025" b="1">
                <a:solidFill>
                  <a:srgbClr val="2A6B4D"/>
                </a:solidFill>
                <a:latin typeface="Arial"/>
                <a:ea typeface="Arial"/>
                <a:cs typeface="Arial"/>
              </a:defRPr>
            </a:lvl5pPr>
            <a:lvl6pPr>
              <a:defRPr sz="2025" b="1">
                <a:solidFill>
                  <a:srgbClr val="2A6B4D"/>
                </a:solidFill>
                <a:latin typeface="Arial"/>
                <a:ea typeface="Arial"/>
                <a:cs typeface="Arial"/>
              </a:defRPr>
            </a:lvl6pPr>
            <a:lvl7pPr>
              <a:defRPr sz="2025" b="1">
                <a:solidFill>
                  <a:srgbClr val="2A6B4D"/>
                </a:solidFill>
                <a:latin typeface="Arial"/>
                <a:ea typeface="Arial"/>
                <a:cs typeface="Arial"/>
              </a:defRPr>
            </a:lvl7pPr>
            <a:lvl8pPr>
              <a:defRPr sz="2025" b="1">
                <a:solidFill>
                  <a:srgbClr val="2A6B4D"/>
                </a:solidFill>
                <a:latin typeface="Arial"/>
                <a:ea typeface="Arial"/>
                <a:cs typeface="Arial"/>
              </a:defRPr>
            </a:lvl8pPr>
            <a:lvl9pPr>
              <a:defRPr sz="2025" b="1">
                <a:solidFill>
                  <a:srgbClr val="2A6B4D"/>
                </a:solidFill>
                <a:latin typeface="Arial"/>
                <a:ea typeface="Arial"/>
                <a:cs typeface="Arial"/>
              </a:defRPr>
            </a:lvl9pPr>
          </a:lstStyle>
          <a:p xmlns:a="http://schemas.openxmlformats.org/drawingml/2006/main">
            <a:pPr>
              <a:defRPr sz="2025" b="1">
                <a:solidFill>
                  <a:srgbClr val="2A6B4D"/>
                </a:solidFill>
                <a:latin typeface="Arial"/>
                <a:ea typeface="Arial"/>
                <a:cs typeface="Arial"/>
              </a:defRPr>
            </a:pPr>
            <a:r>
              <a:rPr sz="2025" b="1">
                <a:solidFill>
                  <a:srgbClr val="2A6B4D"/>
                </a:solidFill>
                <a:latin typeface="Arial"/>
                <a:ea typeface="Arial"/>
                <a:cs typeface="Arial"/>
              </a:rPr>
              <a:t>Where does Databricks enter the critical path?</a:t>
            </a:r>
          </a:p>
        </p:txBody>
      </p:sp>
      <p:sp>
        <p:nvSpPr>
          <p:cNvPr id="7" name="">
            <a:extLst xmlns:a="http://schemas.openxmlformats.org/drawingml/2006/main">
              <a:ext uri="{FF2B5EF4-FFF2-40B4-BE49-F238E27FC236}">
                <a16:creationId xmlns:a16="http://schemas.microsoft.com/office/drawing/2014/main" id="{EA83BD1B-552A-42A1-AE88-73E7014A80C1}"/>
              </a:ext>
            </a:extLst>
          </p:cNvPr>
          <p:cNvSpPr>
            <a:spLocks xmlns:a="http://schemas.openxmlformats.org/drawingml/2006/main" noGrp="1"/>
          </p:cNvSpPr>
          <p:nvPr/>
        </p:nvSpPr>
        <p:spPr>
          <a:xfrm xmlns:a="http://schemas.openxmlformats.org/drawingml/2006/main">
            <a:off x="609600" y="369570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4"/>
                </a:solidFill>
                <a:latin typeface="Arial"/>
                <a:ea typeface="Arial"/>
                <a:cs typeface="Arial"/>
              </a:defRPr>
            </a:defPPr>
            <a:lvl1pPr>
              <a:defRPr sz="1875" b="0">
                <a:solidFill>
                  <a:srgbClr val="183D34"/>
                </a:solidFill>
                <a:latin typeface="Arial"/>
                <a:ea typeface="Arial"/>
                <a:cs typeface="Arial"/>
              </a:defRPr>
            </a:lvl1pPr>
            <a:lvl2pPr>
              <a:defRPr sz="1875" b="0">
                <a:solidFill>
                  <a:srgbClr val="183D34"/>
                </a:solidFill>
                <a:latin typeface="Arial"/>
                <a:ea typeface="Arial"/>
                <a:cs typeface="Arial"/>
              </a:defRPr>
            </a:lvl2pPr>
            <a:lvl3pPr>
              <a:defRPr sz="1875" b="0">
                <a:solidFill>
                  <a:srgbClr val="183D34"/>
                </a:solidFill>
                <a:latin typeface="Arial"/>
                <a:ea typeface="Arial"/>
                <a:cs typeface="Arial"/>
              </a:defRPr>
            </a:lvl3pPr>
            <a:lvl4pPr>
              <a:defRPr sz="1875" b="0">
                <a:solidFill>
                  <a:srgbClr val="183D34"/>
                </a:solidFill>
                <a:latin typeface="Arial"/>
                <a:ea typeface="Arial"/>
                <a:cs typeface="Arial"/>
              </a:defRPr>
            </a:lvl4pPr>
            <a:lvl5pPr>
              <a:defRPr sz="1875" b="0">
                <a:solidFill>
                  <a:srgbClr val="183D34"/>
                </a:solidFill>
                <a:latin typeface="Arial"/>
                <a:ea typeface="Arial"/>
                <a:cs typeface="Arial"/>
              </a:defRPr>
            </a:lvl5pPr>
            <a:lvl6pPr>
              <a:defRPr sz="1875" b="0">
                <a:solidFill>
                  <a:srgbClr val="183D34"/>
                </a:solidFill>
                <a:latin typeface="Arial"/>
                <a:ea typeface="Arial"/>
                <a:cs typeface="Arial"/>
              </a:defRPr>
            </a:lvl6pPr>
            <a:lvl7pPr>
              <a:defRPr sz="1875" b="0">
                <a:solidFill>
                  <a:srgbClr val="183D34"/>
                </a:solidFill>
                <a:latin typeface="Arial"/>
                <a:ea typeface="Arial"/>
                <a:cs typeface="Arial"/>
              </a:defRPr>
            </a:lvl7pPr>
            <a:lvl8pPr>
              <a:defRPr sz="1875" b="0">
                <a:solidFill>
                  <a:srgbClr val="183D34"/>
                </a:solidFill>
                <a:latin typeface="Arial"/>
                <a:ea typeface="Arial"/>
                <a:cs typeface="Arial"/>
              </a:defRPr>
            </a:lvl8pPr>
            <a:lvl9pPr>
              <a:defRPr sz="1875" b="0">
                <a:solidFill>
                  <a:srgbClr val="183D34"/>
                </a:solidFill>
                <a:latin typeface="Arial"/>
                <a:ea typeface="Arial"/>
                <a:cs typeface="Arial"/>
              </a:defRPr>
            </a:lvl9pPr>
          </a:lstStyle>
          <a:p xmlns:a="http://schemas.openxmlformats.org/drawingml/2006/main">
            <a:pPr>
              <a:defRPr sz="1875" b="0">
                <a:solidFill>
                  <a:srgbClr val="183D34"/>
                </a:solidFill>
                <a:latin typeface="Arial"/>
                <a:ea typeface="Arial"/>
                <a:cs typeface="Arial"/>
              </a:defRPr>
            </a:pPr>
            <a:r>
              <a:rPr sz="1875" b="0">
                <a:solidFill>
                  <a:srgbClr val="183D34"/>
                </a:solidFill>
                <a:latin typeface="Arial"/>
                <a:ea typeface="Arial"/>
                <a:cs typeface="Arial"/>
              </a:rPr>
              <a:t>Start with governed history, features and evaluation. Validate tail latency and freshness before selecting online serving placement.</a:t>
            </a:r>
          </a:p>
        </p:txBody>
      </p:sp>
      <p:sp>
        <p:nvSpPr>
          <p:cNvPr id="8" name="">
            <a:extLst xmlns:a="http://schemas.openxmlformats.org/drawingml/2006/main">
              <a:ext uri="{FF2B5EF4-FFF2-40B4-BE49-F238E27FC236}">
                <a16:creationId xmlns:a16="http://schemas.microsoft.com/office/drawing/2014/main" id="{D1CEA5D5-16A6-428B-8943-9FA5A0EA1157}"/>
              </a:ext>
            </a:extLst>
          </p:cNvPr>
          <p:cNvSpPr>
            <a:spLocks xmlns:a="http://schemas.openxmlformats.org/drawingml/2006/main" noGrp="1"/>
          </p:cNvSpPr>
          <p:nvPr/>
        </p:nvSpPr>
        <p:spPr>
          <a:xfrm xmlns:a="http://schemas.openxmlformats.org/drawingml/2006/main">
            <a:off x="609600" y="461962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A6B4D"/>
                </a:solidFill>
                <a:latin typeface="Arial"/>
                <a:ea typeface="Arial"/>
                <a:cs typeface="Arial"/>
              </a:defRPr>
            </a:defPPr>
            <a:lvl1pPr>
              <a:defRPr sz="2025" b="1">
                <a:solidFill>
                  <a:srgbClr val="2A6B4D"/>
                </a:solidFill>
                <a:latin typeface="Arial"/>
                <a:ea typeface="Arial"/>
                <a:cs typeface="Arial"/>
              </a:defRPr>
            </a:lvl1pPr>
            <a:lvl2pPr>
              <a:defRPr sz="2025" b="1">
                <a:solidFill>
                  <a:srgbClr val="2A6B4D"/>
                </a:solidFill>
                <a:latin typeface="Arial"/>
                <a:ea typeface="Arial"/>
                <a:cs typeface="Arial"/>
              </a:defRPr>
            </a:lvl2pPr>
            <a:lvl3pPr>
              <a:defRPr sz="2025" b="1">
                <a:solidFill>
                  <a:srgbClr val="2A6B4D"/>
                </a:solidFill>
                <a:latin typeface="Arial"/>
                <a:ea typeface="Arial"/>
                <a:cs typeface="Arial"/>
              </a:defRPr>
            </a:lvl3pPr>
            <a:lvl4pPr>
              <a:defRPr sz="2025" b="1">
                <a:solidFill>
                  <a:srgbClr val="2A6B4D"/>
                </a:solidFill>
                <a:latin typeface="Arial"/>
                <a:ea typeface="Arial"/>
                <a:cs typeface="Arial"/>
              </a:defRPr>
            </a:lvl4pPr>
            <a:lvl5pPr>
              <a:defRPr sz="2025" b="1">
                <a:solidFill>
                  <a:srgbClr val="2A6B4D"/>
                </a:solidFill>
                <a:latin typeface="Arial"/>
                <a:ea typeface="Arial"/>
                <a:cs typeface="Arial"/>
              </a:defRPr>
            </a:lvl5pPr>
            <a:lvl6pPr>
              <a:defRPr sz="2025" b="1">
                <a:solidFill>
                  <a:srgbClr val="2A6B4D"/>
                </a:solidFill>
                <a:latin typeface="Arial"/>
                <a:ea typeface="Arial"/>
                <a:cs typeface="Arial"/>
              </a:defRPr>
            </a:lvl6pPr>
            <a:lvl7pPr>
              <a:defRPr sz="2025" b="1">
                <a:solidFill>
                  <a:srgbClr val="2A6B4D"/>
                </a:solidFill>
                <a:latin typeface="Arial"/>
                <a:ea typeface="Arial"/>
                <a:cs typeface="Arial"/>
              </a:defRPr>
            </a:lvl7pPr>
            <a:lvl8pPr>
              <a:defRPr sz="2025" b="1">
                <a:solidFill>
                  <a:srgbClr val="2A6B4D"/>
                </a:solidFill>
                <a:latin typeface="Arial"/>
                <a:ea typeface="Arial"/>
                <a:cs typeface="Arial"/>
              </a:defRPr>
            </a:lvl8pPr>
            <a:lvl9pPr>
              <a:defRPr sz="2025" b="1">
                <a:solidFill>
                  <a:srgbClr val="2A6B4D"/>
                </a:solidFill>
                <a:latin typeface="Arial"/>
                <a:ea typeface="Arial"/>
                <a:cs typeface="Arial"/>
              </a:defRPr>
            </a:lvl9pPr>
          </a:lstStyle>
          <a:p xmlns:a="http://schemas.openxmlformats.org/drawingml/2006/main">
            <a:pPr>
              <a:defRPr sz="2025" b="1">
                <a:solidFill>
                  <a:srgbClr val="2A6B4D"/>
                </a:solidFill>
                <a:latin typeface="Arial"/>
                <a:ea typeface="Arial"/>
                <a:cs typeface="Arial"/>
              </a:defRPr>
            </a:pPr>
            <a:r>
              <a:rPr sz="2025" b="1">
                <a:solidFill>
                  <a:srgbClr val="2A6B4D"/>
                </a:solidFill>
                <a:latin typeface="Arial"/>
                <a:ea typeface="Arial"/>
                <a:cs typeface="Arial"/>
              </a:rPr>
              <a:t>Why SQLite?</a:t>
            </a:r>
          </a:p>
        </p:txBody>
      </p:sp>
      <p:sp>
        <p:nvSpPr>
          <p:cNvPr id="9" name="">
            <a:extLst xmlns:a="http://schemas.openxmlformats.org/drawingml/2006/main">
              <a:ext uri="{FF2B5EF4-FFF2-40B4-BE49-F238E27FC236}">
                <a16:creationId xmlns:a16="http://schemas.microsoft.com/office/drawing/2014/main" id="{EC6B983B-1D60-4EAA-8B7A-587EA89A201A}"/>
              </a:ext>
            </a:extLst>
          </p:cNvPr>
          <p:cNvSpPr>
            <a:spLocks xmlns:a="http://schemas.openxmlformats.org/drawingml/2006/main" noGrp="1"/>
          </p:cNvSpPr>
          <p:nvPr/>
        </p:nvSpPr>
        <p:spPr>
          <a:xfrm xmlns:a="http://schemas.openxmlformats.org/drawingml/2006/main">
            <a:off x="609600" y="51244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4"/>
                </a:solidFill>
                <a:latin typeface="Arial"/>
                <a:ea typeface="Arial"/>
                <a:cs typeface="Arial"/>
              </a:defRPr>
            </a:defPPr>
            <a:lvl1pPr>
              <a:defRPr sz="1875" b="0">
                <a:solidFill>
                  <a:srgbClr val="183D34"/>
                </a:solidFill>
                <a:latin typeface="Arial"/>
                <a:ea typeface="Arial"/>
                <a:cs typeface="Arial"/>
              </a:defRPr>
            </a:lvl1pPr>
            <a:lvl2pPr>
              <a:defRPr sz="1875" b="0">
                <a:solidFill>
                  <a:srgbClr val="183D34"/>
                </a:solidFill>
                <a:latin typeface="Arial"/>
                <a:ea typeface="Arial"/>
                <a:cs typeface="Arial"/>
              </a:defRPr>
            </a:lvl2pPr>
            <a:lvl3pPr>
              <a:defRPr sz="1875" b="0">
                <a:solidFill>
                  <a:srgbClr val="183D34"/>
                </a:solidFill>
                <a:latin typeface="Arial"/>
                <a:ea typeface="Arial"/>
                <a:cs typeface="Arial"/>
              </a:defRPr>
            </a:lvl3pPr>
            <a:lvl4pPr>
              <a:defRPr sz="1875" b="0">
                <a:solidFill>
                  <a:srgbClr val="183D34"/>
                </a:solidFill>
                <a:latin typeface="Arial"/>
                <a:ea typeface="Arial"/>
                <a:cs typeface="Arial"/>
              </a:defRPr>
            </a:lvl4pPr>
            <a:lvl5pPr>
              <a:defRPr sz="1875" b="0">
                <a:solidFill>
                  <a:srgbClr val="183D34"/>
                </a:solidFill>
                <a:latin typeface="Arial"/>
                <a:ea typeface="Arial"/>
                <a:cs typeface="Arial"/>
              </a:defRPr>
            </a:lvl5pPr>
            <a:lvl6pPr>
              <a:defRPr sz="1875" b="0">
                <a:solidFill>
                  <a:srgbClr val="183D34"/>
                </a:solidFill>
                <a:latin typeface="Arial"/>
                <a:ea typeface="Arial"/>
                <a:cs typeface="Arial"/>
              </a:defRPr>
            </a:lvl6pPr>
            <a:lvl7pPr>
              <a:defRPr sz="1875" b="0">
                <a:solidFill>
                  <a:srgbClr val="183D34"/>
                </a:solidFill>
                <a:latin typeface="Arial"/>
                <a:ea typeface="Arial"/>
                <a:cs typeface="Arial"/>
              </a:defRPr>
            </a:lvl7pPr>
            <a:lvl8pPr>
              <a:defRPr sz="1875" b="0">
                <a:solidFill>
                  <a:srgbClr val="183D34"/>
                </a:solidFill>
                <a:latin typeface="Arial"/>
                <a:ea typeface="Arial"/>
                <a:cs typeface="Arial"/>
              </a:defRPr>
            </a:lvl8pPr>
            <a:lvl9pPr>
              <a:defRPr sz="1875" b="0">
                <a:solidFill>
                  <a:srgbClr val="183D34"/>
                </a:solidFill>
                <a:latin typeface="Arial"/>
                <a:ea typeface="Arial"/>
                <a:cs typeface="Arial"/>
              </a:defRPr>
            </a:lvl9pPr>
          </a:lstStyle>
          <a:p xmlns:a="http://schemas.openxmlformats.org/drawingml/2006/main">
            <a:pPr>
              <a:defRPr sz="1875" b="0">
                <a:solidFill>
                  <a:srgbClr val="183D34"/>
                </a:solidFill>
                <a:latin typeface="Arial"/>
                <a:ea typeface="Arial"/>
                <a:cs typeface="Arial"/>
              </a:defRPr>
            </a:pPr>
            <a:r>
              <a:rPr sz="1875" b="0">
                <a:solidFill>
                  <a:srgbClr val="183D34"/>
                </a:solidFill>
                <a:latin typeface="Arial"/>
                <a:ea typeface="Arial"/>
                <a:cs typeface="Arial"/>
              </a:rPr>
              <a:t>It makes local state transitions atomic. The pilot must select an operational store for tenancy, concurrency and external side effects.</a:t>
            </a:r>
          </a:p>
        </p:txBody>
      </p:sp>
      <p:sp>
        <p:nvSpPr>
          <p:cNvPr id="10" name="">
            <a:extLst xmlns:a="http://schemas.openxmlformats.org/drawingml/2006/main">
              <a:ext uri="{FF2B5EF4-FFF2-40B4-BE49-F238E27FC236}">
                <a16:creationId xmlns:a16="http://schemas.microsoft.com/office/drawing/2014/main" id="{1319E29A-EB4A-4C59-917F-0EF0ED9414D2}"/>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B70"/>
                </a:solidFill>
                <a:latin typeface="Arial"/>
                <a:ea typeface="Arial"/>
                <a:cs typeface="Arial"/>
              </a:defRPr>
            </a:defPPr>
            <a:lvl1pPr>
              <a:defRPr sz="1200" b="0">
                <a:solidFill>
                  <a:srgbClr val="657B70"/>
                </a:solidFill>
                <a:latin typeface="Arial"/>
                <a:ea typeface="Arial"/>
                <a:cs typeface="Arial"/>
              </a:defRPr>
            </a:lvl1pPr>
            <a:lvl2pPr>
              <a:defRPr sz="1200" b="0">
                <a:solidFill>
                  <a:srgbClr val="657B70"/>
                </a:solidFill>
                <a:latin typeface="Arial"/>
                <a:ea typeface="Arial"/>
                <a:cs typeface="Arial"/>
              </a:defRPr>
            </a:lvl2pPr>
            <a:lvl3pPr>
              <a:defRPr sz="1200" b="0">
                <a:solidFill>
                  <a:srgbClr val="657B70"/>
                </a:solidFill>
                <a:latin typeface="Arial"/>
                <a:ea typeface="Arial"/>
                <a:cs typeface="Arial"/>
              </a:defRPr>
            </a:lvl3pPr>
            <a:lvl4pPr>
              <a:defRPr sz="1200" b="0">
                <a:solidFill>
                  <a:srgbClr val="657B70"/>
                </a:solidFill>
                <a:latin typeface="Arial"/>
                <a:ea typeface="Arial"/>
                <a:cs typeface="Arial"/>
              </a:defRPr>
            </a:lvl4pPr>
            <a:lvl5pPr>
              <a:defRPr sz="1200" b="0">
                <a:solidFill>
                  <a:srgbClr val="657B70"/>
                </a:solidFill>
                <a:latin typeface="Arial"/>
                <a:ea typeface="Arial"/>
                <a:cs typeface="Arial"/>
              </a:defRPr>
            </a:lvl5pPr>
            <a:lvl6pPr>
              <a:defRPr sz="1200" b="0">
                <a:solidFill>
                  <a:srgbClr val="657B70"/>
                </a:solidFill>
                <a:latin typeface="Arial"/>
                <a:ea typeface="Arial"/>
                <a:cs typeface="Arial"/>
              </a:defRPr>
            </a:lvl6pPr>
            <a:lvl7pPr>
              <a:defRPr sz="1200" b="0">
                <a:solidFill>
                  <a:srgbClr val="657B70"/>
                </a:solidFill>
                <a:latin typeface="Arial"/>
                <a:ea typeface="Arial"/>
                <a:cs typeface="Arial"/>
              </a:defRPr>
            </a:lvl7pPr>
            <a:lvl8pPr>
              <a:defRPr sz="1200" b="0">
                <a:solidFill>
                  <a:srgbClr val="657B70"/>
                </a:solidFill>
                <a:latin typeface="Arial"/>
                <a:ea typeface="Arial"/>
                <a:cs typeface="Arial"/>
              </a:defRPr>
            </a:lvl8pPr>
            <a:lvl9pPr>
              <a:defRPr sz="1200" b="0">
                <a:solidFill>
                  <a:srgbClr val="657B70"/>
                </a:solidFill>
                <a:latin typeface="Arial"/>
                <a:ea typeface="Arial"/>
                <a:cs typeface="Arial"/>
              </a:defRPr>
            </a:lvl9pPr>
          </a:lstStyle>
          <a:p xmlns:a="http://schemas.openxmlformats.org/drawingml/2006/main">
            <a:pPr>
              <a:defRPr sz="1200" b="0">
                <a:solidFill>
                  <a:srgbClr val="657B70"/>
                </a:solidFill>
                <a:latin typeface="Arial"/>
                <a:ea typeface="Arial"/>
                <a:cs typeface="Arial"/>
              </a:defRPr>
            </a:pPr>
            <a:r>
              <a:rPr sz="1200" b="0">
                <a:solidFill>
                  <a:srgbClr val="657B70"/>
                </a:solidFill>
                <a:latin typeface="Arial"/>
                <a:ea typeface="Arial"/>
                <a:cs typeface="Arial"/>
              </a:rPr>
              <a:t>22</a:t>
            </a:r>
          </a:p>
        </p:txBody>
      </p:sp>
    </p:spTree>
    <p:extLst>
      <p:ext uri="{BB962C8B-B14F-4D97-AF65-F5344CB8AC3E}">
        <p14:creationId xmlns:p14="http://schemas.microsoft.com/office/powerpoint/2010/main" val="931217714"/>
      </p:ext>
    </p:extLst>
  </p:cSld>
</p:sld>
</file>

<file path=ppt/slides/slide23.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3DBA1C0-726F-4A28-8BBA-22ED0F88B7D7}"/>
              </a:ext>
            </a:extLst>
          </p:cNvPr>
          <p:cNvSpPr>
            <a:spLocks xmlns:a="http://schemas.openxmlformats.org/drawingml/2006/main" noGrp="1"/>
          </p:cNvSpPr>
          <p:nvPr/>
        </p:nvSpPr>
        <p:spPr>
          <a:xfrm xmlns:a="http://schemas.openxmlformats.org/drawingml/2006/main">
            <a:off x="609600" y="333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657B70"/>
                </a:solidFill>
                <a:latin typeface="Arial"/>
                <a:ea typeface="Arial"/>
                <a:cs typeface="Arial"/>
              </a:defRPr>
            </a:defPPr>
            <a:lvl1pPr>
              <a:defRPr sz="1275" b="1">
                <a:solidFill>
                  <a:srgbClr val="657B70"/>
                </a:solidFill>
                <a:latin typeface="Arial"/>
                <a:ea typeface="Arial"/>
                <a:cs typeface="Arial"/>
              </a:defRPr>
            </a:lvl1pPr>
            <a:lvl2pPr>
              <a:defRPr sz="1275" b="1">
                <a:solidFill>
                  <a:srgbClr val="657B70"/>
                </a:solidFill>
                <a:latin typeface="Arial"/>
                <a:ea typeface="Arial"/>
                <a:cs typeface="Arial"/>
              </a:defRPr>
            </a:lvl2pPr>
            <a:lvl3pPr>
              <a:defRPr sz="1275" b="1">
                <a:solidFill>
                  <a:srgbClr val="657B70"/>
                </a:solidFill>
                <a:latin typeface="Arial"/>
                <a:ea typeface="Arial"/>
                <a:cs typeface="Arial"/>
              </a:defRPr>
            </a:lvl3pPr>
            <a:lvl4pPr>
              <a:defRPr sz="1275" b="1">
                <a:solidFill>
                  <a:srgbClr val="657B70"/>
                </a:solidFill>
                <a:latin typeface="Arial"/>
                <a:ea typeface="Arial"/>
                <a:cs typeface="Arial"/>
              </a:defRPr>
            </a:lvl4pPr>
            <a:lvl5pPr>
              <a:defRPr sz="1275" b="1">
                <a:solidFill>
                  <a:srgbClr val="657B70"/>
                </a:solidFill>
                <a:latin typeface="Arial"/>
                <a:ea typeface="Arial"/>
                <a:cs typeface="Arial"/>
              </a:defRPr>
            </a:lvl5pPr>
            <a:lvl6pPr>
              <a:defRPr sz="1275" b="1">
                <a:solidFill>
                  <a:srgbClr val="657B70"/>
                </a:solidFill>
                <a:latin typeface="Arial"/>
                <a:ea typeface="Arial"/>
                <a:cs typeface="Arial"/>
              </a:defRPr>
            </a:lvl6pPr>
            <a:lvl7pPr>
              <a:defRPr sz="1275" b="1">
                <a:solidFill>
                  <a:srgbClr val="657B70"/>
                </a:solidFill>
                <a:latin typeface="Arial"/>
                <a:ea typeface="Arial"/>
                <a:cs typeface="Arial"/>
              </a:defRPr>
            </a:lvl7pPr>
            <a:lvl8pPr>
              <a:defRPr sz="1275" b="1">
                <a:solidFill>
                  <a:srgbClr val="657B70"/>
                </a:solidFill>
                <a:latin typeface="Arial"/>
                <a:ea typeface="Arial"/>
                <a:cs typeface="Arial"/>
              </a:defRPr>
            </a:lvl8pPr>
            <a:lvl9pPr>
              <a:defRPr sz="1275" b="1">
                <a:solidFill>
                  <a:srgbClr val="657B70"/>
                </a:solidFill>
                <a:latin typeface="Arial"/>
                <a:ea typeface="Arial"/>
                <a:cs typeface="Arial"/>
              </a:defRPr>
            </a:lvl9pPr>
          </a:lstStyle>
          <a:p xmlns:a="http://schemas.openxmlformats.org/drawingml/2006/main">
            <a:pPr>
              <a:defRPr sz="1275" b="1">
                <a:solidFill>
                  <a:srgbClr val="657B70"/>
                </a:solidFill>
                <a:latin typeface="Arial"/>
                <a:ea typeface="Arial"/>
                <a:cs typeface="Arial"/>
              </a:defRPr>
            </a:pPr>
            <a:r>
              <a:rPr sz="1275" b="1">
                <a:solidFill>
                  <a:srgbClr val="657B70"/>
                </a:solidFill>
                <a:latin typeface="Arial"/>
                <a:ea typeface="Arial"/>
                <a:cs typeface="Arial"/>
              </a:rPr>
              <a:t>ARCHITECT APPENDIX</a:t>
            </a:r>
          </a:p>
        </p:txBody>
      </p:sp>
      <p:sp>
        <p:nvSpPr>
          <p:cNvPr id="3" name="">
            <a:extLst xmlns:a="http://schemas.openxmlformats.org/drawingml/2006/main">
              <a:ext uri="{FF2B5EF4-FFF2-40B4-BE49-F238E27FC236}">
                <a16:creationId xmlns:a16="http://schemas.microsoft.com/office/drawing/2014/main" id="{5D8E6660-F21B-4851-8B04-2D3562A5CE30}"/>
              </a:ext>
            </a:extLst>
          </p:cNvPr>
          <p:cNvSpPr>
            <a:spLocks xmlns:a="http://schemas.openxmlformats.org/drawingml/2006/main" noGrp="1"/>
          </p:cNvSpPr>
          <p:nvPr/>
        </p:nvSpPr>
        <p:spPr>
          <a:xfrm xmlns:a="http://schemas.openxmlformats.org/drawingml/2006/main">
            <a:off x="609600" y="78105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183D34"/>
                </a:solidFill>
                <a:latin typeface="Arial"/>
                <a:ea typeface="Arial"/>
                <a:cs typeface="Arial"/>
              </a:defRPr>
            </a:defPPr>
            <a:lvl1pPr>
              <a:defRPr sz="2775" b="1">
                <a:solidFill>
                  <a:srgbClr val="183D34"/>
                </a:solidFill>
                <a:latin typeface="Arial"/>
                <a:ea typeface="Arial"/>
                <a:cs typeface="Arial"/>
              </a:defRPr>
            </a:lvl1pPr>
            <a:lvl2pPr>
              <a:defRPr sz="2775" b="1">
                <a:solidFill>
                  <a:srgbClr val="183D34"/>
                </a:solidFill>
                <a:latin typeface="Arial"/>
                <a:ea typeface="Arial"/>
                <a:cs typeface="Arial"/>
              </a:defRPr>
            </a:lvl2pPr>
            <a:lvl3pPr>
              <a:defRPr sz="2775" b="1">
                <a:solidFill>
                  <a:srgbClr val="183D34"/>
                </a:solidFill>
                <a:latin typeface="Arial"/>
                <a:ea typeface="Arial"/>
                <a:cs typeface="Arial"/>
              </a:defRPr>
            </a:lvl3pPr>
            <a:lvl4pPr>
              <a:defRPr sz="2775" b="1">
                <a:solidFill>
                  <a:srgbClr val="183D34"/>
                </a:solidFill>
                <a:latin typeface="Arial"/>
                <a:ea typeface="Arial"/>
                <a:cs typeface="Arial"/>
              </a:defRPr>
            </a:lvl4pPr>
            <a:lvl5pPr>
              <a:defRPr sz="2775" b="1">
                <a:solidFill>
                  <a:srgbClr val="183D34"/>
                </a:solidFill>
                <a:latin typeface="Arial"/>
                <a:ea typeface="Arial"/>
                <a:cs typeface="Arial"/>
              </a:defRPr>
            </a:lvl5pPr>
            <a:lvl6pPr>
              <a:defRPr sz="2775" b="1">
                <a:solidFill>
                  <a:srgbClr val="183D34"/>
                </a:solidFill>
                <a:latin typeface="Arial"/>
                <a:ea typeface="Arial"/>
                <a:cs typeface="Arial"/>
              </a:defRPr>
            </a:lvl6pPr>
            <a:lvl7pPr>
              <a:defRPr sz="2775" b="1">
                <a:solidFill>
                  <a:srgbClr val="183D34"/>
                </a:solidFill>
                <a:latin typeface="Arial"/>
                <a:ea typeface="Arial"/>
                <a:cs typeface="Arial"/>
              </a:defRPr>
            </a:lvl7pPr>
            <a:lvl8pPr>
              <a:defRPr sz="2775" b="1">
                <a:solidFill>
                  <a:srgbClr val="183D34"/>
                </a:solidFill>
                <a:latin typeface="Arial"/>
                <a:ea typeface="Arial"/>
                <a:cs typeface="Arial"/>
              </a:defRPr>
            </a:lvl8pPr>
            <a:lvl9pPr>
              <a:defRPr sz="2775" b="1">
                <a:solidFill>
                  <a:srgbClr val="183D34"/>
                </a:solidFill>
                <a:latin typeface="Arial"/>
                <a:ea typeface="Arial"/>
                <a:cs typeface="Arial"/>
              </a:defRPr>
            </a:lvl9pPr>
          </a:lstStyle>
          <a:p xmlns:a="http://schemas.openxmlformats.org/drawingml/2006/main">
            <a:pPr>
              <a:defRPr sz="2775" b="1">
                <a:solidFill>
                  <a:srgbClr val="183D34"/>
                </a:solidFill>
                <a:latin typeface="Arial"/>
                <a:ea typeface="Arial"/>
                <a:cs typeface="Arial"/>
              </a:defRPr>
            </a:pPr>
            <a:r>
              <a:rPr sz="2775" b="1">
                <a:solidFill>
                  <a:srgbClr val="183D34"/>
                </a:solidFill>
                <a:latin typeface="Arial"/>
                <a:ea typeface="Arial"/>
                <a:cs typeface="Arial"/>
              </a:rPr>
              <a:t>Authorization and failure correctness</a:t>
            </a:r>
          </a:p>
        </p:txBody>
      </p:sp>
      <p:sp>
        <p:nvSpPr>
          <p:cNvPr id="4" name="">
            <a:extLst xmlns:a="http://schemas.openxmlformats.org/drawingml/2006/main">
              <a:ext uri="{FF2B5EF4-FFF2-40B4-BE49-F238E27FC236}">
                <a16:creationId xmlns:a16="http://schemas.microsoft.com/office/drawing/2014/main" id="{35FBAD8F-595D-43DD-AD98-5C1961996937}"/>
              </a:ext>
            </a:extLst>
          </p:cNvPr>
          <p:cNvSpPr>
            <a:spLocks xmlns:a="http://schemas.openxmlformats.org/drawingml/2006/main" noGrp="1"/>
          </p:cNvSpPr>
          <p:nvPr/>
        </p:nvSpPr>
        <p:spPr>
          <a:xfrm xmlns:a="http://schemas.openxmlformats.org/drawingml/2006/main">
            <a:off x="609600" y="176212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A6B4D"/>
                </a:solidFill>
                <a:latin typeface="Arial"/>
                <a:ea typeface="Arial"/>
                <a:cs typeface="Arial"/>
              </a:defRPr>
            </a:defPPr>
            <a:lvl1pPr>
              <a:defRPr sz="2025" b="1">
                <a:solidFill>
                  <a:srgbClr val="2A6B4D"/>
                </a:solidFill>
                <a:latin typeface="Arial"/>
                <a:ea typeface="Arial"/>
                <a:cs typeface="Arial"/>
              </a:defRPr>
            </a:lvl1pPr>
            <a:lvl2pPr>
              <a:defRPr sz="2025" b="1">
                <a:solidFill>
                  <a:srgbClr val="2A6B4D"/>
                </a:solidFill>
                <a:latin typeface="Arial"/>
                <a:ea typeface="Arial"/>
                <a:cs typeface="Arial"/>
              </a:defRPr>
            </a:lvl2pPr>
            <a:lvl3pPr>
              <a:defRPr sz="2025" b="1">
                <a:solidFill>
                  <a:srgbClr val="2A6B4D"/>
                </a:solidFill>
                <a:latin typeface="Arial"/>
                <a:ea typeface="Arial"/>
                <a:cs typeface="Arial"/>
              </a:defRPr>
            </a:lvl3pPr>
            <a:lvl4pPr>
              <a:defRPr sz="2025" b="1">
                <a:solidFill>
                  <a:srgbClr val="2A6B4D"/>
                </a:solidFill>
                <a:latin typeface="Arial"/>
                <a:ea typeface="Arial"/>
                <a:cs typeface="Arial"/>
              </a:defRPr>
            </a:lvl4pPr>
            <a:lvl5pPr>
              <a:defRPr sz="2025" b="1">
                <a:solidFill>
                  <a:srgbClr val="2A6B4D"/>
                </a:solidFill>
                <a:latin typeface="Arial"/>
                <a:ea typeface="Arial"/>
                <a:cs typeface="Arial"/>
              </a:defRPr>
            </a:lvl5pPr>
            <a:lvl6pPr>
              <a:defRPr sz="2025" b="1">
                <a:solidFill>
                  <a:srgbClr val="2A6B4D"/>
                </a:solidFill>
                <a:latin typeface="Arial"/>
                <a:ea typeface="Arial"/>
                <a:cs typeface="Arial"/>
              </a:defRPr>
            </a:lvl6pPr>
            <a:lvl7pPr>
              <a:defRPr sz="2025" b="1">
                <a:solidFill>
                  <a:srgbClr val="2A6B4D"/>
                </a:solidFill>
                <a:latin typeface="Arial"/>
                <a:ea typeface="Arial"/>
                <a:cs typeface="Arial"/>
              </a:defRPr>
            </a:lvl7pPr>
            <a:lvl8pPr>
              <a:defRPr sz="2025" b="1">
                <a:solidFill>
                  <a:srgbClr val="2A6B4D"/>
                </a:solidFill>
                <a:latin typeface="Arial"/>
                <a:ea typeface="Arial"/>
                <a:cs typeface="Arial"/>
              </a:defRPr>
            </a:lvl8pPr>
            <a:lvl9pPr>
              <a:defRPr sz="2025" b="1">
                <a:solidFill>
                  <a:srgbClr val="2A6B4D"/>
                </a:solidFill>
                <a:latin typeface="Arial"/>
                <a:ea typeface="Arial"/>
                <a:cs typeface="Arial"/>
              </a:defRPr>
            </a:lvl9pPr>
          </a:lstStyle>
          <a:p xmlns:a="http://schemas.openxmlformats.org/drawingml/2006/main">
            <a:pPr>
              <a:defRPr sz="2025" b="1">
                <a:solidFill>
                  <a:srgbClr val="2A6B4D"/>
                </a:solidFill>
                <a:latin typeface="Arial"/>
                <a:ea typeface="Arial"/>
                <a:cs typeface="Arial"/>
              </a:defRPr>
            </a:pPr>
            <a:r>
              <a:rPr sz="2025" b="1">
                <a:solidFill>
                  <a:srgbClr val="2A6B4D"/>
                </a:solidFill>
                <a:latin typeface="Arial"/>
                <a:ea typeface="Arial"/>
                <a:cs typeface="Arial"/>
              </a:rPr>
              <a:t>Do we guarantee exactly-once authorization?</a:t>
            </a:r>
          </a:p>
        </p:txBody>
      </p:sp>
      <p:sp>
        <p:nvSpPr>
          <p:cNvPr id="5" name="">
            <a:extLst xmlns:a="http://schemas.openxmlformats.org/drawingml/2006/main">
              <a:ext uri="{FF2B5EF4-FFF2-40B4-BE49-F238E27FC236}">
                <a16:creationId xmlns:a16="http://schemas.microsoft.com/office/drawing/2014/main" id="{7C54B387-6138-4422-9A35-EF92DAEF9588}"/>
              </a:ext>
            </a:extLst>
          </p:cNvPr>
          <p:cNvSpPr>
            <a:spLocks xmlns:a="http://schemas.openxmlformats.org/drawingml/2006/main" noGrp="1"/>
          </p:cNvSpPr>
          <p:nvPr/>
        </p:nvSpPr>
        <p:spPr>
          <a:xfrm xmlns:a="http://schemas.openxmlformats.org/drawingml/2006/main">
            <a:off x="609600" y="22669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4"/>
                </a:solidFill>
                <a:latin typeface="Arial"/>
                <a:ea typeface="Arial"/>
                <a:cs typeface="Arial"/>
              </a:defRPr>
            </a:defPPr>
            <a:lvl1pPr>
              <a:defRPr sz="1875" b="0">
                <a:solidFill>
                  <a:srgbClr val="183D34"/>
                </a:solidFill>
                <a:latin typeface="Arial"/>
                <a:ea typeface="Arial"/>
                <a:cs typeface="Arial"/>
              </a:defRPr>
            </a:lvl1pPr>
            <a:lvl2pPr>
              <a:defRPr sz="1875" b="0">
                <a:solidFill>
                  <a:srgbClr val="183D34"/>
                </a:solidFill>
                <a:latin typeface="Arial"/>
                <a:ea typeface="Arial"/>
                <a:cs typeface="Arial"/>
              </a:defRPr>
            </a:lvl2pPr>
            <a:lvl3pPr>
              <a:defRPr sz="1875" b="0">
                <a:solidFill>
                  <a:srgbClr val="183D34"/>
                </a:solidFill>
                <a:latin typeface="Arial"/>
                <a:ea typeface="Arial"/>
                <a:cs typeface="Arial"/>
              </a:defRPr>
            </a:lvl3pPr>
            <a:lvl4pPr>
              <a:defRPr sz="1875" b="0">
                <a:solidFill>
                  <a:srgbClr val="183D34"/>
                </a:solidFill>
                <a:latin typeface="Arial"/>
                <a:ea typeface="Arial"/>
                <a:cs typeface="Arial"/>
              </a:defRPr>
            </a:lvl4pPr>
            <a:lvl5pPr>
              <a:defRPr sz="1875" b="0">
                <a:solidFill>
                  <a:srgbClr val="183D34"/>
                </a:solidFill>
                <a:latin typeface="Arial"/>
                <a:ea typeface="Arial"/>
                <a:cs typeface="Arial"/>
              </a:defRPr>
            </a:lvl5pPr>
            <a:lvl6pPr>
              <a:defRPr sz="1875" b="0">
                <a:solidFill>
                  <a:srgbClr val="183D34"/>
                </a:solidFill>
                <a:latin typeface="Arial"/>
                <a:ea typeface="Arial"/>
                <a:cs typeface="Arial"/>
              </a:defRPr>
            </a:lvl6pPr>
            <a:lvl7pPr>
              <a:defRPr sz="1875" b="0">
                <a:solidFill>
                  <a:srgbClr val="183D34"/>
                </a:solidFill>
                <a:latin typeface="Arial"/>
                <a:ea typeface="Arial"/>
                <a:cs typeface="Arial"/>
              </a:defRPr>
            </a:lvl7pPr>
            <a:lvl8pPr>
              <a:defRPr sz="1875" b="0">
                <a:solidFill>
                  <a:srgbClr val="183D34"/>
                </a:solidFill>
                <a:latin typeface="Arial"/>
                <a:ea typeface="Arial"/>
                <a:cs typeface="Arial"/>
              </a:defRPr>
            </a:lvl8pPr>
            <a:lvl9pPr>
              <a:defRPr sz="1875" b="0">
                <a:solidFill>
                  <a:srgbClr val="183D34"/>
                </a:solidFill>
                <a:latin typeface="Arial"/>
                <a:ea typeface="Arial"/>
                <a:cs typeface="Arial"/>
              </a:defRPr>
            </a:lvl9pPr>
          </a:lstStyle>
          <a:p xmlns:a="http://schemas.openxmlformats.org/drawingml/2006/main">
            <a:pPr>
              <a:defRPr sz="1875" b="0">
                <a:solidFill>
                  <a:srgbClr val="183D34"/>
                </a:solidFill>
                <a:latin typeface="Arial"/>
                <a:ea typeface="Arial"/>
                <a:cs typeface="Arial"/>
              </a:defRPr>
            </a:pPr>
            <a:r>
              <a:rPr sz="1875" b="0">
                <a:solidFill>
                  <a:srgbClr val="183D34"/>
                </a:solidFill>
                <a:latin typeface="Arial"/>
                <a:ea typeface="Arial"/>
                <a:cs typeface="Arial"/>
              </a:rPr>
              <a:t>No. We demonstrate session-local idempotency. Production needs merchant-scoped keys and explicit acceptance-versus-persistence crash tests.</a:t>
            </a:r>
          </a:p>
        </p:txBody>
      </p:sp>
      <p:sp>
        <p:nvSpPr>
          <p:cNvPr id="6" name="">
            <a:extLst xmlns:a="http://schemas.openxmlformats.org/drawingml/2006/main">
              <a:ext uri="{FF2B5EF4-FFF2-40B4-BE49-F238E27FC236}">
                <a16:creationId xmlns:a16="http://schemas.microsoft.com/office/drawing/2014/main" id="{B408EF1C-2862-4D9F-85D4-ABAB05210E69}"/>
              </a:ext>
            </a:extLst>
          </p:cNvPr>
          <p:cNvSpPr>
            <a:spLocks xmlns:a="http://schemas.openxmlformats.org/drawingml/2006/main" noGrp="1"/>
          </p:cNvSpPr>
          <p:nvPr/>
        </p:nvSpPr>
        <p:spPr>
          <a:xfrm xmlns:a="http://schemas.openxmlformats.org/drawingml/2006/main">
            <a:off x="609600" y="319087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A6B4D"/>
                </a:solidFill>
                <a:latin typeface="Arial"/>
                <a:ea typeface="Arial"/>
                <a:cs typeface="Arial"/>
              </a:defRPr>
            </a:defPPr>
            <a:lvl1pPr>
              <a:defRPr sz="2025" b="1">
                <a:solidFill>
                  <a:srgbClr val="2A6B4D"/>
                </a:solidFill>
                <a:latin typeface="Arial"/>
                <a:ea typeface="Arial"/>
                <a:cs typeface="Arial"/>
              </a:defRPr>
            </a:lvl1pPr>
            <a:lvl2pPr>
              <a:defRPr sz="2025" b="1">
                <a:solidFill>
                  <a:srgbClr val="2A6B4D"/>
                </a:solidFill>
                <a:latin typeface="Arial"/>
                <a:ea typeface="Arial"/>
                <a:cs typeface="Arial"/>
              </a:defRPr>
            </a:lvl2pPr>
            <a:lvl3pPr>
              <a:defRPr sz="2025" b="1">
                <a:solidFill>
                  <a:srgbClr val="2A6B4D"/>
                </a:solidFill>
                <a:latin typeface="Arial"/>
                <a:ea typeface="Arial"/>
                <a:cs typeface="Arial"/>
              </a:defRPr>
            </a:lvl3pPr>
            <a:lvl4pPr>
              <a:defRPr sz="2025" b="1">
                <a:solidFill>
                  <a:srgbClr val="2A6B4D"/>
                </a:solidFill>
                <a:latin typeface="Arial"/>
                <a:ea typeface="Arial"/>
                <a:cs typeface="Arial"/>
              </a:defRPr>
            </a:lvl4pPr>
            <a:lvl5pPr>
              <a:defRPr sz="2025" b="1">
                <a:solidFill>
                  <a:srgbClr val="2A6B4D"/>
                </a:solidFill>
                <a:latin typeface="Arial"/>
                <a:ea typeface="Arial"/>
                <a:cs typeface="Arial"/>
              </a:defRPr>
            </a:lvl5pPr>
            <a:lvl6pPr>
              <a:defRPr sz="2025" b="1">
                <a:solidFill>
                  <a:srgbClr val="2A6B4D"/>
                </a:solidFill>
                <a:latin typeface="Arial"/>
                <a:ea typeface="Arial"/>
                <a:cs typeface="Arial"/>
              </a:defRPr>
            </a:lvl6pPr>
            <a:lvl7pPr>
              <a:defRPr sz="2025" b="1">
                <a:solidFill>
                  <a:srgbClr val="2A6B4D"/>
                </a:solidFill>
                <a:latin typeface="Arial"/>
                <a:ea typeface="Arial"/>
                <a:cs typeface="Arial"/>
              </a:defRPr>
            </a:lvl7pPr>
            <a:lvl8pPr>
              <a:defRPr sz="2025" b="1">
                <a:solidFill>
                  <a:srgbClr val="2A6B4D"/>
                </a:solidFill>
                <a:latin typeface="Arial"/>
                <a:ea typeface="Arial"/>
                <a:cs typeface="Arial"/>
              </a:defRPr>
            </a:lvl8pPr>
            <a:lvl9pPr>
              <a:defRPr sz="2025" b="1">
                <a:solidFill>
                  <a:srgbClr val="2A6B4D"/>
                </a:solidFill>
                <a:latin typeface="Arial"/>
                <a:ea typeface="Arial"/>
                <a:cs typeface="Arial"/>
              </a:defRPr>
            </a:lvl9pPr>
          </a:lstStyle>
          <a:p xmlns:a="http://schemas.openxmlformats.org/drawingml/2006/main">
            <a:pPr>
              <a:defRPr sz="2025" b="1">
                <a:solidFill>
                  <a:srgbClr val="2A6B4D"/>
                </a:solidFill>
                <a:latin typeface="Arial"/>
                <a:ea typeface="Arial"/>
                <a:cs typeface="Arial"/>
              </a:defRPr>
            </a:pPr>
            <a:r>
              <a:rPr sz="2025" b="1">
                <a:solidFill>
                  <a:srgbClr val="2A6B4D"/>
                </a:solidFill>
                <a:latin typeface="Arial"/>
                <a:ea typeface="Arial"/>
                <a:cs typeface="Arial"/>
              </a:rPr>
              <a:t>How do we resolve a timed-out issuer request?</a:t>
            </a:r>
          </a:p>
        </p:txBody>
      </p:sp>
      <p:sp>
        <p:nvSpPr>
          <p:cNvPr id="7" name="">
            <a:extLst xmlns:a="http://schemas.openxmlformats.org/drawingml/2006/main">
              <a:ext uri="{FF2B5EF4-FFF2-40B4-BE49-F238E27FC236}">
                <a16:creationId xmlns:a16="http://schemas.microsoft.com/office/drawing/2014/main" id="{FCA0F9CB-5A17-4E73-9749-39737BA52A5A}"/>
              </a:ext>
            </a:extLst>
          </p:cNvPr>
          <p:cNvSpPr>
            <a:spLocks xmlns:a="http://schemas.openxmlformats.org/drawingml/2006/main" noGrp="1"/>
          </p:cNvSpPr>
          <p:nvPr/>
        </p:nvSpPr>
        <p:spPr>
          <a:xfrm xmlns:a="http://schemas.openxmlformats.org/drawingml/2006/main">
            <a:off x="609600" y="369570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4"/>
                </a:solidFill>
                <a:latin typeface="Arial"/>
                <a:ea typeface="Arial"/>
                <a:cs typeface="Arial"/>
              </a:defRPr>
            </a:defPPr>
            <a:lvl1pPr>
              <a:defRPr sz="1875" b="0">
                <a:solidFill>
                  <a:srgbClr val="183D34"/>
                </a:solidFill>
                <a:latin typeface="Arial"/>
                <a:ea typeface="Arial"/>
                <a:cs typeface="Arial"/>
              </a:defRPr>
            </a:lvl1pPr>
            <a:lvl2pPr>
              <a:defRPr sz="1875" b="0">
                <a:solidFill>
                  <a:srgbClr val="183D34"/>
                </a:solidFill>
                <a:latin typeface="Arial"/>
                <a:ea typeface="Arial"/>
                <a:cs typeface="Arial"/>
              </a:defRPr>
            </a:lvl2pPr>
            <a:lvl3pPr>
              <a:defRPr sz="1875" b="0">
                <a:solidFill>
                  <a:srgbClr val="183D34"/>
                </a:solidFill>
                <a:latin typeface="Arial"/>
                <a:ea typeface="Arial"/>
                <a:cs typeface="Arial"/>
              </a:defRPr>
            </a:lvl3pPr>
            <a:lvl4pPr>
              <a:defRPr sz="1875" b="0">
                <a:solidFill>
                  <a:srgbClr val="183D34"/>
                </a:solidFill>
                <a:latin typeface="Arial"/>
                <a:ea typeface="Arial"/>
                <a:cs typeface="Arial"/>
              </a:defRPr>
            </a:lvl4pPr>
            <a:lvl5pPr>
              <a:defRPr sz="1875" b="0">
                <a:solidFill>
                  <a:srgbClr val="183D34"/>
                </a:solidFill>
                <a:latin typeface="Arial"/>
                <a:ea typeface="Arial"/>
                <a:cs typeface="Arial"/>
              </a:defRPr>
            </a:lvl5pPr>
            <a:lvl6pPr>
              <a:defRPr sz="1875" b="0">
                <a:solidFill>
                  <a:srgbClr val="183D34"/>
                </a:solidFill>
                <a:latin typeface="Arial"/>
                <a:ea typeface="Arial"/>
                <a:cs typeface="Arial"/>
              </a:defRPr>
            </a:lvl6pPr>
            <a:lvl7pPr>
              <a:defRPr sz="1875" b="0">
                <a:solidFill>
                  <a:srgbClr val="183D34"/>
                </a:solidFill>
                <a:latin typeface="Arial"/>
                <a:ea typeface="Arial"/>
                <a:cs typeface="Arial"/>
              </a:defRPr>
            </a:lvl7pPr>
            <a:lvl8pPr>
              <a:defRPr sz="1875" b="0">
                <a:solidFill>
                  <a:srgbClr val="183D34"/>
                </a:solidFill>
                <a:latin typeface="Arial"/>
                <a:ea typeface="Arial"/>
                <a:cs typeface="Arial"/>
              </a:defRPr>
            </a:lvl8pPr>
            <a:lvl9pPr>
              <a:defRPr sz="1875" b="0">
                <a:solidFill>
                  <a:srgbClr val="183D34"/>
                </a:solidFill>
                <a:latin typeface="Arial"/>
                <a:ea typeface="Arial"/>
                <a:cs typeface="Arial"/>
              </a:defRPr>
            </a:lvl9pPr>
          </a:lstStyle>
          <a:p xmlns:a="http://schemas.openxmlformats.org/drawingml/2006/main">
            <a:pPr>
              <a:defRPr sz="1875" b="0">
                <a:solidFill>
                  <a:srgbClr val="183D34"/>
                </a:solidFill>
                <a:latin typeface="Arial"/>
                <a:ea typeface="Arial"/>
                <a:cs typeface="Arial"/>
              </a:defRPr>
            </a:pPr>
            <a:r>
              <a:rPr sz="1875" b="0">
                <a:solidFill>
                  <a:srgbClr val="183D34"/>
                </a:solidFill>
                <a:latin typeface="Arial"/>
                <a:ea typeface="Arial"/>
                <a:cs typeface="Arial"/>
              </a:rPr>
              <a:t>Use an authoritative provider lookup or reconciliation receipt. Without trustworthy evidence, preserve UNKNOWN and prevent blind retry.</a:t>
            </a:r>
          </a:p>
        </p:txBody>
      </p:sp>
      <p:sp>
        <p:nvSpPr>
          <p:cNvPr id="8" name="">
            <a:extLst xmlns:a="http://schemas.openxmlformats.org/drawingml/2006/main">
              <a:ext uri="{FF2B5EF4-FFF2-40B4-BE49-F238E27FC236}">
                <a16:creationId xmlns:a16="http://schemas.microsoft.com/office/drawing/2014/main" id="{7F279B0F-9A06-4D0E-B79B-3F594FA4D4E3}"/>
              </a:ext>
            </a:extLst>
          </p:cNvPr>
          <p:cNvSpPr>
            <a:spLocks xmlns:a="http://schemas.openxmlformats.org/drawingml/2006/main" noGrp="1"/>
          </p:cNvSpPr>
          <p:nvPr/>
        </p:nvSpPr>
        <p:spPr>
          <a:xfrm xmlns:a="http://schemas.openxmlformats.org/drawingml/2006/main">
            <a:off x="609600" y="461962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A6B4D"/>
                </a:solidFill>
                <a:latin typeface="Arial"/>
                <a:ea typeface="Arial"/>
                <a:cs typeface="Arial"/>
              </a:defRPr>
            </a:defPPr>
            <a:lvl1pPr>
              <a:defRPr sz="2025" b="1">
                <a:solidFill>
                  <a:srgbClr val="2A6B4D"/>
                </a:solidFill>
                <a:latin typeface="Arial"/>
                <a:ea typeface="Arial"/>
                <a:cs typeface="Arial"/>
              </a:defRPr>
            </a:lvl1pPr>
            <a:lvl2pPr>
              <a:defRPr sz="2025" b="1">
                <a:solidFill>
                  <a:srgbClr val="2A6B4D"/>
                </a:solidFill>
                <a:latin typeface="Arial"/>
                <a:ea typeface="Arial"/>
                <a:cs typeface="Arial"/>
              </a:defRPr>
            </a:lvl2pPr>
            <a:lvl3pPr>
              <a:defRPr sz="2025" b="1">
                <a:solidFill>
                  <a:srgbClr val="2A6B4D"/>
                </a:solidFill>
                <a:latin typeface="Arial"/>
                <a:ea typeface="Arial"/>
                <a:cs typeface="Arial"/>
              </a:defRPr>
            </a:lvl3pPr>
            <a:lvl4pPr>
              <a:defRPr sz="2025" b="1">
                <a:solidFill>
                  <a:srgbClr val="2A6B4D"/>
                </a:solidFill>
                <a:latin typeface="Arial"/>
                <a:ea typeface="Arial"/>
                <a:cs typeface="Arial"/>
              </a:defRPr>
            </a:lvl4pPr>
            <a:lvl5pPr>
              <a:defRPr sz="2025" b="1">
                <a:solidFill>
                  <a:srgbClr val="2A6B4D"/>
                </a:solidFill>
                <a:latin typeface="Arial"/>
                <a:ea typeface="Arial"/>
                <a:cs typeface="Arial"/>
              </a:defRPr>
            </a:lvl5pPr>
            <a:lvl6pPr>
              <a:defRPr sz="2025" b="1">
                <a:solidFill>
                  <a:srgbClr val="2A6B4D"/>
                </a:solidFill>
                <a:latin typeface="Arial"/>
                <a:ea typeface="Arial"/>
                <a:cs typeface="Arial"/>
              </a:defRPr>
            </a:lvl6pPr>
            <a:lvl7pPr>
              <a:defRPr sz="2025" b="1">
                <a:solidFill>
                  <a:srgbClr val="2A6B4D"/>
                </a:solidFill>
                <a:latin typeface="Arial"/>
                <a:ea typeface="Arial"/>
                <a:cs typeface="Arial"/>
              </a:defRPr>
            </a:lvl7pPr>
            <a:lvl8pPr>
              <a:defRPr sz="2025" b="1">
                <a:solidFill>
                  <a:srgbClr val="2A6B4D"/>
                </a:solidFill>
                <a:latin typeface="Arial"/>
                <a:ea typeface="Arial"/>
                <a:cs typeface="Arial"/>
              </a:defRPr>
            </a:lvl8pPr>
            <a:lvl9pPr>
              <a:defRPr sz="2025" b="1">
                <a:solidFill>
                  <a:srgbClr val="2A6B4D"/>
                </a:solidFill>
                <a:latin typeface="Arial"/>
                <a:ea typeface="Arial"/>
                <a:cs typeface="Arial"/>
              </a:defRPr>
            </a:lvl9pPr>
          </a:lstStyle>
          <a:p xmlns:a="http://schemas.openxmlformats.org/drawingml/2006/main">
            <a:pPr>
              <a:defRPr sz="2025" b="1">
                <a:solidFill>
                  <a:srgbClr val="2A6B4D"/>
                </a:solidFill>
                <a:latin typeface="Arial"/>
                <a:ea typeface="Arial"/>
                <a:cs typeface="Arial"/>
              </a:defRPr>
            </a:pPr>
            <a:r>
              <a:rPr sz="2025" b="1">
                <a:solidFill>
                  <a:srgbClr val="2A6B4D"/>
                </a:solidFill>
                <a:latin typeface="Arial"/>
                <a:ea typeface="Arial"/>
                <a:cs typeface="Arial"/>
              </a:rPr>
              <a:t>Can an analyst override a decline?</a:t>
            </a:r>
          </a:p>
        </p:txBody>
      </p:sp>
      <p:sp>
        <p:nvSpPr>
          <p:cNvPr id="9" name="">
            <a:extLst xmlns:a="http://schemas.openxmlformats.org/drawingml/2006/main">
              <a:ext uri="{FF2B5EF4-FFF2-40B4-BE49-F238E27FC236}">
                <a16:creationId xmlns:a16="http://schemas.microsoft.com/office/drawing/2014/main" id="{7813C6C5-9966-42D0-88D9-DFD9A707EC80}"/>
              </a:ext>
            </a:extLst>
          </p:cNvPr>
          <p:cNvSpPr>
            <a:spLocks xmlns:a="http://schemas.openxmlformats.org/drawingml/2006/main" noGrp="1"/>
          </p:cNvSpPr>
          <p:nvPr/>
        </p:nvSpPr>
        <p:spPr>
          <a:xfrm xmlns:a="http://schemas.openxmlformats.org/drawingml/2006/main">
            <a:off x="609600" y="51244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4"/>
                </a:solidFill>
                <a:latin typeface="Arial"/>
                <a:ea typeface="Arial"/>
                <a:cs typeface="Arial"/>
              </a:defRPr>
            </a:defPPr>
            <a:lvl1pPr>
              <a:defRPr sz="1875" b="0">
                <a:solidFill>
                  <a:srgbClr val="183D34"/>
                </a:solidFill>
                <a:latin typeface="Arial"/>
                <a:ea typeface="Arial"/>
                <a:cs typeface="Arial"/>
              </a:defRPr>
            </a:lvl1pPr>
            <a:lvl2pPr>
              <a:defRPr sz="1875" b="0">
                <a:solidFill>
                  <a:srgbClr val="183D34"/>
                </a:solidFill>
                <a:latin typeface="Arial"/>
                <a:ea typeface="Arial"/>
                <a:cs typeface="Arial"/>
              </a:defRPr>
            </a:lvl2pPr>
            <a:lvl3pPr>
              <a:defRPr sz="1875" b="0">
                <a:solidFill>
                  <a:srgbClr val="183D34"/>
                </a:solidFill>
                <a:latin typeface="Arial"/>
                <a:ea typeface="Arial"/>
                <a:cs typeface="Arial"/>
              </a:defRPr>
            </a:lvl3pPr>
            <a:lvl4pPr>
              <a:defRPr sz="1875" b="0">
                <a:solidFill>
                  <a:srgbClr val="183D34"/>
                </a:solidFill>
                <a:latin typeface="Arial"/>
                <a:ea typeface="Arial"/>
                <a:cs typeface="Arial"/>
              </a:defRPr>
            </a:lvl4pPr>
            <a:lvl5pPr>
              <a:defRPr sz="1875" b="0">
                <a:solidFill>
                  <a:srgbClr val="183D34"/>
                </a:solidFill>
                <a:latin typeface="Arial"/>
                <a:ea typeface="Arial"/>
                <a:cs typeface="Arial"/>
              </a:defRPr>
            </a:lvl5pPr>
            <a:lvl6pPr>
              <a:defRPr sz="1875" b="0">
                <a:solidFill>
                  <a:srgbClr val="183D34"/>
                </a:solidFill>
                <a:latin typeface="Arial"/>
                <a:ea typeface="Arial"/>
                <a:cs typeface="Arial"/>
              </a:defRPr>
            </a:lvl6pPr>
            <a:lvl7pPr>
              <a:defRPr sz="1875" b="0">
                <a:solidFill>
                  <a:srgbClr val="183D34"/>
                </a:solidFill>
                <a:latin typeface="Arial"/>
                <a:ea typeface="Arial"/>
                <a:cs typeface="Arial"/>
              </a:defRPr>
            </a:lvl7pPr>
            <a:lvl8pPr>
              <a:defRPr sz="1875" b="0">
                <a:solidFill>
                  <a:srgbClr val="183D34"/>
                </a:solidFill>
                <a:latin typeface="Arial"/>
                <a:ea typeface="Arial"/>
                <a:cs typeface="Arial"/>
              </a:defRPr>
            </a:lvl8pPr>
            <a:lvl9pPr>
              <a:defRPr sz="1875" b="0">
                <a:solidFill>
                  <a:srgbClr val="183D34"/>
                </a:solidFill>
                <a:latin typeface="Arial"/>
                <a:ea typeface="Arial"/>
                <a:cs typeface="Arial"/>
              </a:defRPr>
            </a:lvl9pPr>
          </a:lstStyle>
          <a:p xmlns:a="http://schemas.openxmlformats.org/drawingml/2006/main">
            <a:pPr>
              <a:defRPr sz="1875" b="0">
                <a:solidFill>
                  <a:srgbClr val="183D34"/>
                </a:solidFill>
                <a:latin typeface="Arial"/>
                <a:ea typeface="Arial"/>
                <a:cs typeface="Arial"/>
              </a:defRPr>
            </a:pPr>
            <a:r>
              <a:rPr sz="1875" b="0">
                <a:solidFill>
                  <a:srgbClr val="183D34"/>
                </a:solidFill>
                <a:latin typeface="Arial"/>
                <a:ea typeface="Arial"/>
                <a:cs typeface="Arial"/>
              </a:rPr>
              <a:t>No. Release applies only to REVIEW before authorization. Blocks, failed authentication and issuer declines remain protected.</a:t>
            </a:r>
          </a:p>
        </p:txBody>
      </p:sp>
      <p:sp>
        <p:nvSpPr>
          <p:cNvPr id="10" name="">
            <a:extLst xmlns:a="http://schemas.openxmlformats.org/drawingml/2006/main">
              <a:ext uri="{FF2B5EF4-FFF2-40B4-BE49-F238E27FC236}">
                <a16:creationId xmlns:a16="http://schemas.microsoft.com/office/drawing/2014/main" id="{A7D32FE7-FC7F-419D-BD42-10D968BA1730}"/>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B70"/>
                </a:solidFill>
                <a:latin typeface="Arial"/>
                <a:ea typeface="Arial"/>
                <a:cs typeface="Arial"/>
              </a:defRPr>
            </a:defPPr>
            <a:lvl1pPr>
              <a:defRPr sz="1200" b="0">
                <a:solidFill>
                  <a:srgbClr val="657B70"/>
                </a:solidFill>
                <a:latin typeface="Arial"/>
                <a:ea typeface="Arial"/>
                <a:cs typeface="Arial"/>
              </a:defRPr>
            </a:lvl1pPr>
            <a:lvl2pPr>
              <a:defRPr sz="1200" b="0">
                <a:solidFill>
                  <a:srgbClr val="657B70"/>
                </a:solidFill>
                <a:latin typeface="Arial"/>
                <a:ea typeface="Arial"/>
                <a:cs typeface="Arial"/>
              </a:defRPr>
            </a:lvl2pPr>
            <a:lvl3pPr>
              <a:defRPr sz="1200" b="0">
                <a:solidFill>
                  <a:srgbClr val="657B70"/>
                </a:solidFill>
                <a:latin typeface="Arial"/>
                <a:ea typeface="Arial"/>
                <a:cs typeface="Arial"/>
              </a:defRPr>
            </a:lvl3pPr>
            <a:lvl4pPr>
              <a:defRPr sz="1200" b="0">
                <a:solidFill>
                  <a:srgbClr val="657B70"/>
                </a:solidFill>
                <a:latin typeface="Arial"/>
                <a:ea typeface="Arial"/>
                <a:cs typeface="Arial"/>
              </a:defRPr>
            </a:lvl4pPr>
            <a:lvl5pPr>
              <a:defRPr sz="1200" b="0">
                <a:solidFill>
                  <a:srgbClr val="657B70"/>
                </a:solidFill>
                <a:latin typeface="Arial"/>
                <a:ea typeface="Arial"/>
                <a:cs typeface="Arial"/>
              </a:defRPr>
            </a:lvl5pPr>
            <a:lvl6pPr>
              <a:defRPr sz="1200" b="0">
                <a:solidFill>
                  <a:srgbClr val="657B70"/>
                </a:solidFill>
                <a:latin typeface="Arial"/>
                <a:ea typeface="Arial"/>
                <a:cs typeface="Arial"/>
              </a:defRPr>
            </a:lvl6pPr>
            <a:lvl7pPr>
              <a:defRPr sz="1200" b="0">
                <a:solidFill>
                  <a:srgbClr val="657B70"/>
                </a:solidFill>
                <a:latin typeface="Arial"/>
                <a:ea typeface="Arial"/>
                <a:cs typeface="Arial"/>
              </a:defRPr>
            </a:lvl7pPr>
            <a:lvl8pPr>
              <a:defRPr sz="1200" b="0">
                <a:solidFill>
                  <a:srgbClr val="657B70"/>
                </a:solidFill>
                <a:latin typeface="Arial"/>
                <a:ea typeface="Arial"/>
                <a:cs typeface="Arial"/>
              </a:defRPr>
            </a:lvl8pPr>
            <a:lvl9pPr>
              <a:defRPr sz="1200" b="0">
                <a:solidFill>
                  <a:srgbClr val="657B70"/>
                </a:solidFill>
                <a:latin typeface="Arial"/>
                <a:ea typeface="Arial"/>
                <a:cs typeface="Arial"/>
              </a:defRPr>
            </a:lvl9pPr>
          </a:lstStyle>
          <a:p xmlns:a="http://schemas.openxmlformats.org/drawingml/2006/main">
            <a:pPr>
              <a:defRPr sz="1200" b="0">
                <a:solidFill>
                  <a:srgbClr val="657B70"/>
                </a:solidFill>
                <a:latin typeface="Arial"/>
                <a:ea typeface="Arial"/>
                <a:cs typeface="Arial"/>
              </a:defRPr>
            </a:pPr>
            <a:r>
              <a:rPr sz="1200" b="0">
                <a:solidFill>
                  <a:srgbClr val="657B70"/>
                </a:solidFill>
                <a:latin typeface="Arial"/>
                <a:ea typeface="Arial"/>
                <a:cs typeface="Arial"/>
              </a:rPr>
              <a:t>23</a:t>
            </a:r>
          </a:p>
        </p:txBody>
      </p:sp>
    </p:spTree>
    <p:extLst>
      <p:ext uri="{BB962C8B-B14F-4D97-AF65-F5344CB8AC3E}">
        <p14:creationId xmlns:p14="http://schemas.microsoft.com/office/powerpoint/2010/main" val="535487151"/>
      </p:ext>
    </p:extLst>
  </p:cSld>
</p:sld>
</file>

<file path=ppt/slides/slide24.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5454A06-E986-4DE0-B95B-9B188187B846}"/>
              </a:ext>
            </a:extLst>
          </p:cNvPr>
          <p:cNvSpPr>
            <a:spLocks xmlns:a="http://schemas.openxmlformats.org/drawingml/2006/main" noGrp="1"/>
          </p:cNvSpPr>
          <p:nvPr/>
        </p:nvSpPr>
        <p:spPr>
          <a:xfrm xmlns:a="http://schemas.openxmlformats.org/drawingml/2006/main">
            <a:off x="609600" y="333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657B70"/>
                </a:solidFill>
                <a:latin typeface="Arial"/>
                <a:ea typeface="Arial"/>
                <a:cs typeface="Arial"/>
              </a:defRPr>
            </a:defPPr>
            <a:lvl1pPr>
              <a:defRPr sz="1275" b="1">
                <a:solidFill>
                  <a:srgbClr val="657B70"/>
                </a:solidFill>
                <a:latin typeface="Arial"/>
                <a:ea typeface="Arial"/>
                <a:cs typeface="Arial"/>
              </a:defRPr>
            </a:lvl1pPr>
            <a:lvl2pPr>
              <a:defRPr sz="1275" b="1">
                <a:solidFill>
                  <a:srgbClr val="657B70"/>
                </a:solidFill>
                <a:latin typeface="Arial"/>
                <a:ea typeface="Arial"/>
                <a:cs typeface="Arial"/>
              </a:defRPr>
            </a:lvl2pPr>
            <a:lvl3pPr>
              <a:defRPr sz="1275" b="1">
                <a:solidFill>
                  <a:srgbClr val="657B70"/>
                </a:solidFill>
                <a:latin typeface="Arial"/>
                <a:ea typeface="Arial"/>
                <a:cs typeface="Arial"/>
              </a:defRPr>
            </a:lvl3pPr>
            <a:lvl4pPr>
              <a:defRPr sz="1275" b="1">
                <a:solidFill>
                  <a:srgbClr val="657B70"/>
                </a:solidFill>
                <a:latin typeface="Arial"/>
                <a:ea typeface="Arial"/>
                <a:cs typeface="Arial"/>
              </a:defRPr>
            </a:lvl4pPr>
            <a:lvl5pPr>
              <a:defRPr sz="1275" b="1">
                <a:solidFill>
                  <a:srgbClr val="657B70"/>
                </a:solidFill>
                <a:latin typeface="Arial"/>
                <a:ea typeface="Arial"/>
                <a:cs typeface="Arial"/>
              </a:defRPr>
            </a:lvl5pPr>
            <a:lvl6pPr>
              <a:defRPr sz="1275" b="1">
                <a:solidFill>
                  <a:srgbClr val="657B70"/>
                </a:solidFill>
                <a:latin typeface="Arial"/>
                <a:ea typeface="Arial"/>
                <a:cs typeface="Arial"/>
              </a:defRPr>
            </a:lvl6pPr>
            <a:lvl7pPr>
              <a:defRPr sz="1275" b="1">
                <a:solidFill>
                  <a:srgbClr val="657B70"/>
                </a:solidFill>
                <a:latin typeface="Arial"/>
                <a:ea typeface="Arial"/>
                <a:cs typeface="Arial"/>
              </a:defRPr>
            </a:lvl7pPr>
            <a:lvl8pPr>
              <a:defRPr sz="1275" b="1">
                <a:solidFill>
                  <a:srgbClr val="657B70"/>
                </a:solidFill>
                <a:latin typeface="Arial"/>
                <a:ea typeface="Arial"/>
                <a:cs typeface="Arial"/>
              </a:defRPr>
            </a:lvl8pPr>
            <a:lvl9pPr>
              <a:defRPr sz="1275" b="1">
                <a:solidFill>
                  <a:srgbClr val="657B70"/>
                </a:solidFill>
                <a:latin typeface="Arial"/>
                <a:ea typeface="Arial"/>
                <a:cs typeface="Arial"/>
              </a:defRPr>
            </a:lvl9pPr>
          </a:lstStyle>
          <a:p xmlns:a="http://schemas.openxmlformats.org/drawingml/2006/main">
            <a:pPr>
              <a:defRPr sz="1275" b="1">
                <a:solidFill>
                  <a:srgbClr val="657B70"/>
                </a:solidFill>
                <a:latin typeface="Arial"/>
                <a:ea typeface="Arial"/>
                <a:cs typeface="Arial"/>
              </a:defRPr>
            </a:pPr>
            <a:r>
              <a:rPr sz="1275" b="1">
                <a:solidFill>
                  <a:srgbClr val="657B70"/>
                </a:solidFill>
                <a:latin typeface="Arial"/>
                <a:ea typeface="Arial"/>
                <a:cs typeface="Arial"/>
              </a:rPr>
              <a:t>ARCHITECT APPENDIX</a:t>
            </a:r>
          </a:p>
        </p:txBody>
      </p:sp>
      <p:sp>
        <p:nvSpPr>
          <p:cNvPr id="3" name="">
            <a:extLst xmlns:a="http://schemas.openxmlformats.org/drawingml/2006/main">
              <a:ext uri="{FF2B5EF4-FFF2-40B4-BE49-F238E27FC236}">
                <a16:creationId xmlns:a16="http://schemas.microsoft.com/office/drawing/2014/main" id="{6138A595-A765-4CA0-A2D1-C7A40677C786}"/>
              </a:ext>
            </a:extLst>
          </p:cNvPr>
          <p:cNvSpPr>
            <a:spLocks xmlns:a="http://schemas.openxmlformats.org/drawingml/2006/main" noGrp="1"/>
          </p:cNvSpPr>
          <p:nvPr/>
        </p:nvSpPr>
        <p:spPr>
          <a:xfrm xmlns:a="http://schemas.openxmlformats.org/drawingml/2006/main">
            <a:off x="609600" y="78105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183D34"/>
                </a:solidFill>
                <a:latin typeface="Arial"/>
                <a:ea typeface="Arial"/>
                <a:cs typeface="Arial"/>
              </a:defRPr>
            </a:defPPr>
            <a:lvl1pPr>
              <a:defRPr sz="2775" b="1">
                <a:solidFill>
                  <a:srgbClr val="183D34"/>
                </a:solidFill>
                <a:latin typeface="Arial"/>
                <a:ea typeface="Arial"/>
                <a:cs typeface="Arial"/>
              </a:defRPr>
            </a:lvl1pPr>
            <a:lvl2pPr>
              <a:defRPr sz="2775" b="1">
                <a:solidFill>
                  <a:srgbClr val="183D34"/>
                </a:solidFill>
                <a:latin typeface="Arial"/>
                <a:ea typeface="Arial"/>
                <a:cs typeface="Arial"/>
              </a:defRPr>
            </a:lvl2pPr>
            <a:lvl3pPr>
              <a:defRPr sz="2775" b="1">
                <a:solidFill>
                  <a:srgbClr val="183D34"/>
                </a:solidFill>
                <a:latin typeface="Arial"/>
                <a:ea typeface="Arial"/>
                <a:cs typeface="Arial"/>
              </a:defRPr>
            </a:lvl3pPr>
            <a:lvl4pPr>
              <a:defRPr sz="2775" b="1">
                <a:solidFill>
                  <a:srgbClr val="183D34"/>
                </a:solidFill>
                <a:latin typeface="Arial"/>
                <a:ea typeface="Arial"/>
                <a:cs typeface="Arial"/>
              </a:defRPr>
            </a:lvl4pPr>
            <a:lvl5pPr>
              <a:defRPr sz="2775" b="1">
                <a:solidFill>
                  <a:srgbClr val="183D34"/>
                </a:solidFill>
                <a:latin typeface="Arial"/>
                <a:ea typeface="Arial"/>
                <a:cs typeface="Arial"/>
              </a:defRPr>
            </a:lvl5pPr>
            <a:lvl6pPr>
              <a:defRPr sz="2775" b="1">
                <a:solidFill>
                  <a:srgbClr val="183D34"/>
                </a:solidFill>
                <a:latin typeface="Arial"/>
                <a:ea typeface="Arial"/>
                <a:cs typeface="Arial"/>
              </a:defRPr>
            </a:lvl6pPr>
            <a:lvl7pPr>
              <a:defRPr sz="2775" b="1">
                <a:solidFill>
                  <a:srgbClr val="183D34"/>
                </a:solidFill>
                <a:latin typeface="Arial"/>
                <a:ea typeface="Arial"/>
                <a:cs typeface="Arial"/>
              </a:defRPr>
            </a:lvl7pPr>
            <a:lvl8pPr>
              <a:defRPr sz="2775" b="1">
                <a:solidFill>
                  <a:srgbClr val="183D34"/>
                </a:solidFill>
                <a:latin typeface="Arial"/>
                <a:ea typeface="Arial"/>
                <a:cs typeface="Arial"/>
              </a:defRPr>
            </a:lvl8pPr>
            <a:lvl9pPr>
              <a:defRPr sz="2775" b="1">
                <a:solidFill>
                  <a:srgbClr val="183D34"/>
                </a:solidFill>
                <a:latin typeface="Arial"/>
                <a:ea typeface="Arial"/>
                <a:cs typeface="Arial"/>
              </a:defRPr>
            </a:lvl9pPr>
          </a:lstStyle>
          <a:p xmlns:a="http://schemas.openxmlformats.org/drawingml/2006/main">
            <a:pPr>
              <a:defRPr sz="2775" b="1">
                <a:solidFill>
                  <a:srgbClr val="183D34"/>
                </a:solidFill>
                <a:latin typeface="Arial"/>
                <a:ea typeface="Arial"/>
                <a:cs typeface="Arial"/>
              </a:defRPr>
            </a:pPr>
            <a:r>
              <a:rPr sz="2775" b="1">
                <a:solidFill>
                  <a:srgbClr val="183D34"/>
                </a:solidFill>
                <a:latin typeface="Arial"/>
                <a:ea typeface="Arial"/>
                <a:cs typeface="Arial"/>
              </a:rPr>
              <a:t>Security and approval controls</a:t>
            </a:r>
          </a:p>
        </p:txBody>
      </p:sp>
      <p:sp>
        <p:nvSpPr>
          <p:cNvPr id="4" name="">
            <a:extLst xmlns:a="http://schemas.openxmlformats.org/drawingml/2006/main">
              <a:ext uri="{FF2B5EF4-FFF2-40B4-BE49-F238E27FC236}">
                <a16:creationId xmlns:a16="http://schemas.microsoft.com/office/drawing/2014/main" id="{060D253E-B3BE-4964-867B-CA26A5EBCC33}"/>
              </a:ext>
            </a:extLst>
          </p:cNvPr>
          <p:cNvSpPr>
            <a:spLocks xmlns:a="http://schemas.openxmlformats.org/drawingml/2006/main" noGrp="1"/>
          </p:cNvSpPr>
          <p:nvPr/>
        </p:nvSpPr>
        <p:spPr>
          <a:xfrm xmlns:a="http://schemas.openxmlformats.org/drawingml/2006/main">
            <a:off x="609600" y="176212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A6B4D"/>
                </a:solidFill>
                <a:latin typeface="Arial"/>
                <a:ea typeface="Arial"/>
                <a:cs typeface="Arial"/>
              </a:defRPr>
            </a:defPPr>
            <a:lvl1pPr>
              <a:defRPr sz="2025" b="1">
                <a:solidFill>
                  <a:srgbClr val="2A6B4D"/>
                </a:solidFill>
                <a:latin typeface="Arial"/>
                <a:ea typeface="Arial"/>
                <a:cs typeface="Arial"/>
              </a:defRPr>
            </a:lvl1pPr>
            <a:lvl2pPr>
              <a:defRPr sz="2025" b="1">
                <a:solidFill>
                  <a:srgbClr val="2A6B4D"/>
                </a:solidFill>
                <a:latin typeface="Arial"/>
                <a:ea typeface="Arial"/>
                <a:cs typeface="Arial"/>
              </a:defRPr>
            </a:lvl2pPr>
            <a:lvl3pPr>
              <a:defRPr sz="2025" b="1">
                <a:solidFill>
                  <a:srgbClr val="2A6B4D"/>
                </a:solidFill>
                <a:latin typeface="Arial"/>
                <a:ea typeface="Arial"/>
                <a:cs typeface="Arial"/>
              </a:defRPr>
            </a:lvl3pPr>
            <a:lvl4pPr>
              <a:defRPr sz="2025" b="1">
                <a:solidFill>
                  <a:srgbClr val="2A6B4D"/>
                </a:solidFill>
                <a:latin typeface="Arial"/>
                <a:ea typeface="Arial"/>
                <a:cs typeface="Arial"/>
              </a:defRPr>
            </a:lvl4pPr>
            <a:lvl5pPr>
              <a:defRPr sz="2025" b="1">
                <a:solidFill>
                  <a:srgbClr val="2A6B4D"/>
                </a:solidFill>
                <a:latin typeface="Arial"/>
                <a:ea typeface="Arial"/>
                <a:cs typeface="Arial"/>
              </a:defRPr>
            </a:lvl5pPr>
            <a:lvl6pPr>
              <a:defRPr sz="2025" b="1">
                <a:solidFill>
                  <a:srgbClr val="2A6B4D"/>
                </a:solidFill>
                <a:latin typeface="Arial"/>
                <a:ea typeface="Arial"/>
                <a:cs typeface="Arial"/>
              </a:defRPr>
            </a:lvl6pPr>
            <a:lvl7pPr>
              <a:defRPr sz="2025" b="1">
                <a:solidFill>
                  <a:srgbClr val="2A6B4D"/>
                </a:solidFill>
                <a:latin typeface="Arial"/>
                <a:ea typeface="Arial"/>
                <a:cs typeface="Arial"/>
              </a:defRPr>
            </a:lvl7pPr>
            <a:lvl8pPr>
              <a:defRPr sz="2025" b="1">
                <a:solidFill>
                  <a:srgbClr val="2A6B4D"/>
                </a:solidFill>
                <a:latin typeface="Arial"/>
                <a:ea typeface="Arial"/>
                <a:cs typeface="Arial"/>
              </a:defRPr>
            </a:lvl8pPr>
            <a:lvl9pPr>
              <a:defRPr sz="2025" b="1">
                <a:solidFill>
                  <a:srgbClr val="2A6B4D"/>
                </a:solidFill>
                <a:latin typeface="Arial"/>
                <a:ea typeface="Arial"/>
                <a:cs typeface="Arial"/>
              </a:defRPr>
            </a:lvl9pPr>
          </a:lstStyle>
          <a:p xmlns:a="http://schemas.openxmlformats.org/drawingml/2006/main">
            <a:pPr>
              <a:defRPr sz="2025" b="1">
                <a:solidFill>
                  <a:srgbClr val="2A6B4D"/>
                </a:solidFill>
                <a:latin typeface="Arial"/>
                <a:ea typeface="Arial"/>
                <a:cs typeface="Arial"/>
              </a:defRPr>
            </a:pPr>
            <a:r>
              <a:rPr sz="2025" b="1">
                <a:solidFill>
                  <a:srgbClr val="2A6B4D"/>
                </a:solidFill>
                <a:latin typeface="Arial"/>
                <a:ea typeface="Arial"/>
                <a:cs typeface="Arial"/>
              </a:rPr>
              <a:t>Is maker/checker enforcement complete?</a:t>
            </a:r>
          </a:p>
        </p:txBody>
      </p:sp>
      <p:sp>
        <p:nvSpPr>
          <p:cNvPr id="5" name="">
            <a:extLst xmlns:a="http://schemas.openxmlformats.org/drawingml/2006/main">
              <a:ext uri="{FF2B5EF4-FFF2-40B4-BE49-F238E27FC236}">
                <a16:creationId xmlns:a16="http://schemas.microsoft.com/office/drawing/2014/main" id="{F57EC280-E830-4CC5-9899-3834D6C49B0C}"/>
              </a:ext>
            </a:extLst>
          </p:cNvPr>
          <p:cNvSpPr>
            <a:spLocks xmlns:a="http://schemas.openxmlformats.org/drawingml/2006/main" noGrp="1"/>
          </p:cNvSpPr>
          <p:nvPr/>
        </p:nvSpPr>
        <p:spPr>
          <a:xfrm xmlns:a="http://schemas.openxmlformats.org/drawingml/2006/main">
            <a:off x="609600" y="22669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4"/>
                </a:solidFill>
                <a:latin typeface="Arial"/>
                <a:ea typeface="Arial"/>
                <a:cs typeface="Arial"/>
              </a:defRPr>
            </a:defPPr>
            <a:lvl1pPr>
              <a:defRPr sz="1875" b="0">
                <a:solidFill>
                  <a:srgbClr val="183D34"/>
                </a:solidFill>
                <a:latin typeface="Arial"/>
                <a:ea typeface="Arial"/>
                <a:cs typeface="Arial"/>
              </a:defRPr>
            </a:lvl1pPr>
            <a:lvl2pPr>
              <a:defRPr sz="1875" b="0">
                <a:solidFill>
                  <a:srgbClr val="183D34"/>
                </a:solidFill>
                <a:latin typeface="Arial"/>
                <a:ea typeface="Arial"/>
                <a:cs typeface="Arial"/>
              </a:defRPr>
            </a:lvl2pPr>
            <a:lvl3pPr>
              <a:defRPr sz="1875" b="0">
                <a:solidFill>
                  <a:srgbClr val="183D34"/>
                </a:solidFill>
                <a:latin typeface="Arial"/>
                <a:ea typeface="Arial"/>
                <a:cs typeface="Arial"/>
              </a:defRPr>
            </a:lvl3pPr>
            <a:lvl4pPr>
              <a:defRPr sz="1875" b="0">
                <a:solidFill>
                  <a:srgbClr val="183D34"/>
                </a:solidFill>
                <a:latin typeface="Arial"/>
                <a:ea typeface="Arial"/>
                <a:cs typeface="Arial"/>
              </a:defRPr>
            </a:lvl4pPr>
            <a:lvl5pPr>
              <a:defRPr sz="1875" b="0">
                <a:solidFill>
                  <a:srgbClr val="183D34"/>
                </a:solidFill>
                <a:latin typeface="Arial"/>
                <a:ea typeface="Arial"/>
                <a:cs typeface="Arial"/>
              </a:defRPr>
            </a:lvl5pPr>
            <a:lvl6pPr>
              <a:defRPr sz="1875" b="0">
                <a:solidFill>
                  <a:srgbClr val="183D34"/>
                </a:solidFill>
                <a:latin typeface="Arial"/>
                <a:ea typeface="Arial"/>
                <a:cs typeface="Arial"/>
              </a:defRPr>
            </a:lvl6pPr>
            <a:lvl7pPr>
              <a:defRPr sz="1875" b="0">
                <a:solidFill>
                  <a:srgbClr val="183D34"/>
                </a:solidFill>
                <a:latin typeface="Arial"/>
                <a:ea typeface="Arial"/>
                <a:cs typeface="Arial"/>
              </a:defRPr>
            </a:lvl7pPr>
            <a:lvl8pPr>
              <a:defRPr sz="1875" b="0">
                <a:solidFill>
                  <a:srgbClr val="183D34"/>
                </a:solidFill>
                <a:latin typeface="Arial"/>
                <a:ea typeface="Arial"/>
                <a:cs typeface="Arial"/>
              </a:defRPr>
            </a:lvl8pPr>
            <a:lvl9pPr>
              <a:defRPr sz="1875" b="0">
                <a:solidFill>
                  <a:srgbClr val="183D34"/>
                </a:solidFill>
                <a:latin typeface="Arial"/>
                <a:ea typeface="Arial"/>
                <a:cs typeface="Arial"/>
              </a:defRPr>
            </a:lvl9pPr>
          </a:lstStyle>
          <a:p xmlns:a="http://schemas.openxmlformats.org/drawingml/2006/main">
            <a:pPr>
              <a:defRPr sz="1875" b="0">
                <a:solidFill>
                  <a:srgbClr val="183D34"/>
                </a:solidFill>
                <a:latin typeface="Arial"/>
                <a:ea typeface="Arial"/>
                <a:cs typeface="Arial"/>
              </a:defRPr>
            </a:pPr>
            <a:r>
              <a:rPr sz="1875" b="0">
                <a:solidFill>
                  <a:srgbClr val="183D34"/>
                </a:solidFill>
                <a:latin typeface="Arial"/>
                <a:ea typeface="Arial"/>
                <a:cs typeface="Arial"/>
              </a:rPr>
              <a:t>The demo enforces distinct simulated roles. Production needs authenticated identity, trusted role assignment and server-side authorization.</a:t>
            </a:r>
          </a:p>
        </p:txBody>
      </p:sp>
      <p:sp>
        <p:nvSpPr>
          <p:cNvPr id="6" name="">
            <a:extLst xmlns:a="http://schemas.openxmlformats.org/drawingml/2006/main">
              <a:ext uri="{FF2B5EF4-FFF2-40B4-BE49-F238E27FC236}">
                <a16:creationId xmlns:a16="http://schemas.microsoft.com/office/drawing/2014/main" id="{8172C5AD-8620-4871-BE09-AC36D1BF09DB}"/>
              </a:ext>
            </a:extLst>
          </p:cNvPr>
          <p:cNvSpPr>
            <a:spLocks xmlns:a="http://schemas.openxmlformats.org/drawingml/2006/main" noGrp="1"/>
          </p:cNvSpPr>
          <p:nvPr/>
        </p:nvSpPr>
        <p:spPr>
          <a:xfrm xmlns:a="http://schemas.openxmlformats.org/drawingml/2006/main">
            <a:off x="609600" y="319087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A6B4D"/>
                </a:solidFill>
                <a:latin typeface="Arial"/>
                <a:ea typeface="Arial"/>
                <a:cs typeface="Arial"/>
              </a:defRPr>
            </a:defPPr>
            <a:lvl1pPr>
              <a:defRPr sz="2025" b="1">
                <a:solidFill>
                  <a:srgbClr val="2A6B4D"/>
                </a:solidFill>
                <a:latin typeface="Arial"/>
                <a:ea typeface="Arial"/>
                <a:cs typeface="Arial"/>
              </a:defRPr>
            </a:lvl1pPr>
            <a:lvl2pPr>
              <a:defRPr sz="2025" b="1">
                <a:solidFill>
                  <a:srgbClr val="2A6B4D"/>
                </a:solidFill>
                <a:latin typeface="Arial"/>
                <a:ea typeface="Arial"/>
                <a:cs typeface="Arial"/>
              </a:defRPr>
            </a:lvl2pPr>
            <a:lvl3pPr>
              <a:defRPr sz="2025" b="1">
                <a:solidFill>
                  <a:srgbClr val="2A6B4D"/>
                </a:solidFill>
                <a:latin typeface="Arial"/>
                <a:ea typeface="Arial"/>
                <a:cs typeface="Arial"/>
              </a:defRPr>
            </a:lvl3pPr>
            <a:lvl4pPr>
              <a:defRPr sz="2025" b="1">
                <a:solidFill>
                  <a:srgbClr val="2A6B4D"/>
                </a:solidFill>
                <a:latin typeface="Arial"/>
                <a:ea typeface="Arial"/>
                <a:cs typeface="Arial"/>
              </a:defRPr>
            </a:lvl4pPr>
            <a:lvl5pPr>
              <a:defRPr sz="2025" b="1">
                <a:solidFill>
                  <a:srgbClr val="2A6B4D"/>
                </a:solidFill>
                <a:latin typeface="Arial"/>
                <a:ea typeface="Arial"/>
                <a:cs typeface="Arial"/>
              </a:defRPr>
            </a:lvl5pPr>
            <a:lvl6pPr>
              <a:defRPr sz="2025" b="1">
                <a:solidFill>
                  <a:srgbClr val="2A6B4D"/>
                </a:solidFill>
                <a:latin typeface="Arial"/>
                <a:ea typeface="Arial"/>
                <a:cs typeface="Arial"/>
              </a:defRPr>
            </a:lvl6pPr>
            <a:lvl7pPr>
              <a:defRPr sz="2025" b="1">
                <a:solidFill>
                  <a:srgbClr val="2A6B4D"/>
                </a:solidFill>
                <a:latin typeface="Arial"/>
                <a:ea typeface="Arial"/>
                <a:cs typeface="Arial"/>
              </a:defRPr>
            </a:lvl7pPr>
            <a:lvl8pPr>
              <a:defRPr sz="2025" b="1">
                <a:solidFill>
                  <a:srgbClr val="2A6B4D"/>
                </a:solidFill>
                <a:latin typeface="Arial"/>
                <a:ea typeface="Arial"/>
                <a:cs typeface="Arial"/>
              </a:defRPr>
            </a:lvl8pPr>
            <a:lvl9pPr>
              <a:defRPr sz="2025" b="1">
                <a:solidFill>
                  <a:srgbClr val="2A6B4D"/>
                </a:solidFill>
                <a:latin typeface="Arial"/>
                <a:ea typeface="Arial"/>
                <a:cs typeface="Arial"/>
              </a:defRPr>
            </a:lvl9pPr>
          </a:lstStyle>
          <a:p xmlns:a="http://schemas.openxmlformats.org/drawingml/2006/main">
            <a:pPr>
              <a:defRPr sz="2025" b="1">
                <a:solidFill>
                  <a:srgbClr val="2A6B4D"/>
                </a:solidFill>
                <a:latin typeface="Arial"/>
                <a:ea typeface="Arial"/>
                <a:cs typeface="Arial"/>
              </a:defRPr>
            </a:pPr>
            <a:r>
              <a:rPr sz="2025" b="1">
                <a:solidFill>
                  <a:srgbClr val="2A6B4D"/>
                </a:solidFill>
                <a:latin typeface="Arial"/>
                <a:ea typeface="Arial"/>
                <a:cs typeface="Arial"/>
              </a:rPr>
              <a:t>Does the evidence hash prevent tampering?</a:t>
            </a:r>
          </a:p>
        </p:txBody>
      </p:sp>
      <p:sp>
        <p:nvSpPr>
          <p:cNvPr id="7" name="">
            <a:extLst xmlns:a="http://schemas.openxmlformats.org/drawingml/2006/main">
              <a:ext uri="{FF2B5EF4-FFF2-40B4-BE49-F238E27FC236}">
                <a16:creationId xmlns:a16="http://schemas.microsoft.com/office/drawing/2014/main" id="{B11084CC-0C09-4F90-93B6-D3F60D3FFCEE}"/>
              </a:ext>
            </a:extLst>
          </p:cNvPr>
          <p:cNvSpPr>
            <a:spLocks xmlns:a="http://schemas.openxmlformats.org/drawingml/2006/main" noGrp="1"/>
          </p:cNvSpPr>
          <p:nvPr/>
        </p:nvSpPr>
        <p:spPr>
          <a:xfrm xmlns:a="http://schemas.openxmlformats.org/drawingml/2006/main">
            <a:off x="609600" y="369570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4"/>
                </a:solidFill>
                <a:latin typeface="Arial"/>
                <a:ea typeface="Arial"/>
                <a:cs typeface="Arial"/>
              </a:defRPr>
            </a:defPPr>
            <a:lvl1pPr>
              <a:defRPr sz="1875" b="0">
                <a:solidFill>
                  <a:srgbClr val="183D34"/>
                </a:solidFill>
                <a:latin typeface="Arial"/>
                <a:ea typeface="Arial"/>
                <a:cs typeface="Arial"/>
              </a:defRPr>
            </a:lvl1pPr>
            <a:lvl2pPr>
              <a:defRPr sz="1875" b="0">
                <a:solidFill>
                  <a:srgbClr val="183D34"/>
                </a:solidFill>
                <a:latin typeface="Arial"/>
                <a:ea typeface="Arial"/>
                <a:cs typeface="Arial"/>
              </a:defRPr>
            </a:lvl2pPr>
            <a:lvl3pPr>
              <a:defRPr sz="1875" b="0">
                <a:solidFill>
                  <a:srgbClr val="183D34"/>
                </a:solidFill>
                <a:latin typeface="Arial"/>
                <a:ea typeface="Arial"/>
                <a:cs typeface="Arial"/>
              </a:defRPr>
            </a:lvl3pPr>
            <a:lvl4pPr>
              <a:defRPr sz="1875" b="0">
                <a:solidFill>
                  <a:srgbClr val="183D34"/>
                </a:solidFill>
                <a:latin typeface="Arial"/>
                <a:ea typeface="Arial"/>
                <a:cs typeface="Arial"/>
              </a:defRPr>
            </a:lvl4pPr>
            <a:lvl5pPr>
              <a:defRPr sz="1875" b="0">
                <a:solidFill>
                  <a:srgbClr val="183D34"/>
                </a:solidFill>
                <a:latin typeface="Arial"/>
                <a:ea typeface="Arial"/>
                <a:cs typeface="Arial"/>
              </a:defRPr>
            </a:lvl5pPr>
            <a:lvl6pPr>
              <a:defRPr sz="1875" b="0">
                <a:solidFill>
                  <a:srgbClr val="183D34"/>
                </a:solidFill>
                <a:latin typeface="Arial"/>
                <a:ea typeface="Arial"/>
                <a:cs typeface="Arial"/>
              </a:defRPr>
            </a:lvl6pPr>
            <a:lvl7pPr>
              <a:defRPr sz="1875" b="0">
                <a:solidFill>
                  <a:srgbClr val="183D34"/>
                </a:solidFill>
                <a:latin typeface="Arial"/>
                <a:ea typeface="Arial"/>
                <a:cs typeface="Arial"/>
              </a:defRPr>
            </a:lvl7pPr>
            <a:lvl8pPr>
              <a:defRPr sz="1875" b="0">
                <a:solidFill>
                  <a:srgbClr val="183D34"/>
                </a:solidFill>
                <a:latin typeface="Arial"/>
                <a:ea typeface="Arial"/>
                <a:cs typeface="Arial"/>
              </a:defRPr>
            </a:lvl8pPr>
            <a:lvl9pPr>
              <a:defRPr sz="1875" b="0">
                <a:solidFill>
                  <a:srgbClr val="183D34"/>
                </a:solidFill>
                <a:latin typeface="Arial"/>
                <a:ea typeface="Arial"/>
                <a:cs typeface="Arial"/>
              </a:defRPr>
            </a:lvl9pPr>
          </a:lstStyle>
          <a:p xmlns:a="http://schemas.openxmlformats.org/drawingml/2006/main">
            <a:pPr>
              <a:defRPr sz="1875" b="0">
                <a:solidFill>
                  <a:srgbClr val="183D34"/>
                </a:solidFill>
                <a:latin typeface="Arial"/>
                <a:ea typeface="Arial"/>
                <a:cs typeface="Arial"/>
              </a:defRPr>
            </a:pPr>
            <a:r>
              <a:rPr sz="1875" b="0">
                <a:solidFill>
                  <a:srgbClr val="183D34"/>
                </a:solidFill>
                <a:latin typeface="Arial"/>
                <a:ea typeface="Arial"/>
                <a:cs typeface="Arial"/>
              </a:rPr>
              <a:t>No. It binds approval to the evidence used. Audit integrity needs protected storage, retention and an agreed integrity mechanism.</a:t>
            </a:r>
          </a:p>
        </p:txBody>
      </p:sp>
      <p:sp>
        <p:nvSpPr>
          <p:cNvPr id="8" name="">
            <a:extLst xmlns:a="http://schemas.openxmlformats.org/drawingml/2006/main">
              <a:ext uri="{FF2B5EF4-FFF2-40B4-BE49-F238E27FC236}">
                <a16:creationId xmlns:a16="http://schemas.microsoft.com/office/drawing/2014/main" id="{8946B574-BE2C-4439-B0D9-F9CBBFA9C295}"/>
              </a:ext>
            </a:extLst>
          </p:cNvPr>
          <p:cNvSpPr>
            <a:spLocks xmlns:a="http://schemas.openxmlformats.org/drawingml/2006/main" noGrp="1"/>
          </p:cNvSpPr>
          <p:nvPr/>
        </p:nvSpPr>
        <p:spPr>
          <a:xfrm xmlns:a="http://schemas.openxmlformats.org/drawingml/2006/main">
            <a:off x="609600" y="461962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A6B4D"/>
                </a:solidFill>
                <a:latin typeface="Arial"/>
                <a:ea typeface="Arial"/>
                <a:cs typeface="Arial"/>
              </a:defRPr>
            </a:defPPr>
            <a:lvl1pPr>
              <a:defRPr sz="2025" b="1">
                <a:solidFill>
                  <a:srgbClr val="2A6B4D"/>
                </a:solidFill>
                <a:latin typeface="Arial"/>
                <a:ea typeface="Arial"/>
                <a:cs typeface="Arial"/>
              </a:defRPr>
            </a:lvl1pPr>
            <a:lvl2pPr>
              <a:defRPr sz="2025" b="1">
                <a:solidFill>
                  <a:srgbClr val="2A6B4D"/>
                </a:solidFill>
                <a:latin typeface="Arial"/>
                <a:ea typeface="Arial"/>
                <a:cs typeface="Arial"/>
              </a:defRPr>
            </a:lvl2pPr>
            <a:lvl3pPr>
              <a:defRPr sz="2025" b="1">
                <a:solidFill>
                  <a:srgbClr val="2A6B4D"/>
                </a:solidFill>
                <a:latin typeface="Arial"/>
                <a:ea typeface="Arial"/>
                <a:cs typeface="Arial"/>
              </a:defRPr>
            </a:lvl3pPr>
            <a:lvl4pPr>
              <a:defRPr sz="2025" b="1">
                <a:solidFill>
                  <a:srgbClr val="2A6B4D"/>
                </a:solidFill>
                <a:latin typeface="Arial"/>
                <a:ea typeface="Arial"/>
                <a:cs typeface="Arial"/>
              </a:defRPr>
            </a:lvl4pPr>
            <a:lvl5pPr>
              <a:defRPr sz="2025" b="1">
                <a:solidFill>
                  <a:srgbClr val="2A6B4D"/>
                </a:solidFill>
                <a:latin typeface="Arial"/>
                <a:ea typeface="Arial"/>
                <a:cs typeface="Arial"/>
              </a:defRPr>
            </a:lvl5pPr>
            <a:lvl6pPr>
              <a:defRPr sz="2025" b="1">
                <a:solidFill>
                  <a:srgbClr val="2A6B4D"/>
                </a:solidFill>
                <a:latin typeface="Arial"/>
                <a:ea typeface="Arial"/>
                <a:cs typeface="Arial"/>
              </a:defRPr>
            </a:lvl6pPr>
            <a:lvl7pPr>
              <a:defRPr sz="2025" b="1">
                <a:solidFill>
                  <a:srgbClr val="2A6B4D"/>
                </a:solidFill>
                <a:latin typeface="Arial"/>
                <a:ea typeface="Arial"/>
                <a:cs typeface="Arial"/>
              </a:defRPr>
            </a:lvl7pPr>
            <a:lvl8pPr>
              <a:defRPr sz="2025" b="1">
                <a:solidFill>
                  <a:srgbClr val="2A6B4D"/>
                </a:solidFill>
                <a:latin typeface="Arial"/>
                <a:ea typeface="Arial"/>
                <a:cs typeface="Arial"/>
              </a:defRPr>
            </a:lvl8pPr>
            <a:lvl9pPr>
              <a:defRPr sz="2025" b="1">
                <a:solidFill>
                  <a:srgbClr val="2A6B4D"/>
                </a:solidFill>
                <a:latin typeface="Arial"/>
                <a:ea typeface="Arial"/>
                <a:cs typeface="Arial"/>
              </a:defRPr>
            </a:lvl9pPr>
          </a:lstStyle>
          <a:p xmlns:a="http://schemas.openxmlformats.org/drawingml/2006/main">
            <a:pPr>
              <a:defRPr sz="2025" b="1">
                <a:solidFill>
                  <a:srgbClr val="2A6B4D"/>
                </a:solidFill>
                <a:latin typeface="Arial"/>
                <a:ea typeface="Arial"/>
                <a:cs typeface="Arial"/>
              </a:defRPr>
            </a:pPr>
            <a:r>
              <a:rPr sz="2025" b="1">
                <a:solidFill>
                  <a:srgbClr val="2A6B4D"/>
                </a:solidFill>
                <a:latin typeface="Arial"/>
                <a:ea typeface="Arial"/>
                <a:cs typeface="Arial"/>
              </a:rPr>
              <a:t>Are we PCI compliant?</a:t>
            </a:r>
          </a:p>
        </p:txBody>
      </p:sp>
      <p:sp>
        <p:nvSpPr>
          <p:cNvPr id="9" name="">
            <a:extLst xmlns:a="http://schemas.openxmlformats.org/drawingml/2006/main">
              <a:ext uri="{FF2B5EF4-FFF2-40B4-BE49-F238E27FC236}">
                <a16:creationId xmlns:a16="http://schemas.microsoft.com/office/drawing/2014/main" id="{FFAC07DF-7B39-4CC4-8F99-25D8E1193A07}"/>
              </a:ext>
            </a:extLst>
          </p:cNvPr>
          <p:cNvSpPr>
            <a:spLocks xmlns:a="http://schemas.openxmlformats.org/drawingml/2006/main" noGrp="1"/>
          </p:cNvSpPr>
          <p:nvPr/>
        </p:nvSpPr>
        <p:spPr>
          <a:xfrm xmlns:a="http://schemas.openxmlformats.org/drawingml/2006/main">
            <a:off x="609600" y="51244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4"/>
                </a:solidFill>
                <a:latin typeface="Arial"/>
                <a:ea typeface="Arial"/>
                <a:cs typeface="Arial"/>
              </a:defRPr>
            </a:defPPr>
            <a:lvl1pPr>
              <a:defRPr sz="1875" b="0">
                <a:solidFill>
                  <a:srgbClr val="183D34"/>
                </a:solidFill>
                <a:latin typeface="Arial"/>
                <a:ea typeface="Arial"/>
                <a:cs typeface="Arial"/>
              </a:defRPr>
            </a:lvl1pPr>
            <a:lvl2pPr>
              <a:defRPr sz="1875" b="0">
                <a:solidFill>
                  <a:srgbClr val="183D34"/>
                </a:solidFill>
                <a:latin typeface="Arial"/>
                <a:ea typeface="Arial"/>
                <a:cs typeface="Arial"/>
              </a:defRPr>
            </a:lvl2pPr>
            <a:lvl3pPr>
              <a:defRPr sz="1875" b="0">
                <a:solidFill>
                  <a:srgbClr val="183D34"/>
                </a:solidFill>
                <a:latin typeface="Arial"/>
                <a:ea typeface="Arial"/>
                <a:cs typeface="Arial"/>
              </a:defRPr>
            </a:lvl3pPr>
            <a:lvl4pPr>
              <a:defRPr sz="1875" b="0">
                <a:solidFill>
                  <a:srgbClr val="183D34"/>
                </a:solidFill>
                <a:latin typeface="Arial"/>
                <a:ea typeface="Arial"/>
                <a:cs typeface="Arial"/>
              </a:defRPr>
            </a:lvl4pPr>
            <a:lvl5pPr>
              <a:defRPr sz="1875" b="0">
                <a:solidFill>
                  <a:srgbClr val="183D34"/>
                </a:solidFill>
                <a:latin typeface="Arial"/>
                <a:ea typeface="Arial"/>
                <a:cs typeface="Arial"/>
              </a:defRPr>
            </a:lvl5pPr>
            <a:lvl6pPr>
              <a:defRPr sz="1875" b="0">
                <a:solidFill>
                  <a:srgbClr val="183D34"/>
                </a:solidFill>
                <a:latin typeface="Arial"/>
                <a:ea typeface="Arial"/>
                <a:cs typeface="Arial"/>
              </a:defRPr>
            </a:lvl6pPr>
            <a:lvl7pPr>
              <a:defRPr sz="1875" b="0">
                <a:solidFill>
                  <a:srgbClr val="183D34"/>
                </a:solidFill>
                <a:latin typeface="Arial"/>
                <a:ea typeface="Arial"/>
                <a:cs typeface="Arial"/>
              </a:defRPr>
            </a:lvl7pPr>
            <a:lvl8pPr>
              <a:defRPr sz="1875" b="0">
                <a:solidFill>
                  <a:srgbClr val="183D34"/>
                </a:solidFill>
                <a:latin typeface="Arial"/>
                <a:ea typeface="Arial"/>
                <a:cs typeface="Arial"/>
              </a:defRPr>
            </a:lvl8pPr>
            <a:lvl9pPr>
              <a:defRPr sz="1875" b="0">
                <a:solidFill>
                  <a:srgbClr val="183D34"/>
                </a:solidFill>
                <a:latin typeface="Arial"/>
                <a:ea typeface="Arial"/>
                <a:cs typeface="Arial"/>
              </a:defRPr>
            </a:lvl9pPr>
          </a:lstStyle>
          <a:p xmlns:a="http://schemas.openxmlformats.org/drawingml/2006/main">
            <a:pPr>
              <a:defRPr sz="1875" b="0">
                <a:solidFill>
                  <a:srgbClr val="183D34"/>
                </a:solidFill>
                <a:latin typeface="Arial"/>
                <a:ea typeface="Arial"/>
                <a:cs typeface="Arial"/>
              </a:defRPr>
            </a:pPr>
            <a:r>
              <a:rPr sz="1875" b="0">
                <a:solidFill>
                  <a:srgbClr val="183D34"/>
                </a:solidFill>
                <a:latin typeface="Arial"/>
                <a:ea typeface="Arial"/>
                <a:cs typeface="Arial"/>
              </a:rPr>
              <a:t>We make no certification claim. The demo uses synthetic tokens. Real-card integration needs a separate scope and security assessment.</a:t>
            </a:r>
          </a:p>
        </p:txBody>
      </p:sp>
      <p:sp>
        <p:nvSpPr>
          <p:cNvPr id="10" name="">
            <a:extLst xmlns:a="http://schemas.openxmlformats.org/drawingml/2006/main">
              <a:ext uri="{FF2B5EF4-FFF2-40B4-BE49-F238E27FC236}">
                <a16:creationId xmlns:a16="http://schemas.microsoft.com/office/drawing/2014/main" id="{4C46BCA6-202C-4B9A-A12C-54726D5B639D}"/>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B70"/>
                </a:solidFill>
                <a:latin typeface="Arial"/>
                <a:ea typeface="Arial"/>
                <a:cs typeface="Arial"/>
              </a:defRPr>
            </a:defPPr>
            <a:lvl1pPr>
              <a:defRPr sz="1200" b="0">
                <a:solidFill>
                  <a:srgbClr val="657B70"/>
                </a:solidFill>
                <a:latin typeface="Arial"/>
                <a:ea typeface="Arial"/>
                <a:cs typeface="Arial"/>
              </a:defRPr>
            </a:lvl1pPr>
            <a:lvl2pPr>
              <a:defRPr sz="1200" b="0">
                <a:solidFill>
                  <a:srgbClr val="657B70"/>
                </a:solidFill>
                <a:latin typeface="Arial"/>
                <a:ea typeface="Arial"/>
                <a:cs typeface="Arial"/>
              </a:defRPr>
            </a:lvl2pPr>
            <a:lvl3pPr>
              <a:defRPr sz="1200" b="0">
                <a:solidFill>
                  <a:srgbClr val="657B70"/>
                </a:solidFill>
                <a:latin typeface="Arial"/>
                <a:ea typeface="Arial"/>
                <a:cs typeface="Arial"/>
              </a:defRPr>
            </a:lvl3pPr>
            <a:lvl4pPr>
              <a:defRPr sz="1200" b="0">
                <a:solidFill>
                  <a:srgbClr val="657B70"/>
                </a:solidFill>
                <a:latin typeface="Arial"/>
                <a:ea typeface="Arial"/>
                <a:cs typeface="Arial"/>
              </a:defRPr>
            </a:lvl4pPr>
            <a:lvl5pPr>
              <a:defRPr sz="1200" b="0">
                <a:solidFill>
                  <a:srgbClr val="657B70"/>
                </a:solidFill>
                <a:latin typeface="Arial"/>
                <a:ea typeface="Arial"/>
                <a:cs typeface="Arial"/>
              </a:defRPr>
            </a:lvl5pPr>
            <a:lvl6pPr>
              <a:defRPr sz="1200" b="0">
                <a:solidFill>
                  <a:srgbClr val="657B70"/>
                </a:solidFill>
                <a:latin typeface="Arial"/>
                <a:ea typeface="Arial"/>
                <a:cs typeface="Arial"/>
              </a:defRPr>
            </a:lvl6pPr>
            <a:lvl7pPr>
              <a:defRPr sz="1200" b="0">
                <a:solidFill>
                  <a:srgbClr val="657B70"/>
                </a:solidFill>
                <a:latin typeface="Arial"/>
                <a:ea typeface="Arial"/>
                <a:cs typeface="Arial"/>
              </a:defRPr>
            </a:lvl7pPr>
            <a:lvl8pPr>
              <a:defRPr sz="1200" b="0">
                <a:solidFill>
                  <a:srgbClr val="657B70"/>
                </a:solidFill>
                <a:latin typeface="Arial"/>
                <a:ea typeface="Arial"/>
                <a:cs typeface="Arial"/>
              </a:defRPr>
            </a:lvl8pPr>
            <a:lvl9pPr>
              <a:defRPr sz="1200" b="0">
                <a:solidFill>
                  <a:srgbClr val="657B70"/>
                </a:solidFill>
                <a:latin typeface="Arial"/>
                <a:ea typeface="Arial"/>
                <a:cs typeface="Arial"/>
              </a:defRPr>
            </a:lvl9pPr>
          </a:lstStyle>
          <a:p xmlns:a="http://schemas.openxmlformats.org/drawingml/2006/main">
            <a:pPr>
              <a:defRPr sz="1200" b="0">
                <a:solidFill>
                  <a:srgbClr val="657B70"/>
                </a:solidFill>
                <a:latin typeface="Arial"/>
                <a:ea typeface="Arial"/>
                <a:cs typeface="Arial"/>
              </a:defRPr>
            </a:pPr>
            <a:r>
              <a:rPr sz="1200" b="0">
                <a:solidFill>
                  <a:srgbClr val="657B70"/>
                </a:solidFill>
                <a:latin typeface="Arial"/>
                <a:ea typeface="Arial"/>
                <a:cs typeface="Arial"/>
              </a:rPr>
              <a:t>24</a:t>
            </a:r>
          </a:p>
        </p:txBody>
      </p:sp>
    </p:spTree>
    <p:extLst>
      <p:ext uri="{BB962C8B-B14F-4D97-AF65-F5344CB8AC3E}">
        <p14:creationId xmlns:p14="http://schemas.microsoft.com/office/powerpoint/2010/main" val="99825755"/>
      </p:ext>
    </p:extLst>
  </p:cSld>
</p:sld>
</file>

<file path=ppt/slides/slide25.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580C25C-C268-485D-8978-FCB9656F9745}"/>
              </a:ext>
            </a:extLst>
          </p:cNvPr>
          <p:cNvSpPr>
            <a:spLocks xmlns:a="http://schemas.openxmlformats.org/drawingml/2006/main" noGrp="1"/>
          </p:cNvSpPr>
          <p:nvPr/>
        </p:nvSpPr>
        <p:spPr>
          <a:xfrm xmlns:a="http://schemas.openxmlformats.org/drawingml/2006/main">
            <a:off x="609600" y="333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657B70"/>
                </a:solidFill>
                <a:latin typeface="Arial"/>
                <a:ea typeface="Arial"/>
                <a:cs typeface="Arial"/>
              </a:defRPr>
            </a:defPPr>
            <a:lvl1pPr>
              <a:defRPr sz="1275" b="1">
                <a:solidFill>
                  <a:srgbClr val="657B70"/>
                </a:solidFill>
                <a:latin typeface="Arial"/>
                <a:ea typeface="Arial"/>
                <a:cs typeface="Arial"/>
              </a:defRPr>
            </a:lvl1pPr>
            <a:lvl2pPr>
              <a:defRPr sz="1275" b="1">
                <a:solidFill>
                  <a:srgbClr val="657B70"/>
                </a:solidFill>
                <a:latin typeface="Arial"/>
                <a:ea typeface="Arial"/>
                <a:cs typeface="Arial"/>
              </a:defRPr>
            </a:lvl2pPr>
            <a:lvl3pPr>
              <a:defRPr sz="1275" b="1">
                <a:solidFill>
                  <a:srgbClr val="657B70"/>
                </a:solidFill>
                <a:latin typeface="Arial"/>
                <a:ea typeface="Arial"/>
                <a:cs typeface="Arial"/>
              </a:defRPr>
            </a:lvl3pPr>
            <a:lvl4pPr>
              <a:defRPr sz="1275" b="1">
                <a:solidFill>
                  <a:srgbClr val="657B70"/>
                </a:solidFill>
                <a:latin typeface="Arial"/>
                <a:ea typeface="Arial"/>
                <a:cs typeface="Arial"/>
              </a:defRPr>
            </a:lvl4pPr>
            <a:lvl5pPr>
              <a:defRPr sz="1275" b="1">
                <a:solidFill>
                  <a:srgbClr val="657B70"/>
                </a:solidFill>
                <a:latin typeface="Arial"/>
                <a:ea typeface="Arial"/>
                <a:cs typeface="Arial"/>
              </a:defRPr>
            </a:lvl5pPr>
            <a:lvl6pPr>
              <a:defRPr sz="1275" b="1">
                <a:solidFill>
                  <a:srgbClr val="657B70"/>
                </a:solidFill>
                <a:latin typeface="Arial"/>
                <a:ea typeface="Arial"/>
                <a:cs typeface="Arial"/>
              </a:defRPr>
            </a:lvl6pPr>
            <a:lvl7pPr>
              <a:defRPr sz="1275" b="1">
                <a:solidFill>
                  <a:srgbClr val="657B70"/>
                </a:solidFill>
                <a:latin typeface="Arial"/>
                <a:ea typeface="Arial"/>
                <a:cs typeface="Arial"/>
              </a:defRPr>
            </a:lvl7pPr>
            <a:lvl8pPr>
              <a:defRPr sz="1275" b="1">
                <a:solidFill>
                  <a:srgbClr val="657B70"/>
                </a:solidFill>
                <a:latin typeface="Arial"/>
                <a:ea typeface="Arial"/>
                <a:cs typeface="Arial"/>
              </a:defRPr>
            </a:lvl8pPr>
            <a:lvl9pPr>
              <a:defRPr sz="1275" b="1">
                <a:solidFill>
                  <a:srgbClr val="657B70"/>
                </a:solidFill>
                <a:latin typeface="Arial"/>
                <a:ea typeface="Arial"/>
                <a:cs typeface="Arial"/>
              </a:defRPr>
            </a:lvl9pPr>
          </a:lstStyle>
          <a:p xmlns:a="http://schemas.openxmlformats.org/drawingml/2006/main">
            <a:pPr>
              <a:defRPr sz="1275" b="1">
                <a:solidFill>
                  <a:srgbClr val="657B70"/>
                </a:solidFill>
                <a:latin typeface="Arial"/>
                <a:ea typeface="Arial"/>
                <a:cs typeface="Arial"/>
              </a:defRPr>
            </a:pPr>
            <a:r>
              <a:rPr sz="1275" b="1">
                <a:solidFill>
                  <a:srgbClr val="657B70"/>
                </a:solidFill>
                <a:latin typeface="Arial"/>
                <a:ea typeface="Arial"/>
                <a:cs typeface="Arial"/>
              </a:rPr>
              <a:t>ARCHITECT APPENDIX</a:t>
            </a:r>
          </a:p>
        </p:txBody>
      </p:sp>
      <p:sp>
        <p:nvSpPr>
          <p:cNvPr id="3" name="">
            <a:extLst xmlns:a="http://schemas.openxmlformats.org/drawingml/2006/main">
              <a:ext uri="{FF2B5EF4-FFF2-40B4-BE49-F238E27FC236}">
                <a16:creationId xmlns:a16="http://schemas.microsoft.com/office/drawing/2014/main" id="{DD6D2D3C-48DF-4BE6-B5DE-62AC436F5EC8}"/>
              </a:ext>
            </a:extLst>
          </p:cNvPr>
          <p:cNvSpPr>
            <a:spLocks xmlns:a="http://schemas.openxmlformats.org/drawingml/2006/main" noGrp="1"/>
          </p:cNvSpPr>
          <p:nvPr/>
        </p:nvSpPr>
        <p:spPr>
          <a:xfrm xmlns:a="http://schemas.openxmlformats.org/drawingml/2006/main">
            <a:off x="609600" y="78105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183D34"/>
                </a:solidFill>
                <a:latin typeface="Arial"/>
                <a:ea typeface="Arial"/>
                <a:cs typeface="Arial"/>
              </a:defRPr>
            </a:defPPr>
            <a:lvl1pPr>
              <a:defRPr sz="2775" b="1">
                <a:solidFill>
                  <a:srgbClr val="183D34"/>
                </a:solidFill>
                <a:latin typeface="Arial"/>
                <a:ea typeface="Arial"/>
                <a:cs typeface="Arial"/>
              </a:defRPr>
            </a:lvl1pPr>
            <a:lvl2pPr>
              <a:defRPr sz="2775" b="1">
                <a:solidFill>
                  <a:srgbClr val="183D34"/>
                </a:solidFill>
                <a:latin typeface="Arial"/>
                <a:ea typeface="Arial"/>
                <a:cs typeface="Arial"/>
              </a:defRPr>
            </a:lvl2pPr>
            <a:lvl3pPr>
              <a:defRPr sz="2775" b="1">
                <a:solidFill>
                  <a:srgbClr val="183D34"/>
                </a:solidFill>
                <a:latin typeface="Arial"/>
                <a:ea typeface="Arial"/>
                <a:cs typeface="Arial"/>
              </a:defRPr>
            </a:lvl3pPr>
            <a:lvl4pPr>
              <a:defRPr sz="2775" b="1">
                <a:solidFill>
                  <a:srgbClr val="183D34"/>
                </a:solidFill>
                <a:latin typeface="Arial"/>
                <a:ea typeface="Arial"/>
                <a:cs typeface="Arial"/>
              </a:defRPr>
            </a:lvl4pPr>
            <a:lvl5pPr>
              <a:defRPr sz="2775" b="1">
                <a:solidFill>
                  <a:srgbClr val="183D34"/>
                </a:solidFill>
                <a:latin typeface="Arial"/>
                <a:ea typeface="Arial"/>
                <a:cs typeface="Arial"/>
              </a:defRPr>
            </a:lvl5pPr>
            <a:lvl6pPr>
              <a:defRPr sz="2775" b="1">
                <a:solidFill>
                  <a:srgbClr val="183D34"/>
                </a:solidFill>
                <a:latin typeface="Arial"/>
                <a:ea typeface="Arial"/>
                <a:cs typeface="Arial"/>
              </a:defRPr>
            </a:lvl6pPr>
            <a:lvl7pPr>
              <a:defRPr sz="2775" b="1">
                <a:solidFill>
                  <a:srgbClr val="183D34"/>
                </a:solidFill>
                <a:latin typeface="Arial"/>
                <a:ea typeface="Arial"/>
                <a:cs typeface="Arial"/>
              </a:defRPr>
            </a:lvl7pPr>
            <a:lvl8pPr>
              <a:defRPr sz="2775" b="1">
                <a:solidFill>
                  <a:srgbClr val="183D34"/>
                </a:solidFill>
                <a:latin typeface="Arial"/>
                <a:ea typeface="Arial"/>
                <a:cs typeface="Arial"/>
              </a:defRPr>
            </a:lvl8pPr>
            <a:lvl9pPr>
              <a:defRPr sz="2775" b="1">
                <a:solidFill>
                  <a:srgbClr val="183D34"/>
                </a:solidFill>
                <a:latin typeface="Arial"/>
                <a:ea typeface="Arial"/>
                <a:cs typeface="Arial"/>
              </a:defRPr>
            </a:lvl9pPr>
          </a:lstStyle>
          <a:p xmlns:a="http://schemas.openxmlformats.org/drawingml/2006/main">
            <a:pPr>
              <a:defRPr sz="2775" b="1">
                <a:solidFill>
                  <a:srgbClr val="183D34"/>
                </a:solidFill>
                <a:latin typeface="Arial"/>
                <a:ea typeface="Arial"/>
                <a:cs typeface="Arial"/>
              </a:defRPr>
            </a:pPr>
            <a:r>
              <a:rPr sz="2775" b="1">
                <a:solidFill>
                  <a:srgbClr val="183D34"/>
                </a:solidFill>
                <a:latin typeface="Arial"/>
                <a:ea typeface="Arial"/>
                <a:cs typeface="Arial"/>
              </a:rPr>
              <a:t>Risk quality and operating behavior</a:t>
            </a:r>
          </a:p>
        </p:txBody>
      </p:sp>
      <p:sp>
        <p:nvSpPr>
          <p:cNvPr id="4" name="">
            <a:extLst xmlns:a="http://schemas.openxmlformats.org/drawingml/2006/main">
              <a:ext uri="{FF2B5EF4-FFF2-40B4-BE49-F238E27FC236}">
                <a16:creationId xmlns:a16="http://schemas.microsoft.com/office/drawing/2014/main" id="{BB2EF016-2EFF-4E2D-A63E-B39979A6BDAF}"/>
              </a:ext>
            </a:extLst>
          </p:cNvPr>
          <p:cNvSpPr>
            <a:spLocks xmlns:a="http://schemas.openxmlformats.org/drawingml/2006/main" noGrp="1"/>
          </p:cNvSpPr>
          <p:nvPr/>
        </p:nvSpPr>
        <p:spPr>
          <a:xfrm xmlns:a="http://schemas.openxmlformats.org/drawingml/2006/main">
            <a:off x="609600" y="176212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A6B4D"/>
                </a:solidFill>
                <a:latin typeface="Arial"/>
                <a:ea typeface="Arial"/>
                <a:cs typeface="Arial"/>
              </a:defRPr>
            </a:defPPr>
            <a:lvl1pPr>
              <a:defRPr sz="2025" b="1">
                <a:solidFill>
                  <a:srgbClr val="2A6B4D"/>
                </a:solidFill>
                <a:latin typeface="Arial"/>
                <a:ea typeface="Arial"/>
                <a:cs typeface="Arial"/>
              </a:defRPr>
            </a:lvl1pPr>
            <a:lvl2pPr>
              <a:defRPr sz="2025" b="1">
                <a:solidFill>
                  <a:srgbClr val="2A6B4D"/>
                </a:solidFill>
                <a:latin typeface="Arial"/>
                <a:ea typeface="Arial"/>
                <a:cs typeface="Arial"/>
              </a:defRPr>
            </a:lvl2pPr>
            <a:lvl3pPr>
              <a:defRPr sz="2025" b="1">
                <a:solidFill>
                  <a:srgbClr val="2A6B4D"/>
                </a:solidFill>
                <a:latin typeface="Arial"/>
                <a:ea typeface="Arial"/>
                <a:cs typeface="Arial"/>
              </a:defRPr>
            </a:lvl3pPr>
            <a:lvl4pPr>
              <a:defRPr sz="2025" b="1">
                <a:solidFill>
                  <a:srgbClr val="2A6B4D"/>
                </a:solidFill>
                <a:latin typeface="Arial"/>
                <a:ea typeface="Arial"/>
                <a:cs typeface="Arial"/>
              </a:defRPr>
            </a:lvl4pPr>
            <a:lvl5pPr>
              <a:defRPr sz="2025" b="1">
                <a:solidFill>
                  <a:srgbClr val="2A6B4D"/>
                </a:solidFill>
                <a:latin typeface="Arial"/>
                <a:ea typeface="Arial"/>
                <a:cs typeface="Arial"/>
              </a:defRPr>
            </a:lvl5pPr>
            <a:lvl6pPr>
              <a:defRPr sz="2025" b="1">
                <a:solidFill>
                  <a:srgbClr val="2A6B4D"/>
                </a:solidFill>
                <a:latin typeface="Arial"/>
                <a:ea typeface="Arial"/>
                <a:cs typeface="Arial"/>
              </a:defRPr>
            </a:lvl6pPr>
            <a:lvl7pPr>
              <a:defRPr sz="2025" b="1">
                <a:solidFill>
                  <a:srgbClr val="2A6B4D"/>
                </a:solidFill>
                <a:latin typeface="Arial"/>
                <a:ea typeface="Arial"/>
                <a:cs typeface="Arial"/>
              </a:defRPr>
            </a:lvl7pPr>
            <a:lvl8pPr>
              <a:defRPr sz="2025" b="1">
                <a:solidFill>
                  <a:srgbClr val="2A6B4D"/>
                </a:solidFill>
                <a:latin typeface="Arial"/>
                <a:ea typeface="Arial"/>
                <a:cs typeface="Arial"/>
              </a:defRPr>
            </a:lvl8pPr>
            <a:lvl9pPr>
              <a:defRPr sz="2025" b="1">
                <a:solidFill>
                  <a:srgbClr val="2A6B4D"/>
                </a:solidFill>
                <a:latin typeface="Arial"/>
                <a:ea typeface="Arial"/>
                <a:cs typeface="Arial"/>
              </a:defRPr>
            </a:lvl9pPr>
          </a:lstStyle>
          <a:p xmlns:a="http://schemas.openxmlformats.org/drawingml/2006/main">
            <a:pPr>
              <a:defRPr sz="2025" b="1">
                <a:solidFill>
                  <a:srgbClr val="2A6B4D"/>
                </a:solidFill>
                <a:latin typeface="Arial"/>
                <a:ea typeface="Arial"/>
                <a:cs typeface="Arial"/>
              </a:defRPr>
            </a:pPr>
            <a:r>
              <a:rPr sz="2025" b="1">
                <a:solidFill>
                  <a:srgbClr val="2A6B4D"/>
                </a:solidFill>
                <a:latin typeface="Arial"/>
                <a:ea typeface="Arial"/>
                <a:cs typeface="Arial"/>
              </a:rPr>
              <a:t>What is the latency SLA?</a:t>
            </a:r>
          </a:p>
        </p:txBody>
      </p:sp>
      <p:sp>
        <p:nvSpPr>
          <p:cNvPr id="5" name="">
            <a:extLst xmlns:a="http://schemas.openxmlformats.org/drawingml/2006/main">
              <a:ext uri="{FF2B5EF4-FFF2-40B4-BE49-F238E27FC236}">
                <a16:creationId xmlns:a16="http://schemas.microsoft.com/office/drawing/2014/main" id="{6FB6AD55-1499-41FC-B49D-52E515E4E309}"/>
              </a:ext>
            </a:extLst>
          </p:cNvPr>
          <p:cNvSpPr>
            <a:spLocks xmlns:a="http://schemas.openxmlformats.org/drawingml/2006/main" noGrp="1"/>
          </p:cNvSpPr>
          <p:nvPr/>
        </p:nvSpPr>
        <p:spPr>
          <a:xfrm xmlns:a="http://schemas.openxmlformats.org/drawingml/2006/main">
            <a:off x="609600" y="22669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4"/>
                </a:solidFill>
                <a:latin typeface="Arial"/>
                <a:ea typeface="Arial"/>
                <a:cs typeface="Arial"/>
              </a:defRPr>
            </a:defPPr>
            <a:lvl1pPr>
              <a:defRPr sz="1875" b="0">
                <a:solidFill>
                  <a:srgbClr val="183D34"/>
                </a:solidFill>
                <a:latin typeface="Arial"/>
                <a:ea typeface="Arial"/>
                <a:cs typeface="Arial"/>
              </a:defRPr>
            </a:lvl1pPr>
            <a:lvl2pPr>
              <a:defRPr sz="1875" b="0">
                <a:solidFill>
                  <a:srgbClr val="183D34"/>
                </a:solidFill>
                <a:latin typeface="Arial"/>
                <a:ea typeface="Arial"/>
                <a:cs typeface="Arial"/>
              </a:defRPr>
            </a:lvl2pPr>
            <a:lvl3pPr>
              <a:defRPr sz="1875" b="0">
                <a:solidFill>
                  <a:srgbClr val="183D34"/>
                </a:solidFill>
                <a:latin typeface="Arial"/>
                <a:ea typeface="Arial"/>
                <a:cs typeface="Arial"/>
              </a:defRPr>
            </a:lvl3pPr>
            <a:lvl4pPr>
              <a:defRPr sz="1875" b="0">
                <a:solidFill>
                  <a:srgbClr val="183D34"/>
                </a:solidFill>
                <a:latin typeface="Arial"/>
                <a:ea typeface="Arial"/>
                <a:cs typeface="Arial"/>
              </a:defRPr>
            </a:lvl4pPr>
            <a:lvl5pPr>
              <a:defRPr sz="1875" b="0">
                <a:solidFill>
                  <a:srgbClr val="183D34"/>
                </a:solidFill>
                <a:latin typeface="Arial"/>
                <a:ea typeface="Arial"/>
                <a:cs typeface="Arial"/>
              </a:defRPr>
            </a:lvl5pPr>
            <a:lvl6pPr>
              <a:defRPr sz="1875" b="0">
                <a:solidFill>
                  <a:srgbClr val="183D34"/>
                </a:solidFill>
                <a:latin typeface="Arial"/>
                <a:ea typeface="Arial"/>
                <a:cs typeface="Arial"/>
              </a:defRPr>
            </a:lvl6pPr>
            <a:lvl7pPr>
              <a:defRPr sz="1875" b="0">
                <a:solidFill>
                  <a:srgbClr val="183D34"/>
                </a:solidFill>
                <a:latin typeface="Arial"/>
                <a:ea typeface="Arial"/>
                <a:cs typeface="Arial"/>
              </a:defRPr>
            </a:lvl7pPr>
            <a:lvl8pPr>
              <a:defRPr sz="1875" b="0">
                <a:solidFill>
                  <a:srgbClr val="183D34"/>
                </a:solidFill>
                <a:latin typeface="Arial"/>
                <a:ea typeface="Arial"/>
                <a:cs typeface="Arial"/>
              </a:defRPr>
            </a:lvl8pPr>
            <a:lvl9pPr>
              <a:defRPr sz="1875" b="0">
                <a:solidFill>
                  <a:srgbClr val="183D34"/>
                </a:solidFill>
                <a:latin typeface="Arial"/>
                <a:ea typeface="Arial"/>
                <a:cs typeface="Arial"/>
              </a:defRPr>
            </a:lvl9pPr>
          </a:lstStyle>
          <a:p xmlns:a="http://schemas.openxmlformats.org/drawingml/2006/main">
            <a:pPr>
              <a:defRPr sz="1875" b="0">
                <a:solidFill>
                  <a:srgbClr val="183D34"/>
                </a:solidFill>
                <a:latin typeface="Arial"/>
                <a:ea typeface="Arial"/>
                <a:cs typeface="Arial"/>
              </a:defRPr>
            </a:pPr>
            <a:r>
              <a:rPr sz="1875" b="0">
                <a:solidFill>
                  <a:srgbClr val="183D34"/>
                </a:solidFill>
                <a:latin typeface="Arial"/>
                <a:ea typeface="Arial"/>
                <a:cs typeface="Arial"/>
              </a:rPr>
              <a:t>Unestablished. Owners must allocate the response budget, then measure tail latency and timeout behavior under representative load.</a:t>
            </a:r>
          </a:p>
        </p:txBody>
      </p:sp>
      <p:sp>
        <p:nvSpPr>
          <p:cNvPr id="6" name="">
            <a:extLst xmlns:a="http://schemas.openxmlformats.org/drawingml/2006/main">
              <a:ext uri="{FF2B5EF4-FFF2-40B4-BE49-F238E27FC236}">
                <a16:creationId xmlns:a16="http://schemas.microsoft.com/office/drawing/2014/main" id="{CE198FA7-91EC-478C-A592-2C4B460CE7E6}"/>
              </a:ext>
            </a:extLst>
          </p:cNvPr>
          <p:cNvSpPr>
            <a:spLocks xmlns:a="http://schemas.openxmlformats.org/drawingml/2006/main" noGrp="1"/>
          </p:cNvSpPr>
          <p:nvPr/>
        </p:nvSpPr>
        <p:spPr>
          <a:xfrm xmlns:a="http://schemas.openxmlformats.org/drawingml/2006/main">
            <a:off x="609600" y="319087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A6B4D"/>
                </a:solidFill>
                <a:latin typeface="Arial"/>
                <a:ea typeface="Arial"/>
                <a:cs typeface="Arial"/>
              </a:defRPr>
            </a:defPPr>
            <a:lvl1pPr>
              <a:defRPr sz="2025" b="1">
                <a:solidFill>
                  <a:srgbClr val="2A6B4D"/>
                </a:solidFill>
                <a:latin typeface="Arial"/>
                <a:ea typeface="Arial"/>
                <a:cs typeface="Arial"/>
              </a:defRPr>
            </a:lvl1pPr>
            <a:lvl2pPr>
              <a:defRPr sz="2025" b="1">
                <a:solidFill>
                  <a:srgbClr val="2A6B4D"/>
                </a:solidFill>
                <a:latin typeface="Arial"/>
                <a:ea typeface="Arial"/>
                <a:cs typeface="Arial"/>
              </a:defRPr>
            </a:lvl2pPr>
            <a:lvl3pPr>
              <a:defRPr sz="2025" b="1">
                <a:solidFill>
                  <a:srgbClr val="2A6B4D"/>
                </a:solidFill>
                <a:latin typeface="Arial"/>
                <a:ea typeface="Arial"/>
                <a:cs typeface="Arial"/>
              </a:defRPr>
            </a:lvl3pPr>
            <a:lvl4pPr>
              <a:defRPr sz="2025" b="1">
                <a:solidFill>
                  <a:srgbClr val="2A6B4D"/>
                </a:solidFill>
                <a:latin typeface="Arial"/>
                <a:ea typeface="Arial"/>
                <a:cs typeface="Arial"/>
              </a:defRPr>
            </a:lvl4pPr>
            <a:lvl5pPr>
              <a:defRPr sz="2025" b="1">
                <a:solidFill>
                  <a:srgbClr val="2A6B4D"/>
                </a:solidFill>
                <a:latin typeface="Arial"/>
                <a:ea typeface="Arial"/>
                <a:cs typeface="Arial"/>
              </a:defRPr>
            </a:lvl5pPr>
            <a:lvl6pPr>
              <a:defRPr sz="2025" b="1">
                <a:solidFill>
                  <a:srgbClr val="2A6B4D"/>
                </a:solidFill>
                <a:latin typeface="Arial"/>
                <a:ea typeface="Arial"/>
                <a:cs typeface="Arial"/>
              </a:defRPr>
            </a:lvl6pPr>
            <a:lvl7pPr>
              <a:defRPr sz="2025" b="1">
                <a:solidFill>
                  <a:srgbClr val="2A6B4D"/>
                </a:solidFill>
                <a:latin typeface="Arial"/>
                <a:ea typeface="Arial"/>
                <a:cs typeface="Arial"/>
              </a:defRPr>
            </a:lvl7pPr>
            <a:lvl8pPr>
              <a:defRPr sz="2025" b="1">
                <a:solidFill>
                  <a:srgbClr val="2A6B4D"/>
                </a:solidFill>
                <a:latin typeface="Arial"/>
                <a:ea typeface="Arial"/>
                <a:cs typeface="Arial"/>
              </a:defRPr>
            </a:lvl8pPr>
            <a:lvl9pPr>
              <a:defRPr sz="2025" b="1">
                <a:solidFill>
                  <a:srgbClr val="2A6B4D"/>
                </a:solidFill>
                <a:latin typeface="Arial"/>
                <a:ea typeface="Arial"/>
                <a:cs typeface="Arial"/>
              </a:defRPr>
            </a:lvl9pPr>
          </a:lstStyle>
          <a:p xmlns:a="http://schemas.openxmlformats.org/drawingml/2006/main">
            <a:pPr>
              <a:defRPr sz="2025" b="1">
                <a:solidFill>
                  <a:srgbClr val="2A6B4D"/>
                </a:solidFill>
                <a:latin typeface="Arial"/>
                <a:ea typeface="Arial"/>
                <a:cs typeface="Arial"/>
              </a:defRPr>
            </a:pPr>
            <a:r>
              <a:rPr sz="2025" b="1">
                <a:solidFill>
                  <a:srgbClr val="2A6B4D"/>
                </a:solidFill>
                <a:latin typeface="Arial"/>
                <a:ea typeface="Arial"/>
                <a:cs typeface="Arial"/>
              </a:rPr>
              <a:t>What happens when risk evaluation is unavailable?</a:t>
            </a:r>
          </a:p>
        </p:txBody>
      </p:sp>
      <p:sp>
        <p:nvSpPr>
          <p:cNvPr id="7" name="">
            <a:extLst xmlns:a="http://schemas.openxmlformats.org/drawingml/2006/main">
              <a:ext uri="{FF2B5EF4-FFF2-40B4-BE49-F238E27FC236}">
                <a16:creationId xmlns:a16="http://schemas.microsoft.com/office/drawing/2014/main" id="{396B52B2-18F8-4A6C-A935-9B1D944AD8ED}"/>
              </a:ext>
            </a:extLst>
          </p:cNvPr>
          <p:cNvSpPr>
            <a:spLocks xmlns:a="http://schemas.openxmlformats.org/drawingml/2006/main" noGrp="1"/>
          </p:cNvSpPr>
          <p:nvPr/>
        </p:nvSpPr>
        <p:spPr>
          <a:xfrm xmlns:a="http://schemas.openxmlformats.org/drawingml/2006/main">
            <a:off x="609600" y="369570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4"/>
                </a:solidFill>
                <a:latin typeface="Arial"/>
                <a:ea typeface="Arial"/>
                <a:cs typeface="Arial"/>
              </a:defRPr>
            </a:defPPr>
            <a:lvl1pPr>
              <a:defRPr sz="1875" b="0">
                <a:solidFill>
                  <a:srgbClr val="183D34"/>
                </a:solidFill>
                <a:latin typeface="Arial"/>
                <a:ea typeface="Arial"/>
                <a:cs typeface="Arial"/>
              </a:defRPr>
            </a:lvl1pPr>
            <a:lvl2pPr>
              <a:defRPr sz="1875" b="0">
                <a:solidFill>
                  <a:srgbClr val="183D34"/>
                </a:solidFill>
                <a:latin typeface="Arial"/>
                <a:ea typeface="Arial"/>
                <a:cs typeface="Arial"/>
              </a:defRPr>
            </a:lvl2pPr>
            <a:lvl3pPr>
              <a:defRPr sz="1875" b="0">
                <a:solidFill>
                  <a:srgbClr val="183D34"/>
                </a:solidFill>
                <a:latin typeface="Arial"/>
                <a:ea typeface="Arial"/>
                <a:cs typeface="Arial"/>
              </a:defRPr>
            </a:lvl3pPr>
            <a:lvl4pPr>
              <a:defRPr sz="1875" b="0">
                <a:solidFill>
                  <a:srgbClr val="183D34"/>
                </a:solidFill>
                <a:latin typeface="Arial"/>
                <a:ea typeface="Arial"/>
                <a:cs typeface="Arial"/>
              </a:defRPr>
            </a:lvl4pPr>
            <a:lvl5pPr>
              <a:defRPr sz="1875" b="0">
                <a:solidFill>
                  <a:srgbClr val="183D34"/>
                </a:solidFill>
                <a:latin typeface="Arial"/>
                <a:ea typeface="Arial"/>
                <a:cs typeface="Arial"/>
              </a:defRPr>
            </a:lvl5pPr>
            <a:lvl6pPr>
              <a:defRPr sz="1875" b="0">
                <a:solidFill>
                  <a:srgbClr val="183D34"/>
                </a:solidFill>
                <a:latin typeface="Arial"/>
                <a:ea typeface="Arial"/>
                <a:cs typeface="Arial"/>
              </a:defRPr>
            </a:lvl6pPr>
            <a:lvl7pPr>
              <a:defRPr sz="1875" b="0">
                <a:solidFill>
                  <a:srgbClr val="183D34"/>
                </a:solidFill>
                <a:latin typeface="Arial"/>
                <a:ea typeface="Arial"/>
                <a:cs typeface="Arial"/>
              </a:defRPr>
            </a:lvl7pPr>
            <a:lvl8pPr>
              <a:defRPr sz="1875" b="0">
                <a:solidFill>
                  <a:srgbClr val="183D34"/>
                </a:solidFill>
                <a:latin typeface="Arial"/>
                <a:ea typeface="Arial"/>
                <a:cs typeface="Arial"/>
              </a:defRPr>
            </a:lvl8pPr>
            <a:lvl9pPr>
              <a:defRPr sz="1875" b="0">
                <a:solidFill>
                  <a:srgbClr val="183D34"/>
                </a:solidFill>
                <a:latin typeface="Arial"/>
                <a:ea typeface="Arial"/>
                <a:cs typeface="Arial"/>
              </a:defRPr>
            </a:lvl9pPr>
          </a:lstStyle>
          <a:p xmlns:a="http://schemas.openxmlformats.org/drawingml/2006/main">
            <a:pPr>
              <a:defRPr sz="1875" b="0">
                <a:solidFill>
                  <a:srgbClr val="183D34"/>
                </a:solidFill>
                <a:latin typeface="Arial"/>
                <a:ea typeface="Arial"/>
                <a:cs typeface="Arial"/>
              </a:defRPr>
            </a:pPr>
            <a:r>
              <a:rPr sz="1875" b="0">
                <a:solidFill>
                  <a:srgbClr val="183D34"/>
                </a:solidFill>
                <a:latin typeface="Arial"/>
                <a:ea typeface="Arial"/>
                <a:cs typeface="Arial"/>
              </a:rPr>
              <a:t>The demo holds the request. Production fallback must be an approved risk policy with bounded timeouts and observable outcomes.</a:t>
            </a:r>
          </a:p>
        </p:txBody>
      </p:sp>
      <p:sp>
        <p:nvSpPr>
          <p:cNvPr id="8" name="">
            <a:extLst xmlns:a="http://schemas.openxmlformats.org/drawingml/2006/main">
              <a:ext uri="{FF2B5EF4-FFF2-40B4-BE49-F238E27FC236}">
                <a16:creationId xmlns:a16="http://schemas.microsoft.com/office/drawing/2014/main" id="{A000EF04-D19B-4F0E-82CE-113A0A776FDF}"/>
              </a:ext>
            </a:extLst>
          </p:cNvPr>
          <p:cNvSpPr>
            <a:spLocks xmlns:a="http://schemas.openxmlformats.org/drawingml/2006/main" noGrp="1"/>
          </p:cNvSpPr>
          <p:nvPr/>
        </p:nvSpPr>
        <p:spPr>
          <a:xfrm xmlns:a="http://schemas.openxmlformats.org/drawingml/2006/main">
            <a:off x="609600" y="461962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A6B4D"/>
                </a:solidFill>
                <a:latin typeface="Arial"/>
                <a:ea typeface="Arial"/>
                <a:cs typeface="Arial"/>
              </a:defRPr>
            </a:defPPr>
            <a:lvl1pPr>
              <a:defRPr sz="2025" b="1">
                <a:solidFill>
                  <a:srgbClr val="2A6B4D"/>
                </a:solidFill>
                <a:latin typeface="Arial"/>
                <a:ea typeface="Arial"/>
                <a:cs typeface="Arial"/>
              </a:defRPr>
            </a:lvl1pPr>
            <a:lvl2pPr>
              <a:defRPr sz="2025" b="1">
                <a:solidFill>
                  <a:srgbClr val="2A6B4D"/>
                </a:solidFill>
                <a:latin typeface="Arial"/>
                <a:ea typeface="Arial"/>
                <a:cs typeface="Arial"/>
              </a:defRPr>
            </a:lvl2pPr>
            <a:lvl3pPr>
              <a:defRPr sz="2025" b="1">
                <a:solidFill>
                  <a:srgbClr val="2A6B4D"/>
                </a:solidFill>
                <a:latin typeface="Arial"/>
                <a:ea typeface="Arial"/>
                <a:cs typeface="Arial"/>
              </a:defRPr>
            </a:lvl3pPr>
            <a:lvl4pPr>
              <a:defRPr sz="2025" b="1">
                <a:solidFill>
                  <a:srgbClr val="2A6B4D"/>
                </a:solidFill>
                <a:latin typeface="Arial"/>
                <a:ea typeface="Arial"/>
                <a:cs typeface="Arial"/>
              </a:defRPr>
            </a:lvl4pPr>
            <a:lvl5pPr>
              <a:defRPr sz="2025" b="1">
                <a:solidFill>
                  <a:srgbClr val="2A6B4D"/>
                </a:solidFill>
                <a:latin typeface="Arial"/>
                <a:ea typeface="Arial"/>
                <a:cs typeface="Arial"/>
              </a:defRPr>
            </a:lvl5pPr>
            <a:lvl6pPr>
              <a:defRPr sz="2025" b="1">
                <a:solidFill>
                  <a:srgbClr val="2A6B4D"/>
                </a:solidFill>
                <a:latin typeface="Arial"/>
                <a:ea typeface="Arial"/>
                <a:cs typeface="Arial"/>
              </a:defRPr>
            </a:lvl6pPr>
            <a:lvl7pPr>
              <a:defRPr sz="2025" b="1">
                <a:solidFill>
                  <a:srgbClr val="2A6B4D"/>
                </a:solidFill>
                <a:latin typeface="Arial"/>
                <a:ea typeface="Arial"/>
                <a:cs typeface="Arial"/>
              </a:defRPr>
            </a:lvl7pPr>
            <a:lvl8pPr>
              <a:defRPr sz="2025" b="1">
                <a:solidFill>
                  <a:srgbClr val="2A6B4D"/>
                </a:solidFill>
                <a:latin typeface="Arial"/>
                <a:ea typeface="Arial"/>
                <a:cs typeface="Arial"/>
              </a:defRPr>
            </a:lvl8pPr>
            <a:lvl9pPr>
              <a:defRPr sz="2025" b="1">
                <a:solidFill>
                  <a:srgbClr val="2A6B4D"/>
                </a:solidFill>
                <a:latin typeface="Arial"/>
                <a:ea typeface="Arial"/>
                <a:cs typeface="Arial"/>
              </a:defRPr>
            </a:lvl9pPr>
          </a:lstStyle>
          <a:p xmlns:a="http://schemas.openxmlformats.org/drawingml/2006/main">
            <a:pPr>
              <a:defRPr sz="2025" b="1">
                <a:solidFill>
                  <a:srgbClr val="2A6B4D"/>
                </a:solidFill>
                <a:latin typeface="Arial"/>
                <a:ea typeface="Arial"/>
                <a:cs typeface="Arial"/>
              </a:defRPr>
            </a:pPr>
            <a:r>
              <a:rPr sz="2025" b="1">
                <a:solidFill>
                  <a:srgbClr val="2A6B4D"/>
                </a:solidFill>
                <a:latin typeface="Arial"/>
                <a:ea typeface="Arial"/>
                <a:cs typeface="Arial"/>
              </a:rPr>
              <a:t>How accurate are the fraud rules?</a:t>
            </a:r>
          </a:p>
        </p:txBody>
      </p:sp>
      <p:sp>
        <p:nvSpPr>
          <p:cNvPr id="9" name="">
            <a:extLst xmlns:a="http://schemas.openxmlformats.org/drawingml/2006/main">
              <a:ext uri="{FF2B5EF4-FFF2-40B4-BE49-F238E27FC236}">
                <a16:creationId xmlns:a16="http://schemas.microsoft.com/office/drawing/2014/main" id="{48127FE7-E6E6-4819-86D1-73CF2D004965}"/>
              </a:ext>
            </a:extLst>
          </p:cNvPr>
          <p:cNvSpPr>
            <a:spLocks xmlns:a="http://schemas.openxmlformats.org/drawingml/2006/main" noGrp="1"/>
          </p:cNvSpPr>
          <p:nvPr/>
        </p:nvSpPr>
        <p:spPr>
          <a:xfrm xmlns:a="http://schemas.openxmlformats.org/drawingml/2006/main">
            <a:off x="609600" y="51244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4"/>
                </a:solidFill>
                <a:latin typeface="Arial"/>
                <a:ea typeface="Arial"/>
                <a:cs typeface="Arial"/>
              </a:defRPr>
            </a:defPPr>
            <a:lvl1pPr>
              <a:defRPr sz="1875" b="0">
                <a:solidFill>
                  <a:srgbClr val="183D34"/>
                </a:solidFill>
                <a:latin typeface="Arial"/>
                <a:ea typeface="Arial"/>
                <a:cs typeface="Arial"/>
              </a:defRPr>
            </a:lvl1pPr>
            <a:lvl2pPr>
              <a:defRPr sz="1875" b="0">
                <a:solidFill>
                  <a:srgbClr val="183D34"/>
                </a:solidFill>
                <a:latin typeface="Arial"/>
                <a:ea typeface="Arial"/>
                <a:cs typeface="Arial"/>
              </a:defRPr>
            </a:lvl2pPr>
            <a:lvl3pPr>
              <a:defRPr sz="1875" b="0">
                <a:solidFill>
                  <a:srgbClr val="183D34"/>
                </a:solidFill>
                <a:latin typeface="Arial"/>
                <a:ea typeface="Arial"/>
                <a:cs typeface="Arial"/>
              </a:defRPr>
            </a:lvl3pPr>
            <a:lvl4pPr>
              <a:defRPr sz="1875" b="0">
                <a:solidFill>
                  <a:srgbClr val="183D34"/>
                </a:solidFill>
                <a:latin typeface="Arial"/>
                <a:ea typeface="Arial"/>
                <a:cs typeface="Arial"/>
              </a:defRPr>
            </a:lvl4pPr>
            <a:lvl5pPr>
              <a:defRPr sz="1875" b="0">
                <a:solidFill>
                  <a:srgbClr val="183D34"/>
                </a:solidFill>
                <a:latin typeface="Arial"/>
                <a:ea typeface="Arial"/>
                <a:cs typeface="Arial"/>
              </a:defRPr>
            </a:lvl5pPr>
            <a:lvl6pPr>
              <a:defRPr sz="1875" b="0">
                <a:solidFill>
                  <a:srgbClr val="183D34"/>
                </a:solidFill>
                <a:latin typeface="Arial"/>
                <a:ea typeface="Arial"/>
                <a:cs typeface="Arial"/>
              </a:defRPr>
            </a:lvl6pPr>
            <a:lvl7pPr>
              <a:defRPr sz="1875" b="0">
                <a:solidFill>
                  <a:srgbClr val="183D34"/>
                </a:solidFill>
                <a:latin typeface="Arial"/>
                <a:ea typeface="Arial"/>
                <a:cs typeface="Arial"/>
              </a:defRPr>
            </a:lvl7pPr>
            <a:lvl8pPr>
              <a:defRPr sz="1875" b="0">
                <a:solidFill>
                  <a:srgbClr val="183D34"/>
                </a:solidFill>
                <a:latin typeface="Arial"/>
                <a:ea typeface="Arial"/>
                <a:cs typeface="Arial"/>
              </a:defRPr>
            </a:lvl8pPr>
            <a:lvl9pPr>
              <a:defRPr sz="1875" b="0">
                <a:solidFill>
                  <a:srgbClr val="183D34"/>
                </a:solidFill>
                <a:latin typeface="Arial"/>
                <a:ea typeface="Arial"/>
                <a:cs typeface="Arial"/>
              </a:defRPr>
            </a:lvl9pPr>
          </a:lstStyle>
          <a:p xmlns:a="http://schemas.openxmlformats.org/drawingml/2006/main">
            <a:pPr>
              <a:defRPr sz="1875" b="0">
                <a:solidFill>
                  <a:srgbClr val="183D34"/>
                </a:solidFill>
                <a:latin typeface="Arial"/>
                <a:ea typeface="Arial"/>
                <a:cs typeface="Arial"/>
              </a:defRPr>
            </a:pPr>
            <a:r>
              <a:rPr sz="1875" b="0">
                <a:solidFill>
                  <a:srgbClr val="183D34"/>
                </a:solidFill>
                <a:latin typeface="Arial"/>
                <a:ea typeface="Arial"/>
                <a:cs typeface="Arial"/>
              </a:rPr>
              <a:t>Accuracy is unmeasured. Evaluate representative labeled data and the cost of false declines before making detection claims.</a:t>
            </a:r>
          </a:p>
        </p:txBody>
      </p:sp>
      <p:sp>
        <p:nvSpPr>
          <p:cNvPr id="10" name="">
            <a:extLst xmlns:a="http://schemas.openxmlformats.org/drawingml/2006/main">
              <a:ext uri="{FF2B5EF4-FFF2-40B4-BE49-F238E27FC236}">
                <a16:creationId xmlns:a16="http://schemas.microsoft.com/office/drawing/2014/main" id="{C6B17C34-9E7C-4C72-AC17-CF45D40C2FAA}"/>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B70"/>
                </a:solidFill>
                <a:latin typeface="Arial"/>
                <a:ea typeface="Arial"/>
                <a:cs typeface="Arial"/>
              </a:defRPr>
            </a:defPPr>
            <a:lvl1pPr>
              <a:defRPr sz="1200" b="0">
                <a:solidFill>
                  <a:srgbClr val="657B70"/>
                </a:solidFill>
                <a:latin typeface="Arial"/>
                <a:ea typeface="Arial"/>
                <a:cs typeface="Arial"/>
              </a:defRPr>
            </a:lvl1pPr>
            <a:lvl2pPr>
              <a:defRPr sz="1200" b="0">
                <a:solidFill>
                  <a:srgbClr val="657B70"/>
                </a:solidFill>
                <a:latin typeface="Arial"/>
                <a:ea typeface="Arial"/>
                <a:cs typeface="Arial"/>
              </a:defRPr>
            </a:lvl2pPr>
            <a:lvl3pPr>
              <a:defRPr sz="1200" b="0">
                <a:solidFill>
                  <a:srgbClr val="657B70"/>
                </a:solidFill>
                <a:latin typeface="Arial"/>
                <a:ea typeface="Arial"/>
                <a:cs typeface="Arial"/>
              </a:defRPr>
            </a:lvl3pPr>
            <a:lvl4pPr>
              <a:defRPr sz="1200" b="0">
                <a:solidFill>
                  <a:srgbClr val="657B70"/>
                </a:solidFill>
                <a:latin typeface="Arial"/>
                <a:ea typeface="Arial"/>
                <a:cs typeface="Arial"/>
              </a:defRPr>
            </a:lvl4pPr>
            <a:lvl5pPr>
              <a:defRPr sz="1200" b="0">
                <a:solidFill>
                  <a:srgbClr val="657B70"/>
                </a:solidFill>
                <a:latin typeface="Arial"/>
                <a:ea typeface="Arial"/>
                <a:cs typeface="Arial"/>
              </a:defRPr>
            </a:lvl5pPr>
            <a:lvl6pPr>
              <a:defRPr sz="1200" b="0">
                <a:solidFill>
                  <a:srgbClr val="657B70"/>
                </a:solidFill>
                <a:latin typeface="Arial"/>
                <a:ea typeface="Arial"/>
                <a:cs typeface="Arial"/>
              </a:defRPr>
            </a:lvl6pPr>
            <a:lvl7pPr>
              <a:defRPr sz="1200" b="0">
                <a:solidFill>
                  <a:srgbClr val="657B70"/>
                </a:solidFill>
                <a:latin typeface="Arial"/>
                <a:ea typeface="Arial"/>
                <a:cs typeface="Arial"/>
              </a:defRPr>
            </a:lvl7pPr>
            <a:lvl8pPr>
              <a:defRPr sz="1200" b="0">
                <a:solidFill>
                  <a:srgbClr val="657B70"/>
                </a:solidFill>
                <a:latin typeface="Arial"/>
                <a:ea typeface="Arial"/>
                <a:cs typeface="Arial"/>
              </a:defRPr>
            </a:lvl8pPr>
            <a:lvl9pPr>
              <a:defRPr sz="1200" b="0">
                <a:solidFill>
                  <a:srgbClr val="657B70"/>
                </a:solidFill>
                <a:latin typeface="Arial"/>
                <a:ea typeface="Arial"/>
                <a:cs typeface="Arial"/>
              </a:defRPr>
            </a:lvl9pPr>
          </a:lstStyle>
          <a:p xmlns:a="http://schemas.openxmlformats.org/drawingml/2006/main">
            <a:pPr>
              <a:defRPr sz="1200" b="0">
                <a:solidFill>
                  <a:srgbClr val="657B70"/>
                </a:solidFill>
                <a:latin typeface="Arial"/>
                <a:ea typeface="Arial"/>
                <a:cs typeface="Arial"/>
              </a:defRPr>
            </a:pPr>
            <a:r>
              <a:rPr sz="1200" b="0">
                <a:solidFill>
                  <a:srgbClr val="657B70"/>
                </a:solidFill>
                <a:latin typeface="Arial"/>
                <a:ea typeface="Arial"/>
                <a:cs typeface="Arial"/>
              </a:rPr>
              <a:t>25</a:t>
            </a:r>
          </a:p>
        </p:txBody>
      </p:sp>
    </p:spTree>
    <p:extLst>
      <p:ext uri="{BB962C8B-B14F-4D97-AF65-F5344CB8AC3E}">
        <p14:creationId xmlns:p14="http://schemas.microsoft.com/office/powerpoint/2010/main" val="1573504398"/>
      </p:ext>
    </p:extLst>
  </p:cSld>
</p:sld>
</file>

<file path=ppt/slides/slide26.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BA24805-F1B6-4680-8CBD-FB7F824AB985}"/>
              </a:ext>
            </a:extLst>
          </p:cNvPr>
          <p:cNvSpPr>
            <a:spLocks xmlns:a="http://schemas.openxmlformats.org/drawingml/2006/main" noGrp="1"/>
          </p:cNvSpPr>
          <p:nvPr/>
        </p:nvSpPr>
        <p:spPr>
          <a:xfrm xmlns:a="http://schemas.openxmlformats.org/drawingml/2006/main">
            <a:off x="609600" y="333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657B70"/>
                </a:solidFill>
                <a:latin typeface="Arial"/>
                <a:ea typeface="Arial"/>
                <a:cs typeface="Arial"/>
              </a:defRPr>
            </a:defPPr>
            <a:lvl1pPr>
              <a:defRPr sz="1275" b="1">
                <a:solidFill>
                  <a:srgbClr val="657B70"/>
                </a:solidFill>
                <a:latin typeface="Arial"/>
                <a:ea typeface="Arial"/>
                <a:cs typeface="Arial"/>
              </a:defRPr>
            </a:lvl1pPr>
            <a:lvl2pPr>
              <a:defRPr sz="1275" b="1">
                <a:solidFill>
                  <a:srgbClr val="657B70"/>
                </a:solidFill>
                <a:latin typeface="Arial"/>
                <a:ea typeface="Arial"/>
                <a:cs typeface="Arial"/>
              </a:defRPr>
            </a:lvl2pPr>
            <a:lvl3pPr>
              <a:defRPr sz="1275" b="1">
                <a:solidFill>
                  <a:srgbClr val="657B70"/>
                </a:solidFill>
                <a:latin typeface="Arial"/>
                <a:ea typeface="Arial"/>
                <a:cs typeface="Arial"/>
              </a:defRPr>
            </a:lvl3pPr>
            <a:lvl4pPr>
              <a:defRPr sz="1275" b="1">
                <a:solidFill>
                  <a:srgbClr val="657B70"/>
                </a:solidFill>
                <a:latin typeface="Arial"/>
                <a:ea typeface="Arial"/>
                <a:cs typeface="Arial"/>
              </a:defRPr>
            </a:lvl4pPr>
            <a:lvl5pPr>
              <a:defRPr sz="1275" b="1">
                <a:solidFill>
                  <a:srgbClr val="657B70"/>
                </a:solidFill>
                <a:latin typeface="Arial"/>
                <a:ea typeface="Arial"/>
                <a:cs typeface="Arial"/>
              </a:defRPr>
            </a:lvl5pPr>
            <a:lvl6pPr>
              <a:defRPr sz="1275" b="1">
                <a:solidFill>
                  <a:srgbClr val="657B70"/>
                </a:solidFill>
                <a:latin typeface="Arial"/>
                <a:ea typeface="Arial"/>
                <a:cs typeface="Arial"/>
              </a:defRPr>
            </a:lvl6pPr>
            <a:lvl7pPr>
              <a:defRPr sz="1275" b="1">
                <a:solidFill>
                  <a:srgbClr val="657B70"/>
                </a:solidFill>
                <a:latin typeface="Arial"/>
                <a:ea typeface="Arial"/>
                <a:cs typeface="Arial"/>
              </a:defRPr>
            </a:lvl7pPr>
            <a:lvl8pPr>
              <a:defRPr sz="1275" b="1">
                <a:solidFill>
                  <a:srgbClr val="657B70"/>
                </a:solidFill>
                <a:latin typeface="Arial"/>
                <a:ea typeface="Arial"/>
                <a:cs typeface="Arial"/>
              </a:defRPr>
            </a:lvl8pPr>
            <a:lvl9pPr>
              <a:defRPr sz="1275" b="1">
                <a:solidFill>
                  <a:srgbClr val="657B70"/>
                </a:solidFill>
                <a:latin typeface="Arial"/>
                <a:ea typeface="Arial"/>
                <a:cs typeface="Arial"/>
              </a:defRPr>
            </a:lvl9pPr>
          </a:lstStyle>
          <a:p xmlns:a="http://schemas.openxmlformats.org/drawingml/2006/main">
            <a:pPr>
              <a:defRPr sz="1275" b="1">
                <a:solidFill>
                  <a:srgbClr val="657B70"/>
                </a:solidFill>
                <a:latin typeface="Arial"/>
                <a:ea typeface="Arial"/>
                <a:cs typeface="Arial"/>
              </a:defRPr>
            </a:pPr>
            <a:r>
              <a:rPr sz="1275" b="1">
                <a:solidFill>
                  <a:srgbClr val="657B70"/>
                </a:solidFill>
                <a:latin typeface="Arial"/>
                <a:ea typeface="Arial"/>
                <a:cs typeface="Arial"/>
              </a:rPr>
              <a:t>ARCHITECT APPENDIX</a:t>
            </a:r>
          </a:p>
        </p:txBody>
      </p:sp>
      <p:sp>
        <p:nvSpPr>
          <p:cNvPr id="3" name="">
            <a:extLst xmlns:a="http://schemas.openxmlformats.org/drawingml/2006/main">
              <a:ext uri="{FF2B5EF4-FFF2-40B4-BE49-F238E27FC236}">
                <a16:creationId xmlns:a16="http://schemas.microsoft.com/office/drawing/2014/main" id="{C0D386D6-70DB-40FD-A995-B659303D499A}"/>
              </a:ext>
            </a:extLst>
          </p:cNvPr>
          <p:cNvSpPr>
            <a:spLocks xmlns:a="http://schemas.openxmlformats.org/drawingml/2006/main" noGrp="1"/>
          </p:cNvSpPr>
          <p:nvPr/>
        </p:nvSpPr>
        <p:spPr>
          <a:xfrm xmlns:a="http://schemas.openxmlformats.org/drawingml/2006/main">
            <a:off x="609600" y="78105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183D34"/>
                </a:solidFill>
                <a:latin typeface="Arial"/>
                <a:ea typeface="Arial"/>
                <a:cs typeface="Arial"/>
              </a:defRPr>
            </a:defPPr>
            <a:lvl1pPr>
              <a:defRPr sz="2775" b="1">
                <a:solidFill>
                  <a:srgbClr val="183D34"/>
                </a:solidFill>
                <a:latin typeface="Arial"/>
                <a:ea typeface="Arial"/>
                <a:cs typeface="Arial"/>
              </a:defRPr>
            </a:lvl1pPr>
            <a:lvl2pPr>
              <a:defRPr sz="2775" b="1">
                <a:solidFill>
                  <a:srgbClr val="183D34"/>
                </a:solidFill>
                <a:latin typeface="Arial"/>
                <a:ea typeface="Arial"/>
                <a:cs typeface="Arial"/>
              </a:defRPr>
            </a:lvl2pPr>
            <a:lvl3pPr>
              <a:defRPr sz="2775" b="1">
                <a:solidFill>
                  <a:srgbClr val="183D34"/>
                </a:solidFill>
                <a:latin typeface="Arial"/>
                <a:ea typeface="Arial"/>
                <a:cs typeface="Arial"/>
              </a:defRPr>
            </a:lvl3pPr>
            <a:lvl4pPr>
              <a:defRPr sz="2775" b="1">
                <a:solidFill>
                  <a:srgbClr val="183D34"/>
                </a:solidFill>
                <a:latin typeface="Arial"/>
                <a:ea typeface="Arial"/>
                <a:cs typeface="Arial"/>
              </a:defRPr>
            </a:lvl4pPr>
            <a:lvl5pPr>
              <a:defRPr sz="2775" b="1">
                <a:solidFill>
                  <a:srgbClr val="183D34"/>
                </a:solidFill>
                <a:latin typeface="Arial"/>
                <a:ea typeface="Arial"/>
                <a:cs typeface="Arial"/>
              </a:defRPr>
            </a:lvl5pPr>
            <a:lvl6pPr>
              <a:defRPr sz="2775" b="1">
                <a:solidFill>
                  <a:srgbClr val="183D34"/>
                </a:solidFill>
                <a:latin typeface="Arial"/>
                <a:ea typeface="Arial"/>
                <a:cs typeface="Arial"/>
              </a:defRPr>
            </a:lvl6pPr>
            <a:lvl7pPr>
              <a:defRPr sz="2775" b="1">
                <a:solidFill>
                  <a:srgbClr val="183D34"/>
                </a:solidFill>
                <a:latin typeface="Arial"/>
                <a:ea typeface="Arial"/>
                <a:cs typeface="Arial"/>
              </a:defRPr>
            </a:lvl7pPr>
            <a:lvl8pPr>
              <a:defRPr sz="2775" b="1">
                <a:solidFill>
                  <a:srgbClr val="183D34"/>
                </a:solidFill>
                <a:latin typeface="Arial"/>
                <a:ea typeface="Arial"/>
                <a:cs typeface="Arial"/>
              </a:defRPr>
            </a:lvl8pPr>
            <a:lvl9pPr>
              <a:defRPr sz="2775" b="1">
                <a:solidFill>
                  <a:srgbClr val="183D34"/>
                </a:solidFill>
                <a:latin typeface="Arial"/>
                <a:ea typeface="Arial"/>
                <a:cs typeface="Arial"/>
              </a:defRPr>
            </a:lvl9pPr>
          </a:lstStyle>
          <a:p xmlns:a="http://schemas.openxmlformats.org/drawingml/2006/main">
            <a:pPr>
              <a:defRPr sz="2775" b="1">
                <a:solidFill>
                  <a:srgbClr val="183D34"/>
                </a:solidFill>
                <a:latin typeface="Arial"/>
                <a:ea typeface="Arial"/>
                <a:cs typeface="Arial"/>
              </a:defRPr>
            </a:pPr>
            <a:r>
              <a:rPr sz="2775" b="1">
                <a:solidFill>
                  <a:srgbClr val="183D34"/>
                </a:solidFill>
                <a:latin typeface="Arial"/>
                <a:ea typeface="Arial"/>
                <a:cs typeface="Arial"/>
              </a:rPr>
              <a:t>Acceptance and interpretation</a:t>
            </a:r>
          </a:p>
        </p:txBody>
      </p:sp>
      <p:sp>
        <p:nvSpPr>
          <p:cNvPr id="4" name="">
            <a:extLst xmlns:a="http://schemas.openxmlformats.org/drawingml/2006/main">
              <a:ext uri="{FF2B5EF4-FFF2-40B4-BE49-F238E27FC236}">
                <a16:creationId xmlns:a16="http://schemas.microsoft.com/office/drawing/2014/main" id="{08255884-A783-4461-8C83-0103C23C77DE}"/>
              </a:ext>
            </a:extLst>
          </p:cNvPr>
          <p:cNvSpPr>
            <a:spLocks xmlns:a="http://schemas.openxmlformats.org/drawingml/2006/main" noGrp="1"/>
          </p:cNvSpPr>
          <p:nvPr/>
        </p:nvSpPr>
        <p:spPr>
          <a:xfrm xmlns:a="http://schemas.openxmlformats.org/drawingml/2006/main">
            <a:off x="609600" y="176212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A6B4D"/>
                </a:solidFill>
                <a:latin typeface="Arial"/>
                <a:ea typeface="Arial"/>
                <a:cs typeface="Arial"/>
              </a:defRPr>
            </a:defPPr>
            <a:lvl1pPr>
              <a:defRPr sz="2025" b="1">
                <a:solidFill>
                  <a:srgbClr val="2A6B4D"/>
                </a:solidFill>
                <a:latin typeface="Arial"/>
                <a:ea typeface="Arial"/>
                <a:cs typeface="Arial"/>
              </a:defRPr>
            </a:lvl1pPr>
            <a:lvl2pPr>
              <a:defRPr sz="2025" b="1">
                <a:solidFill>
                  <a:srgbClr val="2A6B4D"/>
                </a:solidFill>
                <a:latin typeface="Arial"/>
                <a:ea typeface="Arial"/>
                <a:cs typeface="Arial"/>
              </a:defRPr>
            </a:lvl2pPr>
            <a:lvl3pPr>
              <a:defRPr sz="2025" b="1">
                <a:solidFill>
                  <a:srgbClr val="2A6B4D"/>
                </a:solidFill>
                <a:latin typeface="Arial"/>
                <a:ea typeface="Arial"/>
                <a:cs typeface="Arial"/>
              </a:defRPr>
            </a:lvl3pPr>
            <a:lvl4pPr>
              <a:defRPr sz="2025" b="1">
                <a:solidFill>
                  <a:srgbClr val="2A6B4D"/>
                </a:solidFill>
                <a:latin typeface="Arial"/>
                <a:ea typeface="Arial"/>
                <a:cs typeface="Arial"/>
              </a:defRPr>
            </a:lvl4pPr>
            <a:lvl5pPr>
              <a:defRPr sz="2025" b="1">
                <a:solidFill>
                  <a:srgbClr val="2A6B4D"/>
                </a:solidFill>
                <a:latin typeface="Arial"/>
                <a:ea typeface="Arial"/>
                <a:cs typeface="Arial"/>
              </a:defRPr>
            </a:lvl5pPr>
            <a:lvl6pPr>
              <a:defRPr sz="2025" b="1">
                <a:solidFill>
                  <a:srgbClr val="2A6B4D"/>
                </a:solidFill>
                <a:latin typeface="Arial"/>
                <a:ea typeface="Arial"/>
                <a:cs typeface="Arial"/>
              </a:defRPr>
            </a:lvl6pPr>
            <a:lvl7pPr>
              <a:defRPr sz="2025" b="1">
                <a:solidFill>
                  <a:srgbClr val="2A6B4D"/>
                </a:solidFill>
                <a:latin typeface="Arial"/>
                <a:ea typeface="Arial"/>
                <a:cs typeface="Arial"/>
              </a:defRPr>
            </a:lvl7pPr>
            <a:lvl8pPr>
              <a:defRPr sz="2025" b="1">
                <a:solidFill>
                  <a:srgbClr val="2A6B4D"/>
                </a:solidFill>
                <a:latin typeface="Arial"/>
                <a:ea typeface="Arial"/>
                <a:cs typeface="Arial"/>
              </a:defRPr>
            </a:lvl8pPr>
            <a:lvl9pPr>
              <a:defRPr sz="2025" b="1">
                <a:solidFill>
                  <a:srgbClr val="2A6B4D"/>
                </a:solidFill>
                <a:latin typeface="Arial"/>
                <a:ea typeface="Arial"/>
                <a:cs typeface="Arial"/>
              </a:defRPr>
            </a:lvl9pPr>
          </a:lstStyle>
          <a:p xmlns:a="http://schemas.openxmlformats.org/drawingml/2006/main">
            <a:pPr>
              <a:defRPr sz="2025" b="1">
                <a:solidFill>
                  <a:srgbClr val="2A6B4D"/>
                </a:solidFill>
                <a:latin typeface="Arial"/>
                <a:ea typeface="Arial"/>
                <a:cs typeface="Arial"/>
              </a:defRPr>
            </a:pPr>
            <a:r>
              <a:rPr sz="2025" b="1">
                <a:solidFill>
                  <a:srgbClr val="2A6B4D"/>
                </a:solidFill>
                <a:latin typeface="Arial"/>
                <a:ea typeface="Arial"/>
                <a:cs typeface="Arial"/>
              </a:rPr>
              <a:t>What does a green graph mean?</a:t>
            </a:r>
          </a:p>
        </p:txBody>
      </p:sp>
      <p:sp>
        <p:nvSpPr>
          <p:cNvPr id="5" name="">
            <a:extLst xmlns:a="http://schemas.openxmlformats.org/drawingml/2006/main">
              <a:ext uri="{FF2B5EF4-FFF2-40B4-BE49-F238E27FC236}">
                <a16:creationId xmlns:a16="http://schemas.microsoft.com/office/drawing/2014/main" id="{0C7DB0AF-5647-4534-8966-322059031A7D}"/>
              </a:ext>
            </a:extLst>
          </p:cNvPr>
          <p:cNvSpPr>
            <a:spLocks xmlns:a="http://schemas.openxmlformats.org/drawingml/2006/main" noGrp="1"/>
          </p:cNvSpPr>
          <p:nvPr/>
        </p:nvSpPr>
        <p:spPr>
          <a:xfrm xmlns:a="http://schemas.openxmlformats.org/drawingml/2006/main">
            <a:off x="609600" y="22669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4"/>
                </a:solidFill>
                <a:latin typeface="Arial"/>
                <a:ea typeface="Arial"/>
                <a:cs typeface="Arial"/>
              </a:defRPr>
            </a:defPPr>
            <a:lvl1pPr>
              <a:defRPr sz="1875" b="0">
                <a:solidFill>
                  <a:srgbClr val="183D34"/>
                </a:solidFill>
                <a:latin typeface="Arial"/>
                <a:ea typeface="Arial"/>
                <a:cs typeface="Arial"/>
              </a:defRPr>
            </a:lvl1pPr>
            <a:lvl2pPr>
              <a:defRPr sz="1875" b="0">
                <a:solidFill>
                  <a:srgbClr val="183D34"/>
                </a:solidFill>
                <a:latin typeface="Arial"/>
                <a:ea typeface="Arial"/>
                <a:cs typeface="Arial"/>
              </a:defRPr>
            </a:lvl2pPr>
            <a:lvl3pPr>
              <a:defRPr sz="1875" b="0">
                <a:solidFill>
                  <a:srgbClr val="183D34"/>
                </a:solidFill>
                <a:latin typeface="Arial"/>
                <a:ea typeface="Arial"/>
                <a:cs typeface="Arial"/>
              </a:defRPr>
            </a:lvl3pPr>
            <a:lvl4pPr>
              <a:defRPr sz="1875" b="0">
                <a:solidFill>
                  <a:srgbClr val="183D34"/>
                </a:solidFill>
                <a:latin typeface="Arial"/>
                <a:ea typeface="Arial"/>
                <a:cs typeface="Arial"/>
              </a:defRPr>
            </a:lvl4pPr>
            <a:lvl5pPr>
              <a:defRPr sz="1875" b="0">
                <a:solidFill>
                  <a:srgbClr val="183D34"/>
                </a:solidFill>
                <a:latin typeface="Arial"/>
                <a:ea typeface="Arial"/>
                <a:cs typeface="Arial"/>
              </a:defRPr>
            </a:lvl5pPr>
            <a:lvl6pPr>
              <a:defRPr sz="1875" b="0">
                <a:solidFill>
                  <a:srgbClr val="183D34"/>
                </a:solidFill>
                <a:latin typeface="Arial"/>
                <a:ea typeface="Arial"/>
                <a:cs typeface="Arial"/>
              </a:defRPr>
            </a:lvl6pPr>
            <a:lvl7pPr>
              <a:defRPr sz="1875" b="0">
                <a:solidFill>
                  <a:srgbClr val="183D34"/>
                </a:solidFill>
                <a:latin typeface="Arial"/>
                <a:ea typeface="Arial"/>
                <a:cs typeface="Arial"/>
              </a:defRPr>
            </a:lvl7pPr>
            <a:lvl8pPr>
              <a:defRPr sz="1875" b="0">
                <a:solidFill>
                  <a:srgbClr val="183D34"/>
                </a:solidFill>
                <a:latin typeface="Arial"/>
                <a:ea typeface="Arial"/>
                <a:cs typeface="Arial"/>
              </a:defRPr>
            </a:lvl8pPr>
            <a:lvl9pPr>
              <a:defRPr sz="1875" b="0">
                <a:solidFill>
                  <a:srgbClr val="183D34"/>
                </a:solidFill>
                <a:latin typeface="Arial"/>
                <a:ea typeface="Arial"/>
                <a:cs typeface="Arial"/>
              </a:defRPr>
            </a:lvl9pPr>
          </a:lstStyle>
          <a:p xmlns:a="http://schemas.openxmlformats.org/drawingml/2006/main">
            <a:pPr>
              <a:defRPr sz="1875" b="0">
                <a:solidFill>
                  <a:srgbClr val="183D34"/>
                </a:solidFill>
                <a:latin typeface="Arial"/>
                <a:ea typeface="Arial"/>
                <a:cs typeface="Arial"/>
              </a:defRPr>
            </a:pPr>
            <a:r>
              <a:rPr sz="1875" b="0">
                <a:solidFill>
                  <a:srgbClr val="183D34"/>
                </a:solidFill>
                <a:latin typeface="Arial"/>
                <a:ea typeface="Arial"/>
                <a:cs typeface="Arial"/>
              </a:rPr>
              <a:t>The workflow reached safely handled demo outcomes, including blocks or declines. Green does not certify a legitimate payment.</a:t>
            </a:r>
          </a:p>
        </p:txBody>
      </p:sp>
      <p:sp>
        <p:nvSpPr>
          <p:cNvPr id="6" name="">
            <a:extLst xmlns:a="http://schemas.openxmlformats.org/drawingml/2006/main">
              <a:ext uri="{FF2B5EF4-FFF2-40B4-BE49-F238E27FC236}">
                <a16:creationId xmlns:a16="http://schemas.microsoft.com/office/drawing/2014/main" id="{4DAFE60E-A3C5-4F68-8333-77563CC7DE98}"/>
              </a:ext>
            </a:extLst>
          </p:cNvPr>
          <p:cNvSpPr>
            <a:spLocks xmlns:a="http://schemas.openxmlformats.org/drawingml/2006/main" noGrp="1"/>
          </p:cNvSpPr>
          <p:nvPr/>
        </p:nvSpPr>
        <p:spPr>
          <a:xfrm xmlns:a="http://schemas.openxmlformats.org/drawingml/2006/main">
            <a:off x="609600" y="319087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A6B4D"/>
                </a:solidFill>
                <a:latin typeface="Arial"/>
                <a:ea typeface="Arial"/>
                <a:cs typeface="Arial"/>
              </a:defRPr>
            </a:defPPr>
            <a:lvl1pPr>
              <a:defRPr sz="2025" b="1">
                <a:solidFill>
                  <a:srgbClr val="2A6B4D"/>
                </a:solidFill>
                <a:latin typeface="Arial"/>
                <a:ea typeface="Arial"/>
                <a:cs typeface="Arial"/>
              </a:defRPr>
            </a:lvl1pPr>
            <a:lvl2pPr>
              <a:defRPr sz="2025" b="1">
                <a:solidFill>
                  <a:srgbClr val="2A6B4D"/>
                </a:solidFill>
                <a:latin typeface="Arial"/>
                <a:ea typeface="Arial"/>
                <a:cs typeface="Arial"/>
              </a:defRPr>
            </a:lvl2pPr>
            <a:lvl3pPr>
              <a:defRPr sz="2025" b="1">
                <a:solidFill>
                  <a:srgbClr val="2A6B4D"/>
                </a:solidFill>
                <a:latin typeface="Arial"/>
                <a:ea typeface="Arial"/>
                <a:cs typeface="Arial"/>
              </a:defRPr>
            </a:lvl3pPr>
            <a:lvl4pPr>
              <a:defRPr sz="2025" b="1">
                <a:solidFill>
                  <a:srgbClr val="2A6B4D"/>
                </a:solidFill>
                <a:latin typeface="Arial"/>
                <a:ea typeface="Arial"/>
                <a:cs typeface="Arial"/>
              </a:defRPr>
            </a:lvl4pPr>
            <a:lvl5pPr>
              <a:defRPr sz="2025" b="1">
                <a:solidFill>
                  <a:srgbClr val="2A6B4D"/>
                </a:solidFill>
                <a:latin typeface="Arial"/>
                <a:ea typeface="Arial"/>
                <a:cs typeface="Arial"/>
              </a:defRPr>
            </a:lvl5pPr>
            <a:lvl6pPr>
              <a:defRPr sz="2025" b="1">
                <a:solidFill>
                  <a:srgbClr val="2A6B4D"/>
                </a:solidFill>
                <a:latin typeface="Arial"/>
                <a:ea typeface="Arial"/>
                <a:cs typeface="Arial"/>
              </a:defRPr>
            </a:lvl6pPr>
            <a:lvl7pPr>
              <a:defRPr sz="2025" b="1">
                <a:solidFill>
                  <a:srgbClr val="2A6B4D"/>
                </a:solidFill>
                <a:latin typeface="Arial"/>
                <a:ea typeface="Arial"/>
                <a:cs typeface="Arial"/>
              </a:defRPr>
            </a:lvl7pPr>
            <a:lvl8pPr>
              <a:defRPr sz="2025" b="1">
                <a:solidFill>
                  <a:srgbClr val="2A6B4D"/>
                </a:solidFill>
                <a:latin typeface="Arial"/>
                <a:ea typeface="Arial"/>
                <a:cs typeface="Arial"/>
              </a:defRPr>
            </a:lvl8pPr>
            <a:lvl9pPr>
              <a:defRPr sz="2025" b="1">
                <a:solidFill>
                  <a:srgbClr val="2A6B4D"/>
                </a:solidFill>
                <a:latin typeface="Arial"/>
                <a:ea typeface="Arial"/>
                <a:cs typeface="Arial"/>
              </a:defRPr>
            </a:lvl9pPr>
          </a:lstStyle>
          <a:p xmlns:a="http://schemas.openxmlformats.org/drawingml/2006/main">
            <a:pPr>
              <a:defRPr sz="2025" b="1">
                <a:solidFill>
                  <a:srgbClr val="2A6B4D"/>
                </a:solidFill>
                <a:latin typeface="Arial"/>
                <a:ea typeface="Arial"/>
                <a:cs typeface="Arial"/>
              </a:defRPr>
            </a:pPr>
            <a:r>
              <a:rPr sz="2025" b="1">
                <a:solidFill>
                  <a:srgbClr val="2A6B4D"/>
                </a:solidFill>
                <a:latin typeface="Arial"/>
                <a:ea typeface="Arial"/>
                <a:cs typeface="Arial"/>
              </a:rPr>
              <a:t>What should the manager approve today?</a:t>
            </a:r>
          </a:p>
        </p:txBody>
      </p:sp>
      <p:sp>
        <p:nvSpPr>
          <p:cNvPr id="7" name="">
            <a:extLst xmlns:a="http://schemas.openxmlformats.org/drawingml/2006/main">
              <a:ext uri="{FF2B5EF4-FFF2-40B4-BE49-F238E27FC236}">
                <a16:creationId xmlns:a16="http://schemas.microsoft.com/office/drawing/2014/main" id="{CE2D9000-D32F-4E2D-9773-81E426702841}"/>
              </a:ext>
            </a:extLst>
          </p:cNvPr>
          <p:cNvSpPr>
            <a:spLocks xmlns:a="http://schemas.openxmlformats.org/drawingml/2006/main" noGrp="1"/>
          </p:cNvSpPr>
          <p:nvPr/>
        </p:nvSpPr>
        <p:spPr>
          <a:xfrm xmlns:a="http://schemas.openxmlformats.org/drawingml/2006/main">
            <a:off x="609600" y="369570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4"/>
                </a:solidFill>
                <a:latin typeface="Arial"/>
                <a:ea typeface="Arial"/>
                <a:cs typeface="Arial"/>
              </a:defRPr>
            </a:defPPr>
            <a:lvl1pPr>
              <a:defRPr sz="1875" b="0">
                <a:solidFill>
                  <a:srgbClr val="183D34"/>
                </a:solidFill>
                <a:latin typeface="Arial"/>
                <a:ea typeface="Arial"/>
                <a:cs typeface="Arial"/>
              </a:defRPr>
            </a:lvl1pPr>
            <a:lvl2pPr>
              <a:defRPr sz="1875" b="0">
                <a:solidFill>
                  <a:srgbClr val="183D34"/>
                </a:solidFill>
                <a:latin typeface="Arial"/>
                <a:ea typeface="Arial"/>
                <a:cs typeface="Arial"/>
              </a:defRPr>
            </a:lvl2pPr>
            <a:lvl3pPr>
              <a:defRPr sz="1875" b="0">
                <a:solidFill>
                  <a:srgbClr val="183D34"/>
                </a:solidFill>
                <a:latin typeface="Arial"/>
                <a:ea typeface="Arial"/>
                <a:cs typeface="Arial"/>
              </a:defRPr>
            </a:lvl3pPr>
            <a:lvl4pPr>
              <a:defRPr sz="1875" b="0">
                <a:solidFill>
                  <a:srgbClr val="183D34"/>
                </a:solidFill>
                <a:latin typeface="Arial"/>
                <a:ea typeface="Arial"/>
                <a:cs typeface="Arial"/>
              </a:defRPr>
            </a:lvl4pPr>
            <a:lvl5pPr>
              <a:defRPr sz="1875" b="0">
                <a:solidFill>
                  <a:srgbClr val="183D34"/>
                </a:solidFill>
                <a:latin typeface="Arial"/>
                <a:ea typeface="Arial"/>
                <a:cs typeface="Arial"/>
              </a:defRPr>
            </a:lvl5pPr>
            <a:lvl6pPr>
              <a:defRPr sz="1875" b="0">
                <a:solidFill>
                  <a:srgbClr val="183D34"/>
                </a:solidFill>
                <a:latin typeface="Arial"/>
                <a:ea typeface="Arial"/>
                <a:cs typeface="Arial"/>
              </a:defRPr>
            </a:lvl6pPr>
            <a:lvl7pPr>
              <a:defRPr sz="1875" b="0">
                <a:solidFill>
                  <a:srgbClr val="183D34"/>
                </a:solidFill>
                <a:latin typeface="Arial"/>
                <a:ea typeface="Arial"/>
                <a:cs typeface="Arial"/>
              </a:defRPr>
            </a:lvl7pPr>
            <a:lvl8pPr>
              <a:defRPr sz="1875" b="0">
                <a:solidFill>
                  <a:srgbClr val="183D34"/>
                </a:solidFill>
                <a:latin typeface="Arial"/>
                <a:ea typeface="Arial"/>
                <a:cs typeface="Arial"/>
              </a:defRPr>
            </a:lvl8pPr>
            <a:lvl9pPr>
              <a:defRPr sz="1875" b="0">
                <a:solidFill>
                  <a:srgbClr val="183D34"/>
                </a:solidFill>
                <a:latin typeface="Arial"/>
                <a:ea typeface="Arial"/>
                <a:cs typeface="Arial"/>
              </a:defRPr>
            </a:lvl9pPr>
          </a:lstStyle>
          <a:p xmlns:a="http://schemas.openxmlformats.org/drawingml/2006/main">
            <a:pPr>
              <a:defRPr sz="1875" b="0">
                <a:solidFill>
                  <a:srgbClr val="183D34"/>
                </a:solidFill>
                <a:latin typeface="Arial"/>
                <a:ea typeface="Arial"/>
                <a:cs typeface="Arial"/>
              </a:defRPr>
            </a:pPr>
            <a:r>
              <a:rPr sz="1875" b="0">
                <a:solidFill>
                  <a:srgbClr val="183D34"/>
                </a:solidFill>
                <a:latin typeface="Arial"/>
                <a:ea typeface="Arial"/>
                <a:cs typeface="Arial"/>
              </a:rPr>
              <a:t>The bounded pilot scope, accountable owners and acceptance conditions. Live endpoints and production rollout need later approval.</a:t>
            </a:r>
          </a:p>
        </p:txBody>
      </p:sp>
      <p:sp>
        <p:nvSpPr>
          <p:cNvPr id="8" name="">
            <a:extLst xmlns:a="http://schemas.openxmlformats.org/drawingml/2006/main">
              <a:ext uri="{FF2B5EF4-FFF2-40B4-BE49-F238E27FC236}">
                <a16:creationId xmlns:a16="http://schemas.microsoft.com/office/drawing/2014/main" id="{C0EAE2BA-4D27-4642-8855-4EC8B1BD1201}"/>
              </a:ext>
            </a:extLst>
          </p:cNvPr>
          <p:cNvSpPr>
            <a:spLocks xmlns:a="http://schemas.openxmlformats.org/drawingml/2006/main" noGrp="1"/>
          </p:cNvSpPr>
          <p:nvPr/>
        </p:nvSpPr>
        <p:spPr>
          <a:xfrm xmlns:a="http://schemas.openxmlformats.org/drawingml/2006/main">
            <a:off x="609600" y="461962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A6B4D"/>
                </a:solidFill>
                <a:latin typeface="Arial"/>
                <a:ea typeface="Arial"/>
                <a:cs typeface="Arial"/>
              </a:defRPr>
            </a:defPPr>
            <a:lvl1pPr>
              <a:defRPr sz="2025" b="1">
                <a:solidFill>
                  <a:srgbClr val="2A6B4D"/>
                </a:solidFill>
                <a:latin typeface="Arial"/>
                <a:ea typeface="Arial"/>
                <a:cs typeface="Arial"/>
              </a:defRPr>
            </a:lvl1pPr>
            <a:lvl2pPr>
              <a:defRPr sz="2025" b="1">
                <a:solidFill>
                  <a:srgbClr val="2A6B4D"/>
                </a:solidFill>
                <a:latin typeface="Arial"/>
                <a:ea typeface="Arial"/>
                <a:cs typeface="Arial"/>
              </a:defRPr>
            </a:lvl2pPr>
            <a:lvl3pPr>
              <a:defRPr sz="2025" b="1">
                <a:solidFill>
                  <a:srgbClr val="2A6B4D"/>
                </a:solidFill>
                <a:latin typeface="Arial"/>
                <a:ea typeface="Arial"/>
                <a:cs typeface="Arial"/>
              </a:defRPr>
            </a:lvl3pPr>
            <a:lvl4pPr>
              <a:defRPr sz="2025" b="1">
                <a:solidFill>
                  <a:srgbClr val="2A6B4D"/>
                </a:solidFill>
                <a:latin typeface="Arial"/>
                <a:ea typeface="Arial"/>
                <a:cs typeface="Arial"/>
              </a:defRPr>
            </a:lvl4pPr>
            <a:lvl5pPr>
              <a:defRPr sz="2025" b="1">
                <a:solidFill>
                  <a:srgbClr val="2A6B4D"/>
                </a:solidFill>
                <a:latin typeface="Arial"/>
                <a:ea typeface="Arial"/>
                <a:cs typeface="Arial"/>
              </a:defRPr>
            </a:lvl5pPr>
            <a:lvl6pPr>
              <a:defRPr sz="2025" b="1">
                <a:solidFill>
                  <a:srgbClr val="2A6B4D"/>
                </a:solidFill>
                <a:latin typeface="Arial"/>
                <a:ea typeface="Arial"/>
                <a:cs typeface="Arial"/>
              </a:defRPr>
            </a:lvl6pPr>
            <a:lvl7pPr>
              <a:defRPr sz="2025" b="1">
                <a:solidFill>
                  <a:srgbClr val="2A6B4D"/>
                </a:solidFill>
                <a:latin typeface="Arial"/>
                <a:ea typeface="Arial"/>
                <a:cs typeface="Arial"/>
              </a:defRPr>
            </a:lvl7pPr>
            <a:lvl8pPr>
              <a:defRPr sz="2025" b="1">
                <a:solidFill>
                  <a:srgbClr val="2A6B4D"/>
                </a:solidFill>
                <a:latin typeface="Arial"/>
                <a:ea typeface="Arial"/>
                <a:cs typeface="Arial"/>
              </a:defRPr>
            </a:lvl8pPr>
            <a:lvl9pPr>
              <a:defRPr sz="2025" b="1">
                <a:solidFill>
                  <a:srgbClr val="2A6B4D"/>
                </a:solidFill>
                <a:latin typeface="Arial"/>
                <a:ea typeface="Arial"/>
                <a:cs typeface="Arial"/>
              </a:defRPr>
            </a:lvl9pPr>
          </a:lstStyle>
          <a:p xmlns:a="http://schemas.openxmlformats.org/drawingml/2006/main">
            <a:pPr>
              <a:defRPr sz="2025" b="1">
                <a:solidFill>
                  <a:srgbClr val="2A6B4D"/>
                </a:solidFill>
                <a:latin typeface="Arial"/>
                <a:ea typeface="Arial"/>
                <a:cs typeface="Arial"/>
              </a:defRPr>
            </a:pPr>
            <a:r>
              <a:rPr sz="2025" b="1">
                <a:solidFill>
                  <a:srgbClr val="2A6B4D"/>
                </a:solidFill>
                <a:latin typeface="Arial"/>
                <a:ea typeface="Arial"/>
                <a:cs typeface="Arial"/>
              </a:rPr>
              <a:t>What if the prototype has not proved a property?</a:t>
            </a:r>
          </a:p>
        </p:txBody>
      </p:sp>
      <p:sp>
        <p:nvSpPr>
          <p:cNvPr id="9" name="">
            <a:extLst xmlns:a="http://schemas.openxmlformats.org/drawingml/2006/main">
              <a:ext uri="{FF2B5EF4-FFF2-40B4-BE49-F238E27FC236}">
                <a16:creationId xmlns:a16="http://schemas.microsoft.com/office/drawing/2014/main" id="{2D070439-2D21-49B2-BAC9-82B7015206C7}"/>
              </a:ext>
            </a:extLst>
          </p:cNvPr>
          <p:cNvSpPr>
            <a:spLocks xmlns:a="http://schemas.openxmlformats.org/drawingml/2006/main" noGrp="1"/>
          </p:cNvSpPr>
          <p:nvPr/>
        </p:nvSpPr>
        <p:spPr>
          <a:xfrm xmlns:a="http://schemas.openxmlformats.org/drawingml/2006/main">
            <a:off x="609600" y="5124450"/>
            <a:ext cx="1062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4"/>
                </a:solidFill>
                <a:latin typeface="Arial"/>
                <a:ea typeface="Arial"/>
                <a:cs typeface="Arial"/>
              </a:defRPr>
            </a:defPPr>
            <a:lvl1pPr>
              <a:defRPr sz="1875" b="0">
                <a:solidFill>
                  <a:srgbClr val="183D34"/>
                </a:solidFill>
                <a:latin typeface="Arial"/>
                <a:ea typeface="Arial"/>
                <a:cs typeface="Arial"/>
              </a:defRPr>
            </a:lvl1pPr>
            <a:lvl2pPr>
              <a:defRPr sz="1875" b="0">
                <a:solidFill>
                  <a:srgbClr val="183D34"/>
                </a:solidFill>
                <a:latin typeface="Arial"/>
                <a:ea typeface="Arial"/>
                <a:cs typeface="Arial"/>
              </a:defRPr>
            </a:lvl2pPr>
            <a:lvl3pPr>
              <a:defRPr sz="1875" b="0">
                <a:solidFill>
                  <a:srgbClr val="183D34"/>
                </a:solidFill>
                <a:latin typeface="Arial"/>
                <a:ea typeface="Arial"/>
                <a:cs typeface="Arial"/>
              </a:defRPr>
            </a:lvl3pPr>
            <a:lvl4pPr>
              <a:defRPr sz="1875" b="0">
                <a:solidFill>
                  <a:srgbClr val="183D34"/>
                </a:solidFill>
                <a:latin typeface="Arial"/>
                <a:ea typeface="Arial"/>
                <a:cs typeface="Arial"/>
              </a:defRPr>
            </a:lvl4pPr>
            <a:lvl5pPr>
              <a:defRPr sz="1875" b="0">
                <a:solidFill>
                  <a:srgbClr val="183D34"/>
                </a:solidFill>
                <a:latin typeface="Arial"/>
                <a:ea typeface="Arial"/>
                <a:cs typeface="Arial"/>
              </a:defRPr>
            </a:lvl5pPr>
            <a:lvl6pPr>
              <a:defRPr sz="1875" b="0">
                <a:solidFill>
                  <a:srgbClr val="183D34"/>
                </a:solidFill>
                <a:latin typeface="Arial"/>
                <a:ea typeface="Arial"/>
                <a:cs typeface="Arial"/>
              </a:defRPr>
            </a:lvl6pPr>
            <a:lvl7pPr>
              <a:defRPr sz="1875" b="0">
                <a:solidFill>
                  <a:srgbClr val="183D34"/>
                </a:solidFill>
                <a:latin typeface="Arial"/>
                <a:ea typeface="Arial"/>
                <a:cs typeface="Arial"/>
              </a:defRPr>
            </a:lvl7pPr>
            <a:lvl8pPr>
              <a:defRPr sz="1875" b="0">
                <a:solidFill>
                  <a:srgbClr val="183D34"/>
                </a:solidFill>
                <a:latin typeface="Arial"/>
                <a:ea typeface="Arial"/>
                <a:cs typeface="Arial"/>
              </a:defRPr>
            </a:lvl8pPr>
            <a:lvl9pPr>
              <a:defRPr sz="1875" b="0">
                <a:solidFill>
                  <a:srgbClr val="183D34"/>
                </a:solidFill>
                <a:latin typeface="Arial"/>
                <a:ea typeface="Arial"/>
                <a:cs typeface="Arial"/>
              </a:defRPr>
            </a:lvl9pPr>
          </a:lstStyle>
          <a:p xmlns:a="http://schemas.openxmlformats.org/drawingml/2006/main">
            <a:pPr>
              <a:defRPr sz="1875" b="0">
                <a:solidFill>
                  <a:srgbClr val="183D34"/>
                </a:solidFill>
                <a:latin typeface="Arial"/>
                <a:ea typeface="Arial"/>
                <a:cs typeface="Arial"/>
              </a:defRPr>
            </a:pPr>
            <a:r>
              <a:rPr sz="1875" b="0">
                <a:solidFill>
                  <a:srgbClr val="183D34"/>
                </a:solidFill>
                <a:latin typeface="Arial"/>
                <a:ea typeface="Arial"/>
                <a:cs typeface="Arial"/>
              </a:rPr>
              <a:t>We have not validated that yet. Make it an explicit pilot gate and return with measured evidence.</a:t>
            </a:r>
          </a:p>
        </p:txBody>
      </p:sp>
      <p:sp>
        <p:nvSpPr>
          <p:cNvPr id="10" name="">
            <a:extLst xmlns:a="http://schemas.openxmlformats.org/drawingml/2006/main">
              <a:ext uri="{FF2B5EF4-FFF2-40B4-BE49-F238E27FC236}">
                <a16:creationId xmlns:a16="http://schemas.microsoft.com/office/drawing/2014/main" id="{9D308FC5-A1CC-4A0A-9F20-B89FBE50C538}"/>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B70"/>
                </a:solidFill>
                <a:latin typeface="Arial"/>
                <a:ea typeface="Arial"/>
                <a:cs typeface="Arial"/>
              </a:defRPr>
            </a:defPPr>
            <a:lvl1pPr>
              <a:defRPr sz="1200" b="0">
                <a:solidFill>
                  <a:srgbClr val="657B70"/>
                </a:solidFill>
                <a:latin typeface="Arial"/>
                <a:ea typeface="Arial"/>
                <a:cs typeface="Arial"/>
              </a:defRPr>
            </a:lvl1pPr>
            <a:lvl2pPr>
              <a:defRPr sz="1200" b="0">
                <a:solidFill>
                  <a:srgbClr val="657B70"/>
                </a:solidFill>
                <a:latin typeface="Arial"/>
                <a:ea typeface="Arial"/>
                <a:cs typeface="Arial"/>
              </a:defRPr>
            </a:lvl2pPr>
            <a:lvl3pPr>
              <a:defRPr sz="1200" b="0">
                <a:solidFill>
                  <a:srgbClr val="657B70"/>
                </a:solidFill>
                <a:latin typeface="Arial"/>
                <a:ea typeface="Arial"/>
                <a:cs typeface="Arial"/>
              </a:defRPr>
            </a:lvl3pPr>
            <a:lvl4pPr>
              <a:defRPr sz="1200" b="0">
                <a:solidFill>
                  <a:srgbClr val="657B70"/>
                </a:solidFill>
                <a:latin typeface="Arial"/>
                <a:ea typeface="Arial"/>
                <a:cs typeface="Arial"/>
              </a:defRPr>
            </a:lvl4pPr>
            <a:lvl5pPr>
              <a:defRPr sz="1200" b="0">
                <a:solidFill>
                  <a:srgbClr val="657B70"/>
                </a:solidFill>
                <a:latin typeface="Arial"/>
                <a:ea typeface="Arial"/>
                <a:cs typeface="Arial"/>
              </a:defRPr>
            </a:lvl5pPr>
            <a:lvl6pPr>
              <a:defRPr sz="1200" b="0">
                <a:solidFill>
                  <a:srgbClr val="657B70"/>
                </a:solidFill>
                <a:latin typeface="Arial"/>
                <a:ea typeface="Arial"/>
                <a:cs typeface="Arial"/>
              </a:defRPr>
            </a:lvl6pPr>
            <a:lvl7pPr>
              <a:defRPr sz="1200" b="0">
                <a:solidFill>
                  <a:srgbClr val="657B70"/>
                </a:solidFill>
                <a:latin typeface="Arial"/>
                <a:ea typeface="Arial"/>
                <a:cs typeface="Arial"/>
              </a:defRPr>
            </a:lvl7pPr>
            <a:lvl8pPr>
              <a:defRPr sz="1200" b="0">
                <a:solidFill>
                  <a:srgbClr val="657B70"/>
                </a:solidFill>
                <a:latin typeface="Arial"/>
                <a:ea typeface="Arial"/>
                <a:cs typeface="Arial"/>
              </a:defRPr>
            </a:lvl8pPr>
            <a:lvl9pPr>
              <a:defRPr sz="1200" b="0">
                <a:solidFill>
                  <a:srgbClr val="657B70"/>
                </a:solidFill>
                <a:latin typeface="Arial"/>
                <a:ea typeface="Arial"/>
                <a:cs typeface="Arial"/>
              </a:defRPr>
            </a:lvl9pPr>
          </a:lstStyle>
          <a:p xmlns:a="http://schemas.openxmlformats.org/drawingml/2006/main">
            <a:pPr>
              <a:defRPr sz="1200" b="0">
                <a:solidFill>
                  <a:srgbClr val="657B70"/>
                </a:solidFill>
                <a:latin typeface="Arial"/>
                <a:ea typeface="Arial"/>
                <a:cs typeface="Arial"/>
              </a:defRPr>
            </a:pPr>
            <a:r>
              <a:rPr sz="1200" b="0">
                <a:solidFill>
                  <a:srgbClr val="657B70"/>
                </a:solidFill>
                <a:latin typeface="Arial"/>
                <a:ea typeface="Arial"/>
                <a:cs typeface="Arial"/>
              </a:rPr>
              <a:t>26</a:t>
            </a:r>
          </a:p>
        </p:txBody>
      </p:sp>
    </p:spTree>
    <p:extLst>
      <p:ext uri="{BB962C8B-B14F-4D97-AF65-F5344CB8AC3E}">
        <p14:creationId xmlns:p14="http://schemas.microsoft.com/office/powerpoint/2010/main" val="21432000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2026-10-28T19:08:08.1860000Z</dcterms:created>
  <dcterms:modified xsi:type="dcterms:W3CDTF">2026-10-28T19:08:08.1860000Z</dcterms:modified>
</coreProperties>
</file>